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Soy Josué Zetino, carné 9989-17-12602. Presento el avance del proyecto Sistema de Ventas: una aplicación de escritorio en Java para facturación e inventario, conectada a una base de datos en la nube, y una app Android que usa esa misma base. Primero explico cómo está construido y al final lo ejecuto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aplicación está separada en capas. La vista son los formularios Swing dentro del MDI; no tocan la base directamente. Llaman a un controlador, que valida, y el controlador usa un DAO. Cada DAO es una interfaz con su implementación JDBC y es un Singleton. ConexionBD decide si se conecta a PostgreSQL en Supabase o a SQLite local. La app Android no entra a las tablas: llama a funciones de la base que primero validan un token de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diagrama de clases está dividido en cinco vistas para que se pueda leer. Aquí se ve el modelo: Producto, Cliente, Factura con su FacturaDetalle, Compra con CompraDetalle, Categoría, Proveedor, Empleado y Usuario. Cliente, Empleado y Proveedor heredan de Persona. Patrones: MVC en la estructura general, DAO para el acceso a datos, Singleton en los DAO y en la conexión, Template Method en FrmCatalogo, que es la base de los formularios de catálogo, y Facade en ApiSupabase de la app móvil. Los nombres salen del código, no de un diseño aparte.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diagrama entidad-relación tiene las 10 tablas del sistema, cada una con su llave primaria y llaves únicas como el código del producto o el NIT. Hay 7 llaves foráneas y cada una tiene una regla: si borro una factura, su detalle se borra en cascada; si borro una categoría, el producto queda sin categoría (SET NULL); y no se puede borrar un producto que ya aparece en una compra (RESTRICT). La tabla sesiones_app es de la app móvil. El diagrama coincide con el script SQL que crea la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FrmPrincipal es un formulario MDI: un JDesktopPane donde cada módulo se abre como ventana interna. El menú tiene ocho opciones organizadas por módulo. En la barra de título se ve el usuario, su rol y que está conectado a la base en la nube. Si entro como vendedor, se ocultan catálogos, compras, administración y reportes. En la demostración lo muestro con el usuario vendedor.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seis catálogos con altas, bajas, cambios, búsqueda y reporte: productos, clientes, empleados, categorías, proveedores y usuarios. La factura guarda el encabezado y su detalle en una sola transacción y descuenta la existencia; si no hay suficiente, no deja vender. La compra hace lo contrario: suma existencia y sugiere el último costo. Las listas permiten consultar, ver el detalle y anular. Todo se guarda en PostgreSQL: si cierro y abro la aplicación, los datos siguen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 registro categorías y proveedores. El producto usa la categoría. La compra usa el proveedor y el producto, y al guardarla sube la existencia. La factura usa el cliente y el producto y baja la existencia; si pido más de lo que hay, no la guarda. Después los reportes y el resumen leen esas facturas y compras. Y la app móvil trabaja sobre la misma base: una venta hecha en el celular aparece en la lista de facturas del escritorio. En la captura se ve el resumen: las ventas del mes, el gráfico de los últimos siete días y los productos por agotarse salen de esas mismas facturas; los gráficos se dibujan con Graphics2D, sin librerías.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app Android está hecha en Java. Inicia sesión con los mismos usuarios del escritorio y recibe un token que vence en 8 horas. Puede consultar productos y clientes, registrar clientes y hacer una venta completa; la base valida la existencia igual que en el escritorio. También muestra el historial con el detalle de cada factura, un resumen con gráficos y, si no hay internet, el último catálogo descargado. Las dos aplicaciones cambian a tema oscuro a las 6 de la tarde.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contraseñas se guardan con bcrypt, no en texto. Hay dos roles, y después de tres intentos fallidos el programa se cierra. Todas las consultas usan PreparedStatement, así que lo que escribe el usuario nunca se concatena al SQL; eso evita la inyección SQL. La factura es una transacción: si algo falla, se hace rollback. En la nube, la seguridad a nivel de fila está activa y la app móvil solo puede llamar funciones que revisan su token. Y hay una opción para respaldar la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esto termino la explicación; ahora lo ejecuto. Guion de la demostración: 1) Iniciar sesión: el título dice Base en la nube. 2) Recorrer el menú. 3) Registrar un producto nuevo. 4) Hacer una compra de ese producto: la existencia sube. 5) Facturarlo: la existencia baja; si pido más de lo que hay, no deja. 6) Abrir Reportes &gt; Resumen con gráficos y el reporte de ventas: aparece la venta. 7) Vender desde el celular y mostrarla en Ver facturas. 8) Cerrar sesión y entrar como vendedor: el menú cambia. Quedo atento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685800" y="1417320"/>
            <a:ext cx="3566160" cy="3566160"/>
          </a:xfrm>
          <a:prstGeom prst="ellipse">
            <a:avLst/>
          </a:prstGeom>
          <a:solidFill>
            <a:srgbClr val="FFFFFF"/>
          </a:solidFill>
          <a:ln w="38100">
            <a:solidFill>
              <a:srgbClr val="C9A227"/>
            </a:solidFill>
            <a:prstDash val="solid"/>
          </a:ln>
        </p:spPr>
      </p:sp>
      <p:pic>
        <p:nvPicPr>
          <p:cNvPr id="3" name="Image 0" descr="C:\Users\Josue Zetino\AppData\Local\Temp\claude\C--Users-Josue-Zetino-Documents-4to-semestre-progra-2\7ccdd11b-dc21-4f34-84fe-794d7b2c2056\scratchpad\pres\logo-umg.png">    </p:cNvPr>
          <p:cNvPicPr>
            <a:picLocks noChangeAspect="1"/>
          </p:cNvPicPr>
          <p:nvPr/>
        </p:nvPicPr>
        <p:blipFill>
          <a:blip r:embed="rId1"/>
          <a:stretch>
            <a:fillRect/>
          </a:stretch>
        </p:blipFill>
        <p:spPr>
          <a:xfrm>
            <a:off x="822960" y="1554480"/>
            <a:ext cx="3291840" cy="3291840"/>
          </a:xfrm>
          <a:prstGeom prst="rect">
            <a:avLst/>
          </a:prstGeom>
        </p:spPr>
      </p:pic>
      <p:sp>
        <p:nvSpPr>
          <p:cNvPr id="4" name="Text 1"/>
          <p:cNvSpPr txBox="1"/>
          <p:nvPr/>
        </p:nvSpPr>
        <p:spPr>
          <a:xfrm>
            <a:off x="4846320" y="640080"/>
            <a:ext cx="6949440" cy="365760"/>
          </a:xfrm>
          <a:prstGeom prst="rect">
            <a:avLst/>
          </a:prstGeom>
          <a:noFill/>
          <a:ln/>
        </p:spPr>
        <p:txBody>
          <a:bodyPr wrap="square" lIns="0" tIns="0" rIns="0" bIns="0" rtlCol="0" anchor="ctr"/>
          <a:lstStyle/>
          <a:p>
            <a:pPr indent="0" marL="0">
              <a:buNone/>
            </a:pPr>
            <a:r>
              <a:rPr lang="en-US" sz="1600" b="1" spc="200" kern="0" dirty="0">
                <a:solidFill>
                  <a:srgbClr val="C9A227"/>
                </a:solidFill>
                <a:latin typeface="Calibri" pitchFamily="34" charset="0"/>
                <a:ea typeface="Calibri" pitchFamily="34" charset="-122"/>
                <a:cs typeface="Calibri" pitchFamily="34" charset="-120"/>
              </a:rPr>
              <a:t>UNIVERSIDAD MARIANO GÁLVEZ DE GUATEMALA</a:t>
            </a:r>
            <a:endParaRPr lang="en-US" sz="1600" dirty="0"/>
          </a:p>
        </p:txBody>
      </p:sp>
      <p:sp>
        <p:nvSpPr>
          <p:cNvPr id="5" name="Text 2"/>
          <p:cNvSpPr txBox="1"/>
          <p:nvPr/>
        </p:nvSpPr>
        <p:spPr>
          <a:xfrm>
            <a:off x="4846320" y="1024128"/>
            <a:ext cx="6949440" cy="640080"/>
          </a:xfrm>
          <a:prstGeom prst="rect">
            <a:avLst/>
          </a:prstGeom>
          <a:noFill/>
          <a:ln/>
        </p:spPr>
        <p:txBody>
          <a:bodyPr wrap="square" lIns="0" tIns="0" rIns="0" bIns="0" rtlCol="0" anchor="ctr"/>
          <a:lstStyle/>
          <a:p>
            <a:pPr indent="0" marL="0">
              <a:buNone/>
            </a:pPr>
            <a:r>
              <a:rPr lang="en-US" sz="1300" dirty="0">
                <a:solidFill>
                  <a:srgbClr val="C7D3E3"/>
                </a:solidFill>
                <a:latin typeface="Calibri" pitchFamily="34" charset="0"/>
                <a:ea typeface="Calibri" pitchFamily="34" charset="-122"/>
                <a:cs typeface="Calibri" pitchFamily="34" charset="-120"/>
              </a:rPr>
              <a:t>Facultad de Ingeniería en Sistemas de Información</a:t>
            </a:r>
            <a:endParaRPr lang="en-US" sz="1300" dirty="0"/>
          </a:p>
          <a:p>
            <a:pPr indent="0" marL="0">
              <a:buNone/>
            </a:pPr>
            <a:r>
              <a:rPr lang="en-US" sz="1300" dirty="0">
                <a:solidFill>
                  <a:srgbClr val="C7D3E3"/>
                </a:solidFill>
                <a:latin typeface="Calibri" pitchFamily="34" charset="0"/>
                <a:ea typeface="Calibri" pitchFamily="34" charset="-122"/>
                <a:cs typeface="Calibri" pitchFamily="34" charset="-120"/>
              </a:rPr>
              <a:t>Ingeniería en Sistemas de Información y Ciencias de la Computación – Portales</a:t>
            </a:r>
            <a:endParaRPr lang="en-US" sz="1300" dirty="0"/>
          </a:p>
        </p:txBody>
      </p:sp>
      <p:sp>
        <p:nvSpPr>
          <p:cNvPr id="6" name="Text 3"/>
          <p:cNvSpPr txBox="1"/>
          <p:nvPr/>
        </p:nvSpPr>
        <p:spPr>
          <a:xfrm>
            <a:off x="4846320" y="1874520"/>
            <a:ext cx="6949440" cy="41148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Programación II</a:t>
            </a:r>
            <a:endParaRPr lang="en-US" sz="1800" dirty="0"/>
          </a:p>
        </p:txBody>
      </p:sp>
      <p:sp>
        <p:nvSpPr>
          <p:cNvPr id="7" name="Text 4"/>
          <p:cNvSpPr txBox="1"/>
          <p:nvPr/>
        </p:nvSpPr>
        <p:spPr>
          <a:xfrm>
            <a:off x="4846320" y="2286000"/>
            <a:ext cx="6949440" cy="8686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Sistema de Ventas</a:t>
            </a:r>
            <a:endParaRPr lang="en-US" sz="4800" dirty="0"/>
          </a:p>
        </p:txBody>
      </p:sp>
      <p:sp>
        <p:nvSpPr>
          <p:cNvPr id="8" name="Text 5"/>
          <p:cNvSpPr txBox="1"/>
          <p:nvPr/>
        </p:nvSpPr>
        <p:spPr>
          <a:xfrm>
            <a:off x="4846320" y="3127248"/>
            <a:ext cx="6949440" cy="411480"/>
          </a:xfrm>
          <a:prstGeom prst="rect">
            <a:avLst/>
          </a:prstGeom>
          <a:noFill/>
          <a:ln/>
        </p:spPr>
        <p:txBody>
          <a:bodyPr wrap="square" lIns="0" tIns="0" rIns="0" bIns="0" rtlCol="0" anchor="ctr"/>
          <a:lstStyle/>
          <a:p>
            <a:pPr indent="0" marL="0">
              <a:buNone/>
            </a:pPr>
            <a:r>
              <a:rPr lang="en-US" sz="1700" i="1" dirty="0">
                <a:solidFill>
                  <a:srgbClr val="C7D3E3"/>
                </a:solidFill>
                <a:latin typeface="Calibri" pitchFamily="34" charset="0"/>
                <a:ea typeface="Calibri" pitchFamily="34" charset="-122"/>
                <a:cs typeface="Calibri" pitchFamily="34" charset="-120"/>
              </a:rPr>
              <a:t>Facturación e inventario · aplicación de escritorio + app móvil</a:t>
            </a:r>
            <a:endParaRPr lang="en-US" sz="1700" dirty="0"/>
          </a:p>
        </p:txBody>
      </p:sp>
      <p:sp>
        <p:nvSpPr>
          <p:cNvPr id="9" name="Shape 6"/>
          <p:cNvSpPr/>
          <p:nvPr/>
        </p:nvSpPr>
        <p:spPr>
          <a:xfrm>
            <a:off x="4846320" y="3749040"/>
            <a:ext cx="5120640" cy="457200"/>
          </a:xfrm>
          <a:prstGeom prst="roundRect">
            <a:avLst>
              <a:gd name="adj" fmla="val 50000"/>
            </a:avLst>
          </a:prstGeom>
          <a:solidFill>
            <a:srgbClr val="C62828"/>
          </a:solidFill>
          <a:ln w="12700">
            <a:solidFill>
              <a:srgbClr val="C62828"/>
            </a:solidFill>
            <a:prstDash val="solid"/>
          </a:ln>
        </p:spPr>
      </p:sp>
      <p:sp>
        <p:nvSpPr>
          <p:cNvPr id="10" name="Text 7"/>
          <p:cNvSpPr txBox="1"/>
          <p:nvPr/>
        </p:nvSpPr>
        <p:spPr>
          <a:xfrm>
            <a:off x="4846320" y="3749040"/>
            <a:ext cx="51206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Revisión Presencial de Avance de Proyecto</a:t>
            </a:r>
            <a:endParaRPr lang="en-US" sz="1500" dirty="0"/>
          </a:p>
        </p:txBody>
      </p:sp>
      <p:sp>
        <p:nvSpPr>
          <p:cNvPr id="11" name="Text 8"/>
          <p:cNvSpPr txBox="1"/>
          <p:nvPr/>
        </p:nvSpPr>
        <p:spPr>
          <a:xfrm>
            <a:off x="4846320" y="4480560"/>
            <a:ext cx="6949440" cy="1234440"/>
          </a:xfrm>
          <a:prstGeom prst="rect">
            <a:avLst/>
          </a:prstGeom>
          <a:noFill/>
          <a:ln/>
        </p:spPr>
        <p:txBody>
          <a:bodyPr wrap="square" lIns="0" tIns="0" rIns="0" bIns="0" rtlCol="0" anchor="ctr"/>
          <a:lstStyle/>
          <a:p>
            <a:pPr indent="0" marL="0">
              <a:spcAft>
                <a:spcPts val="300"/>
              </a:spcAft>
              <a:buNone/>
            </a:pPr>
            <a:r>
              <a:rPr lang="en-US" sz="1500" b="1" dirty="0">
                <a:solidFill>
                  <a:srgbClr val="C9A227"/>
                </a:solidFill>
                <a:latin typeface="Calibri" pitchFamily="34" charset="0"/>
                <a:ea typeface="Calibri" pitchFamily="34" charset="-122"/>
                <a:cs typeface="Calibri" pitchFamily="34" charset="-120"/>
              </a:rPr>
              <a:t>Estudiante: </a:t>
            </a:r>
            <a:pPr indent="0" marL="0">
              <a:spcAft>
                <a:spcPts val="300"/>
              </a:spcAft>
              <a:buNone/>
            </a:pPr>
            <a:r>
              <a:rPr lang="en-US" sz="1500" dirty="0">
                <a:solidFill>
                  <a:srgbClr val="FFFFFF"/>
                </a:solidFill>
                <a:latin typeface="Calibri" pitchFamily="34" charset="0"/>
                <a:ea typeface="Calibri" pitchFamily="34" charset="-122"/>
                <a:cs typeface="Calibri" pitchFamily="34" charset="-120"/>
              </a:rPr>
              <a:t>Josué David Zetino Boch</a:t>
            </a:r>
            <a:endParaRPr lang="en-US" sz="1500" dirty="0"/>
          </a:p>
          <a:p>
            <a:pPr indent="0" marL="0">
              <a:spcAft>
                <a:spcPts val="300"/>
              </a:spcAft>
              <a:buNone/>
            </a:pPr>
            <a:r>
              <a:rPr lang="en-US" sz="1500" b="1" dirty="0">
                <a:solidFill>
                  <a:srgbClr val="C9A227"/>
                </a:solidFill>
                <a:latin typeface="Calibri" pitchFamily="34" charset="0"/>
                <a:ea typeface="Calibri" pitchFamily="34" charset="-122"/>
                <a:cs typeface="Calibri" pitchFamily="34" charset="-120"/>
              </a:rPr>
              <a:t>Carné: </a:t>
            </a:r>
            <a:pPr indent="0" marL="0">
              <a:spcAft>
                <a:spcPts val="300"/>
              </a:spcAft>
              <a:buNone/>
            </a:pPr>
            <a:r>
              <a:rPr lang="en-US" sz="1500" dirty="0">
                <a:solidFill>
                  <a:srgbClr val="FFFFFF"/>
                </a:solidFill>
                <a:latin typeface="Calibri" pitchFamily="34" charset="0"/>
                <a:ea typeface="Calibri" pitchFamily="34" charset="-122"/>
                <a:cs typeface="Calibri" pitchFamily="34" charset="-120"/>
              </a:rPr>
              <a:t>9989-17-12602</a:t>
            </a:r>
            <a:endParaRPr lang="en-US" sz="1500" dirty="0"/>
          </a:p>
          <a:p>
            <a:pPr indent="0" marL="0">
              <a:spcAft>
                <a:spcPts val="300"/>
              </a:spcAft>
              <a:buNone/>
            </a:pPr>
            <a:r>
              <a:rPr lang="en-US" sz="1500" b="1" dirty="0">
                <a:solidFill>
                  <a:srgbClr val="C9A227"/>
                </a:solidFill>
                <a:latin typeface="Calibri" pitchFamily="34" charset="0"/>
                <a:ea typeface="Calibri" pitchFamily="34" charset="-122"/>
                <a:cs typeface="Calibri" pitchFamily="34" charset="-120"/>
              </a:rPr>
              <a:t>Ciclo: </a:t>
            </a:r>
            <a:pPr indent="0" marL="0">
              <a:spcAft>
                <a:spcPts val="300"/>
              </a:spcAft>
              <a:buNone/>
            </a:pPr>
            <a:r>
              <a:rPr lang="en-US" sz="1500" dirty="0">
                <a:solidFill>
                  <a:srgbClr val="FFFFFF"/>
                </a:solidFill>
                <a:latin typeface="Calibri" pitchFamily="34" charset="0"/>
                <a:ea typeface="Calibri" pitchFamily="34" charset="-122"/>
                <a:cs typeface="Calibri" pitchFamily="34" charset="-120"/>
              </a:rPr>
              <a:t>4to ciclo · Sección C</a:t>
            </a:r>
            <a:endParaRPr lang="en-US" sz="1500" dirty="0"/>
          </a:p>
          <a:p>
            <a:pPr indent="0" marL="0">
              <a:spcAft>
                <a:spcPts val="300"/>
              </a:spcAft>
              <a:buNone/>
            </a:pPr>
            <a:r>
              <a:rPr lang="en-US" sz="1500" b="1" dirty="0">
                <a:solidFill>
                  <a:srgbClr val="C9A227"/>
                </a:solidFill>
                <a:latin typeface="Calibri" pitchFamily="34" charset="0"/>
                <a:ea typeface="Calibri" pitchFamily="34" charset="-122"/>
                <a:cs typeface="Calibri" pitchFamily="34" charset="-120"/>
              </a:rPr>
              <a:t>Jornada: </a:t>
            </a:r>
            <a:pPr indent="0" marL="0">
              <a:spcAft>
                <a:spcPts val="300"/>
              </a:spcAft>
              <a:buNone/>
            </a:pPr>
            <a:r>
              <a:rPr lang="en-US" sz="1500" dirty="0">
                <a:solidFill>
                  <a:srgbClr val="FFFFFF"/>
                </a:solidFill>
                <a:latin typeface="Calibri" pitchFamily="34" charset="0"/>
                <a:ea typeface="Calibri" pitchFamily="34" charset="-122"/>
                <a:cs typeface="Calibri" pitchFamily="34" charset="-120"/>
              </a:rPr>
              <a:t>Sábado</a:t>
            </a:r>
            <a:endParaRPr lang="en-US" sz="1500" dirty="0"/>
          </a:p>
        </p:txBody>
      </p:sp>
      <p:sp>
        <p:nvSpPr>
          <p:cNvPr id="12" name="Text 9"/>
          <p:cNvSpPr txBox="1"/>
          <p:nvPr/>
        </p:nvSpPr>
        <p:spPr>
          <a:xfrm>
            <a:off x="4846320" y="5989320"/>
            <a:ext cx="6949440" cy="320040"/>
          </a:xfrm>
          <a:prstGeom prst="rect">
            <a:avLst/>
          </a:prstGeom>
          <a:noFill/>
          <a:ln/>
        </p:spPr>
        <p:txBody>
          <a:bodyPr wrap="square" lIns="0" tIns="0" rIns="0" bIns="0" rtlCol="0" anchor="ctr"/>
          <a:lstStyle/>
          <a:p>
            <a:pPr indent="0" marL="0">
              <a:buNone/>
            </a:pPr>
            <a:r>
              <a:rPr lang="en-US" sz="1300" dirty="0">
                <a:solidFill>
                  <a:srgbClr val="C7D3E3"/>
                </a:solidFill>
                <a:latin typeface="Calibri" pitchFamily="34" charset="0"/>
                <a:ea typeface="Calibri" pitchFamily="34" charset="-122"/>
                <a:cs typeface="Calibri" pitchFamily="34" charset="-120"/>
              </a:rPr>
              <a:t>Guatemala, septiembre de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El sistema está organizado en capas</a:t>
            </a:r>
            <a:endParaRPr lang="en-US" sz="3200" dirty="0"/>
          </a:p>
        </p:txBody>
      </p:sp>
      <p:sp>
        <p:nvSpPr>
          <p:cNvPr id="3" name="Text 1"/>
          <p:cNvSpPr txBox="1"/>
          <p:nvPr/>
        </p:nvSpPr>
        <p:spPr>
          <a:xfrm>
            <a:off x="548640" y="987552"/>
            <a:ext cx="11091672" cy="365760"/>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Patrón MVC con acceso a datos mediante DAO</a:t>
            </a:r>
            <a:endParaRPr lang="en-US" sz="1500" dirty="0"/>
          </a:p>
        </p:txBody>
      </p:sp>
      <p:sp>
        <p:nvSpPr>
          <p:cNvPr id="4" name="Shape 2"/>
          <p:cNvSpPr/>
          <p:nvPr/>
        </p:nvSpPr>
        <p:spPr>
          <a:xfrm>
            <a:off x="548640" y="1737360"/>
            <a:ext cx="2514600" cy="2377440"/>
          </a:xfrm>
          <a:prstGeom prst="roundRect">
            <a:avLst>
              <a:gd name="adj" fmla="val 4615"/>
            </a:avLst>
          </a:prstGeom>
          <a:solidFill>
            <a:srgbClr val="1D6FA5"/>
          </a:solidFill>
          <a:ln w="12700">
            <a:solidFill>
              <a:srgbClr val="1D6FA5"/>
            </a:solidFill>
            <a:prstDash val="solid"/>
          </a:ln>
          <a:effectLst>
            <a:outerShdw sx="100000" sy="100000" kx="0" ky="0" algn="bl" rotWithShape="0" blurRad="101600" dist="25400" dir="54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777240" y="1965960"/>
            <a:ext cx="502920" cy="502920"/>
          </a:xfrm>
          <a:prstGeom prst="rect">
            <a:avLst/>
          </a:prstGeom>
        </p:spPr>
      </p:pic>
      <p:sp>
        <p:nvSpPr>
          <p:cNvPr id="6" name="Text 3"/>
          <p:cNvSpPr txBox="1"/>
          <p:nvPr/>
        </p:nvSpPr>
        <p:spPr>
          <a:xfrm>
            <a:off x="777240" y="2606040"/>
            <a:ext cx="210312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Vista</a:t>
            </a:r>
            <a:endParaRPr lang="en-US" sz="2000" dirty="0"/>
          </a:p>
        </p:txBody>
      </p:sp>
      <p:sp>
        <p:nvSpPr>
          <p:cNvPr id="7" name="Text 4"/>
          <p:cNvSpPr txBox="1"/>
          <p:nvPr/>
        </p:nvSpPr>
        <p:spPr>
          <a:xfrm>
            <a:off x="777240" y="3108960"/>
            <a:ext cx="2148840" cy="868680"/>
          </a:xfrm>
          <a:prstGeom prst="rect">
            <a:avLst/>
          </a:prstGeom>
          <a:noFill/>
          <a:ln/>
        </p:spPr>
        <p:txBody>
          <a:bodyPr wrap="square" lIns="0" tIns="0" rIns="0" bIns="0" rtlCol="0" anchor="t"/>
          <a:lstStyle/>
          <a:p>
            <a:pPr indent="0" marL="0">
              <a:buNone/>
            </a:pPr>
            <a:r>
              <a:rPr lang="en-US" sz="1300" dirty="0">
                <a:solidFill>
                  <a:srgbClr val="DCE6F2"/>
                </a:solidFill>
                <a:latin typeface="Calibri" pitchFamily="34" charset="0"/>
                <a:ea typeface="Calibri" pitchFamily="34" charset="-122"/>
                <a:cs typeface="Calibri" pitchFamily="34" charset="-120"/>
              </a:rPr>
              <a:t>Swing MDI · FlatLaf</a:t>
            </a:r>
            <a:endParaRPr lang="en-US" sz="1300" dirty="0"/>
          </a:p>
          <a:p>
            <a:pPr indent="0" marL="0">
              <a:buNone/>
            </a:pPr>
            <a:r>
              <a:rPr lang="en-US" sz="1300" dirty="0">
                <a:solidFill>
                  <a:srgbClr val="DCE6F2"/>
                </a:solidFill>
                <a:latin typeface="Calibri" pitchFamily="34" charset="0"/>
                <a:ea typeface="Calibri" pitchFamily="34" charset="-122"/>
                <a:cs typeface="Calibri" pitchFamily="34" charset="-120"/>
              </a:rPr>
              <a:t>FrmPrincipal, formularios</a:t>
            </a:r>
            <a:endParaRPr lang="en-US" sz="1300" dirty="0"/>
          </a:p>
        </p:txBody>
      </p:sp>
      <p:pic>
        <p:nvPicPr>
          <p:cNvPr id="8" name="Image 1" descr="preencoded.png">    </p:cNvPr>
          <p:cNvPicPr>
            <a:picLocks noChangeAspect="1"/>
          </p:cNvPicPr>
          <p:nvPr/>
        </p:nvPicPr>
        <p:blipFill>
          <a:blip r:embed="rId2"/>
          <a:stretch>
            <a:fillRect/>
          </a:stretch>
        </p:blipFill>
        <p:spPr>
          <a:xfrm>
            <a:off x="3136392" y="2743200"/>
            <a:ext cx="256032" cy="256032"/>
          </a:xfrm>
          <a:prstGeom prst="rect">
            <a:avLst/>
          </a:prstGeom>
        </p:spPr>
      </p:pic>
      <p:sp>
        <p:nvSpPr>
          <p:cNvPr id="9" name="Shape 5"/>
          <p:cNvSpPr/>
          <p:nvPr/>
        </p:nvSpPr>
        <p:spPr>
          <a:xfrm>
            <a:off x="3456432" y="1737360"/>
            <a:ext cx="2514600" cy="2377440"/>
          </a:xfrm>
          <a:prstGeom prst="roundRect">
            <a:avLst>
              <a:gd name="adj" fmla="val 4615"/>
            </a:avLst>
          </a:prstGeom>
          <a:solidFill>
            <a:srgbClr val="1D6FA5"/>
          </a:solidFill>
          <a:ln w="12700">
            <a:solidFill>
              <a:srgbClr val="1D6FA5"/>
            </a:solidFill>
            <a:prstDash val="solid"/>
          </a:ln>
          <a:effectLst>
            <a:outerShdw sx="100000" sy="100000" kx="0" ky="0" algn="bl" rotWithShape="0" blurRad="101600" dist="25400" dir="5400000">
              <a:srgbClr val="000000">
                <a:alpha val="18000"/>
              </a:srgbClr>
            </a:outerShdw>
          </a:effectLst>
        </p:spPr>
      </p:sp>
      <p:pic>
        <p:nvPicPr>
          <p:cNvPr id="10" name="Image 2" descr="preencoded.png">    </p:cNvPr>
          <p:cNvPicPr>
            <a:picLocks noChangeAspect="1"/>
          </p:cNvPicPr>
          <p:nvPr/>
        </p:nvPicPr>
        <p:blipFill>
          <a:blip r:embed="rId3"/>
          <a:stretch>
            <a:fillRect/>
          </a:stretch>
        </p:blipFill>
        <p:spPr>
          <a:xfrm>
            <a:off x="3685032" y="1965960"/>
            <a:ext cx="502920" cy="502920"/>
          </a:xfrm>
          <a:prstGeom prst="rect">
            <a:avLst/>
          </a:prstGeom>
        </p:spPr>
      </p:pic>
      <p:sp>
        <p:nvSpPr>
          <p:cNvPr id="11" name="Text 6"/>
          <p:cNvSpPr txBox="1"/>
          <p:nvPr/>
        </p:nvSpPr>
        <p:spPr>
          <a:xfrm>
            <a:off x="3685032" y="2606040"/>
            <a:ext cx="210312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Controlador</a:t>
            </a:r>
            <a:endParaRPr lang="en-US" sz="2000" dirty="0"/>
          </a:p>
        </p:txBody>
      </p:sp>
      <p:sp>
        <p:nvSpPr>
          <p:cNvPr id="12" name="Text 7"/>
          <p:cNvSpPr txBox="1"/>
          <p:nvPr/>
        </p:nvSpPr>
        <p:spPr>
          <a:xfrm>
            <a:off x="3685032" y="3108960"/>
            <a:ext cx="2148840" cy="868680"/>
          </a:xfrm>
          <a:prstGeom prst="rect">
            <a:avLst/>
          </a:prstGeom>
          <a:noFill/>
          <a:ln/>
        </p:spPr>
        <p:txBody>
          <a:bodyPr wrap="square" lIns="0" tIns="0" rIns="0" bIns="0" rtlCol="0" anchor="t"/>
          <a:lstStyle/>
          <a:p>
            <a:pPr indent="0" marL="0">
              <a:buNone/>
            </a:pPr>
            <a:r>
              <a:rPr lang="en-US" sz="1300" dirty="0">
                <a:solidFill>
                  <a:srgbClr val="DCE6F2"/>
                </a:solidFill>
                <a:latin typeface="Calibri" pitchFamily="34" charset="0"/>
                <a:ea typeface="Calibri" pitchFamily="34" charset="-122"/>
                <a:cs typeface="Calibri" pitchFamily="34" charset="-120"/>
              </a:rPr>
              <a:t>Reglas y validaciones</a:t>
            </a:r>
            <a:endParaRPr lang="en-US" sz="1300" dirty="0"/>
          </a:p>
          <a:p>
            <a:pPr indent="0" marL="0">
              <a:buNone/>
            </a:pPr>
            <a:r>
              <a:rPr lang="en-US" sz="1300" dirty="0">
                <a:solidFill>
                  <a:srgbClr val="DCE6F2"/>
                </a:solidFill>
                <a:latin typeface="Calibri" pitchFamily="34" charset="0"/>
                <a:ea typeface="Calibri" pitchFamily="34" charset="-122"/>
                <a:cs typeface="Calibri" pitchFamily="34" charset="-120"/>
              </a:rPr>
              <a:t>ProductoController…</a:t>
            </a:r>
            <a:endParaRPr lang="en-US" sz="1300" dirty="0"/>
          </a:p>
        </p:txBody>
      </p:sp>
      <p:pic>
        <p:nvPicPr>
          <p:cNvPr id="13" name="Image 3" descr="preencoded.png">    </p:cNvPr>
          <p:cNvPicPr>
            <a:picLocks noChangeAspect="1"/>
          </p:cNvPicPr>
          <p:nvPr/>
        </p:nvPicPr>
        <p:blipFill>
          <a:blip r:embed="rId4"/>
          <a:stretch>
            <a:fillRect/>
          </a:stretch>
        </p:blipFill>
        <p:spPr>
          <a:xfrm>
            <a:off x="6044184" y="2743200"/>
            <a:ext cx="256032" cy="256032"/>
          </a:xfrm>
          <a:prstGeom prst="rect">
            <a:avLst/>
          </a:prstGeom>
        </p:spPr>
      </p:pic>
      <p:sp>
        <p:nvSpPr>
          <p:cNvPr id="14" name="Shape 8"/>
          <p:cNvSpPr/>
          <p:nvPr/>
        </p:nvSpPr>
        <p:spPr>
          <a:xfrm>
            <a:off x="6364224" y="1737360"/>
            <a:ext cx="2514600" cy="2377440"/>
          </a:xfrm>
          <a:prstGeom prst="roundRect">
            <a:avLst>
              <a:gd name="adj" fmla="val 4615"/>
            </a:avLst>
          </a:prstGeom>
          <a:solidFill>
            <a:srgbClr val="1D6FA5"/>
          </a:solidFill>
          <a:ln w="12700">
            <a:solidFill>
              <a:srgbClr val="1D6FA5"/>
            </a:solidFill>
            <a:prstDash val="solid"/>
          </a:ln>
          <a:effectLst>
            <a:outerShdw sx="100000" sy="100000" kx="0" ky="0" algn="bl" rotWithShape="0" blurRad="101600" dist="25400" dir="5400000">
              <a:srgbClr val="000000">
                <a:alpha val="18000"/>
              </a:srgbClr>
            </a:outerShdw>
          </a:effectLst>
        </p:spPr>
      </p:sp>
      <p:pic>
        <p:nvPicPr>
          <p:cNvPr id="15" name="Image 4" descr="preencoded.png">    </p:cNvPr>
          <p:cNvPicPr>
            <a:picLocks noChangeAspect="1"/>
          </p:cNvPicPr>
          <p:nvPr/>
        </p:nvPicPr>
        <p:blipFill>
          <a:blip r:embed="rId5"/>
          <a:stretch>
            <a:fillRect/>
          </a:stretch>
        </p:blipFill>
        <p:spPr>
          <a:xfrm>
            <a:off x="6592824" y="1965960"/>
            <a:ext cx="502920" cy="502920"/>
          </a:xfrm>
          <a:prstGeom prst="rect">
            <a:avLst/>
          </a:prstGeom>
        </p:spPr>
      </p:pic>
      <p:sp>
        <p:nvSpPr>
          <p:cNvPr id="16" name="Text 9"/>
          <p:cNvSpPr txBox="1"/>
          <p:nvPr/>
        </p:nvSpPr>
        <p:spPr>
          <a:xfrm>
            <a:off x="6592824" y="2606040"/>
            <a:ext cx="210312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DAO</a:t>
            </a:r>
            <a:endParaRPr lang="en-US" sz="2000" dirty="0"/>
          </a:p>
        </p:txBody>
      </p:sp>
      <p:sp>
        <p:nvSpPr>
          <p:cNvPr id="17" name="Text 10"/>
          <p:cNvSpPr txBox="1"/>
          <p:nvPr/>
        </p:nvSpPr>
        <p:spPr>
          <a:xfrm>
            <a:off x="6592824" y="3108960"/>
            <a:ext cx="2148840" cy="868680"/>
          </a:xfrm>
          <a:prstGeom prst="rect">
            <a:avLst/>
          </a:prstGeom>
          <a:noFill/>
          <a:ln/>
        </p:spPr>
        <p:txBody>
          <a:bodyPr wrap="square" lIns="0" tIns="0" rIns="0" bIns="0" rtlCol="0" anchor="t"/>
          <a:lstStyle/>
          <a:p>
            <a:pPr indent="0" marL="0">
              <a:buNone/>
            </a:pPr>
            <a:r>
              <a:rPr lang="en-US" sz="1300" dirty="0">
                <a:solidFill>
                  <a:srgbClr val="DCE6F2"/>
                </a:solidFill>
                <a:latin typeface="Calibri" pitchFamily="34" charset="0"/>
                <a:ea typeface="Calibri" pitchFamily="34" charset="-122"/>
                <a:cs typeface="Calibri" pitchFamily="34" charset="-120"/>
              </a:rPr>
              <a:t>Interfaces + JDBC</a:t>
            </a:r>
            <a:endParaRPr lang="en-US" sz="1300" dirty="0"/>
          </a:p>
          <a:p>
            <a:pPr indent="0" marL="0">
              <a:buNone/>
            </a:pPr>
            <a:r>
              <a:rPr lang="en-US" sz="1300" dirty="0">
                <a:solidFill>
                  <a:srgbClr val="DCE6F2"/>
                </a:solidFill>
                <a:latin typeface="Calibri" pitchFamily="34" charset="0"/>
                <a:ea typeface="Calibri" pitchFamily="34" charset="-122"/>
                <a:cs typeface="Calibri" pitchFamily="34" charset="-120"/>
              </a:rPr>
              <a:t>Singleton por entidad</a:t>
            </a:r>
            <a:endParaRPr lang="en-US" sz="1300" dirty="0"/>
          </a:p>
        </p:txBody>
      </p:sp>
      <p:pic>
        <p:nvPicPr>
          <p:cNvPr id="18" name="Image 5" descr="preencoded.png">    </p:cNvPr>
          <p:cNvPicPr>
            <a:picLocks noChangeAspect="1"/>
          </p:cNvPicPr>
          <p:nvPr/>
        </p:nvPicPr>
        <p:blipFill>
          <a:blip r:embed="rId6"/>
          <a:stretch>
            <a:fillRect/>
          </a:stretch>
        </p:blipFill>
        <p:spPr>
          <a:xfrm>
            <a:off x="8951976" y="2743200"/>
            <a:ext cx="256032" cy="256032"/>
          </a:xfrm>
          <a:prstGeom prst="rect">
            <a:avLst/>
          </a:prstGeom>
        </p:spPr>
      </p:pic>
      <p:sp>
        <p:nvSpPr>
          <p:cNvPr id="19" name="Shape 11"/>
          <p:cNvSpPr/>
          <p:nvPr/>
        </p:nvSpPr>
        <p:spPr>
          <a:xfrm>
            <a:off x="9272016" y="1737360"/>
            <a:ext cx="2514600" cy="2377440"/>
          </a:xfrm>
          <a:prstGeom prst="roundRect">
            <a:avLst>
              <a:gd name="adj" fmla="val 4615"/>
            </a:avLst>
          </a:prstGeom>
          <a:solidFill>
            <a:srgbClr val="0B2545"/>
          </a:solidFill>
          <a:ln w="12700">
            <a:solidFill>
              <a:srgbClr val="0B2545"/>
            </a:solidFill>
            <a:prstDash val="solid"/>
          </a:ln>
          <a:effectLst>
            <a:outerShdw sx="100000" sy="100000" kx="0" ky="0" algn="bl" rotWithShape="0" blurRad="101600" dist="25400" dir="5400000">
              <a:srgbClr val="000000">
                <a:alpha val="18000"/>
              </a:srgbClr>
            </a:outerShdw>
          </a:effectLst>
        </p:spPr>
      </p:sp>
      <p:pic>
        <p:nvPicPr>
          <p:cNvPr id="20" name="Image 6" descr="preencoded.png">    </p:cNvPr>
          <p:cNvPicPr>
            <a:picLocks noChangeAspect="1"/>
          </p:cNvPicPr>
          <p:nvPr/>
        </p:nvPicPr>
        <p:blipFill>
          <a:blip r:embed="rId7"/>
          <a:stretch>
            <a:fillRect/>
          </a:stretch>
        </p:blipFill>
        <p:spPr>
          <a:xfrm>
            <a:off x="9500616" y="1965960"/>
            <a:ext cx="502920" cy="502920"/>
          </a:xfrm>
          <a:prstGeom prst="rect">
            <a:avLst/>
          </a:prstGeom>
        </p:spPr>
      </p:pic>
      <p:sp>
        <p:nvSpPr>
          <p:cNvPr id="21" name="Text 12"/>
          <p:cNvSpPr txBox="1"/>
          <p:nvPr/>
        </p:nvSpPr>
        <p:spPr>
          <a:xfrm>
            <a:off x="9500616" y="2606040"/>
            <a:ext cx="210312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Base de datos</a:t>
            </a:r>
            <a:endParaRPr lang="en-US" sz="2000" dirty="0"/>
          </a:p>
        </p:txBody>
      </p:sp>
      <p:sp>
        <p:nvSpPr>
          <p:cNvPr id="22" name="Text 13"/>
          <p:cNvSpPr txBox="1"/>
          <p:nvPr/>
        </p:nvSpPr>
        <p:spPr>
          <a:xfrm>
            <a:off x="9500616" y="3108960"/>
            <a:ext cx="2148840" cy="868680"/>
          </a:xfrm>
          <a:prstGeom prst="rect">
            <a:avLst/>
          </a:prstGeom>
          <a:noFill/>
          <a:ln/>
        </p:spPr>
        <p:txBody>
          <a:bodyPr wrap="square" lIns="0" tIns="0" rIns="0" bIns="0" rtlCol="0" anchor="t"/>
          <a:lstStyle/>
          <a:p>
            <a:pPr indent="0" marL="0">
              <a:buNone/>
            </a:pPr>
            <a:r>
              <a:rPr lang="en-US" sz="1300" dirty="0">
                <a:solidFill>
                  <a:srgbClr val="DCE6F2"/>
                </a:solidFill>
                <a:latin typeface="Calibri" pitchFamily="34" charset="0"/>
                <a:ea typeface="Calibri" pitchFamily="34" charset="-122"/>
                <a:cs typeface="Calibri" pitchFamily="34" charset="-120"/>
              </a:rPr>
              <a:t>PostgreSQL en Supabase</a:t>
            </a:r>
            <a:endParaRPr lang="en-US" sz="1300" dirty="0"/>
          </a:p>
          <a:p>
            <a:pPr indent="0" marL="0">
              <a:buNone/>
            </a:pPr>
            <a:r>
              <a:rPr lang="en-US" sz="1300" dirty="0">
                <a:solidFill>
                  <a:srgbClr val="DCE6F2"/>
                </a:solidFill>
                <a:latin typeface="Calibri" pitchFamily="34" charset="0"/>
                <a:ea typeface="Calibri" pitchFamily="34" charset="-122"/>
                <a:cs typeface="Calibri" pitchFamily="34" charset="-120"/>
              </a:rPr>
              <a:t>(SQLite como respaldo local)</a:t>
            </a:r>
            <a:endParaRPr lang="en-US" sz="1300" dirty="0"/>
          </a:p>
        </p:txBody>
      </p:sp>
      <p:sp>
        <p:nvSpPr>
          <p:cNvPr id="23" name="Shape 14"/>
          <p:cNvSpPr/>
          <p:nvPr/>
        </p:nvSpPr>
        <p:spPr>
          <a:xfrm>
            <a:off x="8357616" y="4617720"/>
            <a:ext cx="2514600" cy="1463040"/>
          </a:xfrm>
          <a:prstGeom prst="roundRect">
            <a:avLst>
              <a:gd name="adj" fmla="val 7500"/>
            </a:avLst>
          </a:prstGeom>
          <a:solidFill>
            <a:srgbClr val="C62828"/>
          </a:solidFill>
          <a:ln w="12700">
            <a:solidFill>
              <a:srgbClr val="C62828"/>
            </a:solidFill>
            <a:prstDash val="solid"/>
          </a:ln>
          <a:effectLst>
            <a:outerShdw sx="100000" sy="100000" kx="0" ky="0" algn="bl" rotWithShape="0" blurRad="101600" dist="25400" dir="5400000">
              <a:srgbClr val="000000">
                <a:alpha val="18000"/>
              </a:srgbClr>
            </a:outerShdw>
          </a:effectLst>
        </p:spPr>
      </p:sp>
      <p:pic>
        <p:nvPicPr>
          <p:cNvPr id="24" name="Image 7" descr="preencoded.png">    </p:cNvPr>
          <p:cNvPicPr>
            <a:picLocks noChangeAspect="1"/>
          </p:cNvPicPr>
          <p:nvPr/>
        </p:nvPicPr>
        <p:blipFill>
          <a:blip r:embed="rId8"/>
          <a:stretch>
            <a:fillRect/>
          </a:stretch>
        </p:blipFill>
        <p:spPr>
          <a:xfrm>
            <a:off x="8586216" y="4800600"/>
            <a:ext cx="457200" cy="457200"/>
          </a:xfrm>
          <a:prstGeom prst="rect">
            <a:avLst/>
          </a:prstGeom>
        </p:spPr>
      </p:pic>
      <p:sp>
        <p:nvSpPr>
          <p:cNvPr id="25" name="Text 15"/>
          <p:cNvSpPr txBox="1"/>
          <p:nvPr/>
        </p:nvSpPr>
        <p:spPr>
          <a:xfrm>
            <a:off x="9144000" y="4800600"/>
            <a:ext cx="164592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App Android</a:t>
            </a:r>
            <a:endParaRPr lang="en-US" sz="1800" dirty="0"/>
          </a:p>
        </p:txBody>
      </p:sp>
      <p:sp>
        <p:nvSpPr>
          <p:cNvPr id="26" name="Text 16"/>
          <p:cNvSpPr txBox="1"/>
          <p:nvPr/>
        </p:nvSpPr>
        <p:spPr>
          <a:xfrm>
            <a:off x="8586216" y="5303520"/>
            <a:ext cx="2194560" cy="685800"/>
          </a:xfrm>
          <a:prstGeom prst="rect">
            <a:avLst/>
          </a:prstGeom>
          <a:noFill/>
          <a:ln/>
        </p:spPr>
        <p:txBody>
          <a:bodyPr wrap="square" lIns="0" tIns="0" rIns="0" bIns="0" rtlCol="0" anchor="ctr"/>
          <a:lstStyle/>
          <a:p>
            <a:pPr indent="0" marL="0">
              <a:buNone/>
            </a:pPr>
            <a:r>
              <a:rPr lang="en-US" sz="1200" dirty="0">
                <a:solidFill>
                  <a:srgbClr val="FBE3E3"/>
                </a:solidFill>
                <a:latin typeface="Calibri" pitchFamily="34" charset="0"/>
                <a:ea typeface="Calibri" pitchFamily="34" charset="-122"/>
                <a:cs typeface="Calibri" pitchFamily="34" charset="-120"/>
              </a:rPr>
              <a:t>Funciones app_* con token</a:t>
            </a:r>
            <a:endParaRPr lang="en-US" sz="1200" dirty="0"/>
          </a:p>
          <a:p>
            <a:pPr indent="0" marL="0">
              <a:buNone/>
            </a:pPr>
            <a:r>
              <a:rPr lang="en-US" sz="1200" dirty="0">
                <a:solidFill>
                  <a:srgbClr val="FBE3E3"/>
                </a:solidFill>
                <a:latin typeface="Calibri" pitchFamily="34" charset="0"/>
                <a:ea typeface="Calibri" pitchFamily="34" charset="-122"/>
                <a:cs typeface="Calibri" pitchFamily="34" charset="-120"/>
              </a:rPr>
              <a:t>(sin acceso directo a tablas)</a:t>
            </a:r>
            <a:endParaRPr lang="en-US" sz="1200" dirty="0"/>
          </a:p>
        </p:txBody>
      </p:sp>
      <p:sp>
        <p:nvSpPr>
          <p:cNvPr id="27" name="Shape 17"/>
          <p:cNvSpPr/>
          <p:nvPr/>
        </p:nvSpPr>
        <p:spPr>
          <a:xfrm>
            <a:off x="9601200" y="4160520"/>
            <a:ext cx="0" cy="411480"/>
          </a:xfrm>
          <a:prstGeom prst="line">
            <a:avLst/>
          </a:prstGeom>
          <a:noFill/>
          <a:ln w="25400">
            <a:solidFill>
              <a:srgbClr val="9AA7B8"/>
            </a:solidFill>
            <a:prstDash val="solid"/>
            <a:headEnd type="triangle"/>
          </a:ln>
        </p:spPr>
      </p:sp>
      <p:sp>
        <p:nvSpPr>
          <p:cNvPr id="28" name="Text 18"/>
          <p:cNvSpPr txBox="1"/>
          <p:nvPr/>
        </p:nvSpPr>
        <p:spPr>
          <a:xfrm>
            <a:off x="548640" y="4663440"/>
            <a:ext cx="7498080" cy="100584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Tecnologías: </a:t>
            </a:r>
            <a:pPr indent="0" marL="0">
              <a:buNone/>
            </a:pPr>
            <a:r>
              <a:rPr lang="en-US" sz="1500" dirty="0">
                <a:solidFill>
                  <a:srgbClr val="1F2937"/>
                </a:solidFill>
                <a:latin typeface="Calibri" pitchFamily="34" charset="0"/>
                <a:ea typeface="Calibri" pitchFamily="34" charset="-122"/>
                <a:cs typeface="Calibri" pitchFamily="34" charset="-120"/>
              </a:rPr>
              <a:t>Java 25 · Maven · NetBeans · Swing + FlatLaf · JDBC · PostgreSQL (Supabase) · SQLite · Android (Java) · Git y GitHub</a:t>
            </a:r>
            <a:endParaRPr lang="en-US" sz="1500" dirty="0"/>
          </a:p>
        </p:txBody>
      </p:sp>
      <p:sp>
        <p:nvSpPr>
          <p:cNvPr id="29" name="Text 19"/>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A94A3"/>
                </a:solidFill>
                <a:latin typeface="Calibri" pitchFamily="34" charset="0"/>
                <a:ea typeface="Calibri" pitchFamily="34" charset="-122"/>
                <a:cs typeface="Calibri" pitchFamily="34" charset="-120"/>
              </a:rPr>
              <a:t>Programación II · Sistema de Ventas</a:t>
            </a:r>
            <a:endParaRPr lang="en-US" sz="1000" dirty="0"/>
          </a:p>
        </p:txBody>
      </p:sp>
      <p:sp>
        <p:nvSpPr>
          <p:cNvPr id="30" name="Text 20"/>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000" dirty="0">
                <a:solidFill>
                  <a:srgbClr val="8A94A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El diagrama de clases refleja el código implementado</a:t>
            </a:r>
            <a:endParaRPr lang="en-US" sz="3200" dirty="0"/>
          </a:p>
        </p:txBody>
      </p:sp>
      <p:sp>
        <p:nvSpPr>
          <p:cNvPr id="3" name="Text 1"/>
          <p:cNvSpPr txBox="1"/>
          <p:nvPr/>
        </p:nvSpPr>
        <p:spPr>
          <a:xfrm>
            <a:off x="548640" y="987552"/>
            <a:ext cx="11091672" cy="365760"/>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Nombres, atributos y métodos tomados de las clases del proyecto</a:t>
            </a:r>
            <a:endParaRPr lang="en-US" sz="1500" dirty="0"/>
          </a:p>
        </p:txBody>
      </p:sp>
      <p:sp>
        <p:nvSpPr>
          <p:cNvPr id="4" name="Shape 2"/>
          <p:cNvSpPr/>
          <p:nvPr/>
        </p:nvSpPr>
        <p:spPr>
          <a:xfrm>
            <a:off x="548640" y="1600200"/>
            <a:ext cx="6126480" cy="4663440"/>
          </a:xfrm>
          <a:prstGeom prst="rect">
            <a:avLst/>
          </a:prstGeom>
          <a:solidFill>
            <a:srgbClr val="FFFFFF"/>
          </a:solidFill>
          <a:ln w="12700">
            <a:solidFill>
              <a:srgbClr val="D5DEEA"/>
            </a:solidFill>
            <a:prstDash val="solid"/>
          </a:ln>
        </p:spPr>
      </p:sp>
      <p:pic>
        <p:nvPicPr>
          <p:cNvPr id="5" name="Image 0" descr="C:\Users\Josue Zetino\AppData\Local\Temp\claude\C--Users-Josue-Zetino-Documents-4to-semestre-progra-2\7ccdd11b-dc21-4f34-84fe-794d7b2c2056\scratchpad\pres\img\clases-1-modelo.png">    </p:cNvPr>
          <p:cNvPicPr>
            <a:picLocks noChangeAspect="1"/>
          </p:cNvPicPr>
          <p:nvPr/>
        </p:nvPicPr>
        <p:blipFill>
          <a:blip r:embed="rId1"/>
          <a:stretch>
            <a:fillRect/>
          </a:stretch>
        </p:blipFill>
        <p:spPr>
          <a:xfrm>
            <a:off x="845928" y="1691640"/>
            <a:ext cx="5531904" cy="4480560"/>
          </a:xfrm>
          <a:prstGeom prst="rect">
            <a:avLst/>
          </a:prstGeom>
        </p:spPr>
      </p:pic>
      <p:sp>
        <p:nvSpPr>
          <p:cNvPr id="6" name="Text 3"/>
          <p:cNvSpPr txBox="1"/>
          <p:nvPr/>
        </p:nvSpPr>
        <p:spPr>
          <a:xfrm>
            <a:off x="7086600" y="1645920"/>
            <a:ext cx="4572000" cy="411480"/>
          </a:xfrm>
          <a:prstGeom prst="rect">
            <a:avLst/>
          </a:prstGeom>
          <a:noFill/>
          <a:ln/>
        </p:spPr>
        <p:txBody>
          <a:bodyPr wrap="square" lIns="0" tIns="0" rIns="0" bIns="0" rtlCol="0" anchor="ctr"/>
          <a:lstStyle/>
          <a:p>
            <a:pPr indent="0" marL="0">
              <a:buNone/>
            </a:pPr>
            <a:r>
              <a:rPr lang="en-US" sz="1900" b="1" dirty="0">
                <a:solidFill>
                  <a:srgbClr val="0B2545"/>
                </a:solidFill>
                <a:latin typeface="Cambria" pitchFamily="34" charset="0"/>
                <a:ea typeface="Cambria" pitchFamily="34" charset="-122"/>
                <a:cs typeface="Cambria" pitchFamily="34" charset="-120"/>
              </a:rPr>
              <a:t>5 vistas del diagrama</a:t>
            </a:r>
            <a:endParaRPr lang="en-US" sz="1900" dirty="0"/>
          </a:p>
        </p:txBody>
      </p:sp>
      <p:sp>
        <p:nvSpPr>
          <p:cNvPr id="7" name="Text 4"/>
          <p:cNvSpPr txBox="1"/>
          <p:nvPr/>
        </p:nvSpPr>
        <p:spPr>
          <a:xfrm>
            <a:off x="7086600" y="2103120"/>
            <a:ext cx="4572000" cy="182880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500" dirty="0">
                <a:solidFill>
                  <a:srgbClr val="1F2937"/>
                </a:solidFill>
                <a:latin typeface="Calibri" pitchFamily="34" charset="0"/>
                <a:ea typeface="Calibri" pitchFamily="34" charset="-122"/>
                <a:cs typeface="Calibri" pitchFamily="34" charset="-120"/>
              </a:rPr>
              <a:t>Modelo: entidades, herencia de Persona</a:t>
            </a:r>
            <a:endParaRPr lang="en-US" sz="1500" dirty="0"/>
          </a:p>
          <a:p>
            <a:pPr marL="342900" indent="-342900">
              <a:spcAft>
                <a:spcPts val="400"/>
              </a:spcAft>
              <a:buSzPct val="100000"/>
              <a:buFont typeface="+mj-lt"/>
              <a:buAutoNum type="arabicPeriod" startAt="1"/>
            </a:pPr>
            <a:r>
              <a:rPr lang="en-US" sz="1500" dirty="0">
                <a:solidFill>
                  <a:srgbClr val="1F2937"/>
                </a:solidFill>
                <a:latin typeface="Calibri" pitchFamily="34" charset="0"/>
                <a:ea typeface="Calibri" pitchFamily="34" charset="-122"/>
                <a:cs typeface="Calibri" pitchFamily="34" charset="-120"/>
              </a:rPr>
              <a:t>Acceso a datos: DAO + Singleton</a:t>
            </a:r>
            <a:endParaRPr lang="en-US" sz="1500" dirty="0"/>
          </a:p>
          <a:p>
            <a:pPr marL="342900" indent="-342900">
              <a:spcAft>
                <a:spcPts val="400"/>
              </a:spcAft>
              <a:buSzPct val="100000"/>
              <a:buFont typeface="+mj-lt"/>
              <a:buAutoNum type="arabicPeriod" startAt="1"/>
            </a:pPr>
            <a:r>
              <a:rPr lang="en-US" sz="1500" dirty="0">
                <a:solidFill>
                  <a:srgbClr val="1F2937"/>
                </a:solidFill>
                <a:latin typeface="Calibri" pitchFamily="34" charset="0"/>
                <a:ea typeface="Calibri" pitchFamily="34" charset="-122"/>
                <a:cs typeface="Calibri" pitchFamily="34" charset="-120"/>
              </a:rPr>
              <a:t>Controladores y seguridad</a:t>
            </a:r>
            <a:endParaRPr lang="en-US" sz="1500" dirty="0"/>
          </a:p>
          <a:p>
            <a:pPr marL="342900" indent="-342900">
              <a:spcAft>
                <a:spcPts val="400"/>
              </a:spcAft>
              <a:buSzPct val="100000"/>
              <a:buFont typeface="+mj-lt"/>
              <a:buAutoNum type="arabicPeriod" startAt="1"/>
            </a:pPr>
            <a:r>
              <a:rPr lang="en-US" sz="1500" dirty="0">
                <a:solidFill>
                  <a:srgbClr val="1F2937"/>
                </a:solidFill>
                <a:latin typeface="Calibri" pitchFamily="34" charset="0"/>
                <a:ea typeface="Calibri" pitchFamily="34" charset="-122"/>
                <a:cs typeface="Calibri" pitchFamily="34" charset="-120"/>
              </a:rPr>
              <a:t>Vistas MDI (formularios)</a:t>
            </a:r>
            <a:endParaRPr lang="en-US" sz="1500" dirty="0"/>
          </a:p>
          <a:p>
            <a:pPr marL="342900" indent="-342900">
              <a:spcAft>
                <a:spcPts val="400"/>
              </a:spcAft>
              <a:buSzPct val="100000"/>
              <a:buFont typeface="+mj-lt"/>
              <a:buAutoNum type="arabicPeriod" startAt="1"/>
            </a:pPr>
            <a:r>
              <a:rPr lang="en-US" sz="1500" dirty="0">
                <a:solidFill>
                  <a:srgbClr val="1F2937"/>
                </a:solidFill>
                <a:latin typeface="Calibri" pitchFamily="34" charset="0"/>
                <a:ea typeface="Calibri" pitchFamily="34" charset="-122"/>
                <a:cs typeface="Calibri" pitchFamily="34" charset="-120"/>
              </a:rPr>
              <a:t>App móvil Android</a:t>
            </a:r>
            <a:endParaRPr lang="en-US" sz="1500" dirty="0"/>
          </a:p>
        </p:txBody>
      </p:sp>
      <p:sp>
        <p:nvSpPr>
          <p:cNvPr id="8" name="Text 5"/>
          <p:cNvSpPr txBox="1"/>
          <p:nvPr/>
        </p:nvSpPr>
        <p:spPr>
          <a:xfrm>
            <a:off x="7086600" y="4114800"/>
            <a:ext cx="4572000" cy="411480"/>
          </a:xfrm>
          <a:prstGeom prst="rect">
            <a:avLst/>
          </a:prstGeom>
          <a:noFill/>
          <a:ln/>
        </p:spPr>
        <p:txBody>
          <a:bodyPr wrap="square" lIns="0" tIns="0" rIns="0" bIns="0" rtlCol="0" anchor="ctr"/>
          <a:lstStyle/>
          <a:p>
            <a:pPr indent="0" marL="0">
              <a:buNone/>
            </a:pPr>
            <a:r>
              <a:rPr lang="en-US" sz="1900" b="1" dirty="0">
                <a:solidFill>
                  <a:srgbClr val="0B2545"/>
                </a:solidFill>
                <a:latin typeface="Cambria" pitchFamily="34" charset="0"/>
                <a:ea typeface="Cambria" pitchFamily="34" charset="-122"/>
                <a:cs typeface="Cambria" pitchFamily="34" charset="-120"/>
              </a:rPr>
              <a:t>Patrones de diseño aplicados</a:t>
            </a:r>
            <a:endParaRPr lang="en-US" sz="1900" dirty="0"/>
          </a:p>
        </p:txBody>
      </p:sp>
      <p:sp>
        <p:nvSpPr>
          <p:cNvPr id="9" name="Shape 6"/>
          <p:cNvSpPr/>
          <p:nvPr/>
        </p:nvSpPr>
        <p:spPr>
          <a:xfrm>
            <a:off x="7086600" y="4617720"/>
            <a:ext cx="576072" cy="384048"/>
          </a:xfrm>
          <a:prstGeom prst="roundRect">
            <a:avLst>
              <a:gd name="adj" fmla="val 47619"/>
            </a:avLst>
          </a:prstGeom>
          <a:solidFill>
            <a:srgbClr val="EEF3F9"/>
          </a:solidFill>
          <a:ln w="12700">
            <a:solidFill>
              <a:srgbClr val="1D6FA5"/>
            </a:solidFill>
            <a:prstDash val="solid"/>
          </a:ln>
        </p:spPr>
      </p:sp>
      <p:sp>
        <p:nvSpPr>
          <p:cNvPr id="10" name="Text 7"/>
          <p:cNvSpPr txBox="1"/>
          <p:nvPr/>
        </p:nvSpPr>
        <p:spPr>
          <a:xfrm>
            <a:off x="7086600" y="4617720"/>
            <a:ext cx="576072" cy="384048"/>
          </a:xfrm>
          <a:prstGeom prst="rect">
            <a:avLst/>
          </a:prstGeom>
          <a:noFill/>
          <a:ln/>
        </p:spPr>
        <p:txBody>
          <a:bodyPr wrap="square" lIns="0" tIns="0" rIns="0" bIns="0" rtlCol="0" anchor="ctr"/>
          <a:lstStyle/>
          <a:p>
            <a:pPr algn="ctr" indent="0" marL="0">
              <a:buNone/>
            </a:pPr>
            <a:r>
              <a:rPr lang="en-US" sz="1300" b="1" dirty="0">
                <a:solidFill>
                  <a:srgbClr val="1D6FA5"/>
                </a:solidFill>
                <a:latin typeface="Calibri" pitchFamily="34" charset="0"/>
                <a:ea typeface="Calibri" pitchFamily="34" charset="-122"/>
                <a:cs typeface="Calibri" pitchFamily="34" charset="-120"/>
              </a:rPr>
              <a:t>MVC</a:t>
            </a:r>
            <a:endParaRPr lang="en-US" sz="1300" dirty="0"/>
          </a:p>
        </p:txBody>
      </p:sp>
      <p:sp>
        <p:nvSpPr>
          <p:cNvPr id="11" name="Shape 8"/>
          <p:cNvSpPr/>
          <p:nvPr/>
        </p:nvSpPr>
        <p:spPr>
          <a:xfrm>
            <a:off x="7799832" y="4617720"/>
            <a:ext cx="576072" cy="384048"/>
          </a:xfrm>
          <a:prstGeom prst="roundRect">
            <a:avLst>
              <a:gd name="adj" fmla="val 47619"/>
            </a:avLst>
          </a:prstGeom>
          <a:solidFill>
            <a:srgbClr val="EEF3F9"/>
          </a:solidFill>
          <a:ln w="12700">
            <a:solidFill>
              <a:srgbClr val="1D6FA5"/>
            </a:solidFill>
            <a:prstDash val="solid"/>
          </a:ln>
        </p:spPr>
      </p:sp>
      <p:sp>
        <p:nvSpPr>
          <p:cNvPr id="12" name="Text 9"/>
          <p:cNvSpPr txBox="1"/>
          <p:nvPr/>
        </p:nvSpPr>
        <p:spPr>
          <a:xfrm>
            <a:off x="7799832" y="4617720"/>
            <a:ext cx="576072" cy="384048"/>
          </a:xfrm>
          <a:prstGeom prst="rect">
            <a:avLst/>
          </a:prstGeom>
          <a:noFill/>
          <a:ln/>
        </p:spPr>
        <p:txBody>
          <a:bodyPr wrap="square" lIns="0" tIns="0" rIns="0" bIns="0" rtlCol="0" anchor="ctr"/>
          <a:lstStyle/>
          <a:p>
            <a:pPr algn="ctr" indent="0" marL="0">
              <a:buNone/>
            </a:pPr>
            <a:r>
              <a:rPr lang="en-US" sz="1300" b="1" dirty="0">
                <a:solidFill>
                  <a:srgbClr val="1D6FA5"/>
                </a:solidFill>
                <a:latin typeface="Calibri" pitchFamily="34" charset="0"/>
                <a:ea typeface="Calibri" pitchFamily="34" charset="-122"/>
                <a:cs typeface="Calibri" pitchFamily="34" charset="-120"/>
              </a:rPr>
              <a:t>DAO</a:t>
            </a:r>
            <a:endParaRPr lang="en-US" sz="1300" dirty="0"/>
          </a:p>
        </p:txBody>
      </p:sp>
      <p:sp>
        <p:nvSpPr>
          <p:cNvPr id="13" name="Shape 10"/>
          <p:cNvSpPr/>
          <p:nvPr/>
        </p:nvSpPr>
        <p:spPr>
          <a:xfrm>
            <a:off x="8513064" y="4617720"/>
            <a:ext cx="1179576" cy="384048"/>
          </a:xfrm>
          <a:prstGeom prst="roundRect">
            <a:avLst>
              <a:gd name="adj" fmla="val 47619"/>
            </a:avLst>
          </a:prstGeom>
          <a:solidFill>
            <a:srgbClr val="EEF3F9"/>
          </a:solidFill>
          <a:ln w="12700">
            <a:solidFill>
              <a:srgbClr val="1D6FA5"/>
            </a:solidFill>
            <a:prstDash val="solid"/>
          </a:ln>
        </p:spPr>
      </p:sp>
      <p:sp>
        <p:nvSpPr>
          <p:cNvPr id="14" name="Text 11"/>
          <p:cNvSpPr txBox="1"/>
          <p:nvPr/>
        </p:nvSpPr>
        <p:spPr>
          <a:xfrm>
            <a:off x="8513064" y="4617720"/>
            <a:ext cx="1179576" cy="384048"/>
          </a:xfrm>
          <a:prstGeom prst="rect">
            <a:avLst/>
          </a:prstGeom>
          <a:noFill/>
          <a:ln/>
        </p:spPr>
        <p:txBody>
          <a:bodyPr wrap="square" lIns="0" tIns="0" rIns="0" bIns="0" rtlCol="0" anchor="ctr"/>
          <a:lstStyle/>
          <a:p>
            <a:pPr algn="ctr" indent="0" marL="0">
              <a:buNone/>
            </a:pPr>
            <a:r>
              <a:rPr lang="en-US" sz="1300" b="1" dirty="0">
                <a:solidFill>
                  <a:srgbClr val="1D6FA5"/>
                </a:solidFill>
                <a:latin typeface="Calibri" pitchFamily="34" charset="0"/>
                <a:ea typeface="Calibri" pitchFamily="34" charset="-122"/>
                <a:cs typeface="Calibri" pitchFamily="34" charset="-120"/>
              </a:rPr>
              <a:t>Singleton</a:t>
            </a:r>
            <a:endParaRPr lang="en-US" sz="1300" dirty="0"/>
          </a:p>
        </p:txBody>
      </p:sp>
      <p:sp>
        <p:nvSpPr>
          <p:cNvPr id="15" name="Shape 12"/>
          <p:cNvSpPr/>
          <p:nvPr/>
        </p:nvSpPr>
        <p:spPr>
          <a:xfrm>
            <a:off x="9829800" y="4617720"/>
            <a:ext cx="1783080" cy="384048"/>
          </a:xfrm>
          <a:prstGeom prst="roundRect">
            <a:avLst>
              <a:gd name="adj" fmla="val 47619"/>
            </a:avLst>
          </a:prstGeom>
          <a:solidFill>
            <a:srgbClr val="EEF3F9"/>
          </a:solidFill>
          <a:ln w="12700">
            <a:solidFill>
              <a:srgbClr val="1D6FA5"/>
            </a:solidFill>
            <a:prstDash val="solid"/>
          </a:ln>
        </p:spPr>
      </p:sp>
      <p:sp>
        <p:nvSpPr>
          <p:cNvPr id="16" name="Text 13"/>
          <p:cNvSpPr txBox="1"/>
          <p:nvPr/>
        </p:nvSpPr>
        <p:spPr>
          <a:xfrm>
            <a:off x="9829800" y="4617720"/>
            <a:ext cx="1783080" cy="384048"/>
          </a:xfrm>
          <a:prstGeom prst="rect">
            <a:avLst/>
          </a:prstGeom>
          <a:noFill/>
          <a:ln/>
        </p:spPr>
        <p:txBody>
          <a:bodyPr wrap="square" lIns="0" tIns="0" rIns="0" bIns="0" rtlCol="0" anchor="ctr"/>
          <a:lstStyle/>
          <a:p>
            <a:pPr algn="ctr" indent="0" marL="0">
              <a:buNone/>
            </a:pPr>
            <a:r>
              <a:rPr lang="en-US" sz="1300" b="1" dirty="0">
                <a:solidFill>
                  <a:srgbClr val="1D6FA5"/>
                </a:solidFill>
                <a:latin typeface="Calibri" pitchFamily="34" charset="0"/>
                <a:ea typeface="Calibri" pitchFamily="34" charset="-122"/>
                <a:cs typeface="Calibri" pitchFamily="34" charset="-120"/>
              </a:rPr>
              <a:t>Template Method</a:t>
            </a:r>
            <a:endParaRPr lang="en-US" sz="1300" dirty="0"/>
          </a:p>
        </p:txBody>
      </p:sp>
      <p:sp>
        <p:nvSpPr>
          <p:cNvPr id="17" name="Shape 14"/>
          <p:cNvSpPr/>
          <p:nvPr/>
        </p:nvSpPr>
        <p:spPr>
          <a:xfrm>
            <a:off x="7086600" y="5120640"/>
            <a:ext cx="877824" cy="384048"/>
          </a:xfrm>
          <a:prstGeom prst="roundRect">
            <a:avLst>
              <a:gd name="adj" fmla="val 47619"/>
            </a:avLst>
          </a:prstGeom>
          <a:solidFill>
            <a:srgbClr val="EEF3F9"/>
          </a:solidFill>
          <a:ln w="12700">
            <a:solidFill>
              <a:srgbClr val="1D6FA5"/>
            </a:solidFill>
            <a:prstDash val="solid"/>
          </a:ln>
        </p:spPr>
      </p:sp>
      <p:sp>
        <p:nvSpPr>
          <p:cNvPr id="18" name="Text 15"/>
          <p:cNvSpPr txBox="1"/>
          <p:nvPr/>
        </p:nvSpPr>
        <p:spPr>
          <a:xfrm>
            <a:off x="7086600" y="5120640"/>
            <a:ext cx="877824" cy="384048"/>
          </a:xfrm>
          <a:prstGeom prst="rect">
            <a:avLst/>
          </a:prstGeom>
          <a:noFill/>
          <a:ln/>
        </p:spPr>
        <p:txBody>
          <a:bodyPr wrap="square" lIns="0" tIns="0" rIns="0" bIns="0" rtlCol="0" anchor="ctr"/>
          <a:lstStyle/>
          <a:p>
            <a:pPr algn="ctr" indent="0" marL="0">
              <a:buNone/>
            </a:pPr>
            <a:r>
              <a:rPr lang="en-US" sz="1300" b="1" dirty="0">
                <a:solidFill>
                  <a:srgbClr val="1D6FA5"/>
                </a:solidFill>
                <a:latin typeface="Calibri" pitchFamily="34" charset="0"/>
                <a:ea typeface="Calibri" pitchFamily="34" charset="-122"/>
                <a:cs typeface="Calibri" pitchFamily="34" charset="-120"/>
              </a:rPr>
              <a:t>Facade</a:t>
            </a:r>
            <a:endParaRPr lang="en-US" sz="1300" dirty="0"/>
          </a:p>
        </p:txBody>
      </p:sp>
      <p:sp>
        <p:nvSpPr>
          <p:cNvPr id="19" name="Text 1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A94A3"/>
                </a:solidFill>
                <a:latin typeface="Calibri" pitchFamily="34" charset="0"/>
                <a:ea typeface="Calibri" pitchFamily="34" charset="-122"/>
                <a:cs typeface="Calibri" pitchFamily="34" charset="-120"/>
              </a:rPr>
              <a:t>Programación II · Sistema de Ventas</a:t>
            </a:r>
            <a:endParaRPr lang="en-US" sz="1000" dirty="0"/>
          </a:p>
        </p:txBody>
      </p:sp>
      <p:sp>
        <p:nvSpPr>
          <p:cNvPr id="20" name="Text 17"/>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000" dirty="0">
                <a:solidFill>
                  <a:srgbClr val="8A94A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La base de datos tiene 10 tablas relacionadas</a:t>
            </a:r>
            <a:endParaRPr lang="en-US" sz="3200" dirty="0"/>
          </a:p>
        </p:txBody>
      </p:sp>
      <p:sp>
        <p:nvSpPr>
          <p:cNvPr id="3" name="Text 1"/>
          <p:cNvSpPr txBox="1"/>
          <p:nvPr/>
        </p:nvSpPr>
        <p:spPr>
          <a:xfrm>
            <a:off x="548640" y="987552"/>
            <a:ext cx="11091672" cy="365760"/>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Diagrama entidad-relación del script esquema-postgresql.sql</a:t>
            </a:r>
            <a:endParaRPr lang="en-US" sz="1500" dirty="0"/>
          </a:p>
        </p:txBody>
      </p:sp>
      <p:sp>
        <p:nvSpPr>
          <p:cNvPr id="4" name="Shape 2"/>
          <p:cNvSpPr/>
          <p:nvPr/>
        </p:nvSpPr>
        <p:spPr>
          <a:xfrm>
            <a:off x="548640" y="1554480"/>
            <a:ext cx="8229600" cy="4709160"/>
          </a:xfrm>
          <a:prstGeom prst="rect">
            <a:avLst/>
          </a:prstGeom>
          <a:solidFill>
            <a:srgbClr val="FFFFFF"/>
          </a:solidFill>
          <a:ln w="12700">
            <a:solidFill>
              <a:srgbClr val="D5DEEA"/>
            </a:solidFill>
            <a:prstDash val="solid"/>
          </a:ln>
        </p:spPr>
      </p:sp>
      <p:pic>
        <p:nvPicPr>
          <p:cNvPr id="5" name="Image 0" descr="C:\Users\Josue Zetino\AppData\Local\Temp\claude\C--Users-Josue-Zetino-Documents-4to-semestre-progra-2\7ccdd11b-dc21-4f34-84fe-794d7b2c2056\scratchpad\pres\img\entidad-relacion.png">    </p:cNvPr>
          <p:cNvPicPr>
            <a:picLocks noChangeAspect="1"/>
          </p:cNvPicPr>
          <p:nvPr/>
        </p:nvPicPr>
        <p:blipFill>
          <a:blip r:embed="rId1"/>
          <a:stretch>
            <a:fillRect/>
          </a:stretch>
        </p:blipFill>
        <p:spPr>
          <a:xfrm>
            <a:off x="594360" y="1651343"/>
            <a:ext cx="8138160" cy="4515433"/>
          </a:xfrm>
          <a:prstGeom prst="rect">
            <a:avLst/>
          </a:prstGeom>
        </p:spPr>
      </p:pic>
      <p:sp>
        <p:nvSpPr>
          <p:cNvPr id="6" name="Text 3"/>
          <p:cNvSpPr txBox="1"/>
          <p:nvPr/>
        </p:nvSpPr>
        <p:spPr>
          <a:xfrm>
            <a:off x="9098280" y="1600200"/>
            <a:ext cx="2651760" cy="548640"/>
          </a:xfrm>
          <a:prstGeom prst="rect">
            <a:avLst/>
          </a:prstGeom>
          <a:noFill/>
          <a:ln/>
        </p:spPr>
        <p:txBody>
          <a:bodyPr wrap="square" lIns="0" tIns="0" rIns="0" bIns="0" rtlCol="0" anchor="ctr"/>
          <a:lstStyle/>
          <a:p>
            <a:pPr indent="0" marL="0">
              <a:buNone/>
            </a:pPr>
            <a:r>
              <a:rPr lang="en-US" sz="3000" b="1" dirty="0">
                <a:solidFill>
                  <a:srgbClr val="C62828"/>
                </a:solidFill>
                <a:latin typeface="Cambria" pitchFamily="34" charset="0"/>
                <a:ea typeface="Cambria" pitchFamily="34" charset="-122"/>
                <a:cs typeface="Cambria" pitchFamily="34" charset="-120"/>
              </a:rPr>
              <a:t>10</a:t>
            </a:r>
            <a:endParaRPr lang="en-US" sz="3000" dirty="0"/>
          </a:p>
        </p:txBody>
      </p:sp>
      <p:sp>
        <p:nvSpPr>
          <p:cNvPr id="7" name="Text 4"/>
          <p:cNvSpPr txBox="1"/>
          <p:nvPr/>
        </p:nvSpPr>
        <p:spPr>
          <a:xfrm>
            <a:off x="9098280" y="2148840"/>
            <a:ext cx="2651760" cy="41148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tablas del sistema</a:t>
            </a:r>
            <a:endParaRPr lang="en-US" sz="1300" dirty="0"/>
          </a:p>
        </p:txBody>
      </p:sp>
      <p:sp>
        <p:nvSpPr>
          <p:cNvPr id="8" name="Text 5"/>
          <p:cNvSpPr txBox="1"/>
          <p:nvPr/>
        </p:nvSpPr>
        <p:spPr>
          <a:xfrm>
            <a:off x="9098280" y="2697480"/>
            <a:ext cx="2651760" cy="548640"/>
          </a:xfrm>
          <a:prstGeom prst="rect">
            <a:avLst/>
          </a:prstGeom>
          <a:noFill/>
          <a:ln/>
        </p:spPr>
        <p:txBody>
          <a:bodyPr wrap="square" lIns="0" tIns="0" rIns="0" bIns="0" rtlCol="0" anchor="ctr"/>
          <a:lstStyle/>
          <a:p>
            <a:pPr indent="0" marL="0">
              <a:buNone/>
            </a:pPr>
            <a:r>
              <a:rPr lang="en-US" sz="3000" b="1" dirty="0">
                <a:solidFill>
                  <a:srgbClr val="C62828"/>
                </a:solidFill>
                <a:latin typeface="Cambria" pitchFamily="34" charset="0"/>
                <a:ea typeface="Cambria" pitchFamily="34" charset="-122"/>
                <a:cs typeface="Cambria" pitchFamily="34" charset="-120"/>
              </a:rPr>
              <a:t>7</a:t>
            </a:r>
            <a:endParaRPr lang="en-US" sz="3000" dirty="0"/>
          </a:p>
        </p:txBody>
      </p:sp>
      <p:sp>
        <p:nvSpPr>
          <p:cNvPr id="9" name="Text 6"/>
          <p:cNvSpPr txBox="1"/>
          <p:nvPr/>
        </p:nvSpPr>
        <p:spPr>
          <a:xfrm>
            <a:off x="9098280" y="3246120"/>
            <a:ext cx="2651760" cy="41148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llaves foráneas</a:t>
            </a:r>
            <a:endParaRPr lang="en-US" sz="1300" dirty="0"/>
          </a:p>
        </p:txBody>
      </p:sp>
      <p:sp>
        <p:nvSpPr>
          <p:cNvPr id="10" name="Text 7"/>
          <p:cNvSpPr txBox="1"/>
          <p:nvPr/>
        </p:nvSpPr>
        <p:spPr>
          <a:xfrm>
            <a:off x="9098280" y="3794760"/>
            <a:ext cx="2651760" cy="548640"/>
          </a:xfrm>
          <a:prstGeom prst="rect">
            <a:avLst/>
          </a:prstGeom>
          <a:noFill/>
          <a:ln/>
        </p:spPr>
        <p:txBody>
          <a:bodyPr wrap="square" lIns="0" tIns="0" rIns="0" bIns="0" rtlCol="0" anchor="ctr"/>
          <a:lstStyle/>
          <a:p>
            <a:pPr indent="0" marL="0">
              <a:buNone/>
            </a:pPr>
            <a:r>
              <a:rPr lang="en-US" sz="3000" b="1" dirty="0">
                <a:solidFill>
                  <a:srgbClr val="1D6FA5"/>
                </a:solidFill>
                <a:latin typeface="Cambria" pitchFamily="34" charset="0"/>
                <a:ea typeface="Cambria" pitchFamily="34" charset="-122"/>
                <a:cs typeface="Cambria" pitchFamily="34" charset="-120"/>
              </a:rPr>
              <a:t>PK · UK</a:t>
            </a:r>
            <a:endParaRPr lang="en-US" sz="3000" dirty="0"/>
          </a:p>
        </p:txBody>
      </p:sp>
      <p:sp>
        <p:nvSpPr>
          <p:cNvPr id="11" name="Text 8"/>
          <p:cNvSpPr txBox="1"/>
          <p:nvPr/>
        </p:nvSpPr>
        <p:spPr>
          <a:xfrm>
            <a:off x="9098280" y="4343400"/>
            <a:ext cx="2651760" cy="41148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en cada tabla (código, NIT, usuario…)</a:t>
            </a:r>
            <a:endParaRPr lang="en-US" sz="1300" dirty="0"/>
          </a:p>
        </p:txBody>
      </p:sp>
      <p:sp>
        <p:nvSpPr>
          <p:cNvPr id="12" name="Shape 9"/>
          <p:cNvSpPr/>
          <p:nvPr/>
        </p:nvSpPr>
        <p:spPr>
          <a:xfrm>
            <a:off x="9098280" y="4937760"/>
            <a:ext cx="2560320" cy="1325880"/>
          </a:xfrm>
          <a:prstGeom prst="roundRect">
            <a:avLst>
              <a:gd name="adj" fmla="val 6897"/>
            </a:avLst>
          </a:prstGeom>
          <a:solidFill>
            <a:srgbClr val="EEF3F9"/>
          </a:solidFill>
          <a:ln w="12700">
            <a:solidFill>
              <a:srgbClr val="EEF3F9"/>
            </a:solidFill>
            <a:prstDash val="solid"/>
          </a:ln>
        </p:spPr>
      </p:sp>
      <p:sp>
        <p:nvSpPr>
          <p:cNvPr id="13" name="Text 10"/>
          <p:cNvSpPr txBox="1"/>
          <p:nvPr/>
        </p:nvSpPr>
        <p:spPr>
          <a:xfrm>
            <a:off x="9235440" y="5001768"/>
            <a:ext cx="2377440" cy="1188720"/>
          </a:xfrm>
          <a:prstGeom prst="rect">
            <a:avLst/>
          </a:prstGeom>
          <a:noFill/>
          <a:ln/>
        </p:spPr>
        <p:txBody>
          <a:bodyPr wrap="square" lIns="0" tIns="0" rIns="0" bIns="0" rtlCol="0" anchor="t"/>
          <a:lstStyle/>
          <a:p>
            <a:pPr indent="0" marL="0">
              <a:buNone/>
            </a:pPr>
            <a:r>
              <a:rPr lang="en-US" sz="1150" b="1" dirty="0">
                <a:solidFill>
                  <a:srgbClr val="0B2545"/>
                </a:solidFill>
                <a:latin typeface="Calibri" pitchFamily="34" charset="0"/>
                <a:ea typeface="Calibri" pitchFamily="34" charset="-122"/>
                <a:cs typeface="Calibri" pitchFamily="34" charset="-120"/>
              </a:rPr>
              <a:t>Reglas de borrado</a:t>
            </a:r>
            <a:endParaRPr lang="en-US" sz="1150" dirty="0"/>
          </a:p>
          <a:p>
            <a:pPr indent="0" marL="0">
              <a:buNone/>
            </a:pPr>
            <a:r>
              <a:rPr lang="en-US" sz="1150" dirty="0">
                <a:solidFill>
                  <a:srgbClr val="1F2937"/>
                </a:solidFill>
                <a:latin typeface="Calibri" pitchFamily="34" charset="0"/>
                <a:ea typeface="Calibri" pitchFamily="34" charset="-122"/>
                <a:cs typeface="Calibri" pitchFamily="34" charset="-120"/>
              </a:rPr>
              <a:t>CASCADE: detalle de factura/compra</a:t>
            </a:r>
            <a:endParaRPr lang="en-US" sz="1150" dirty="0"/>
          </a:p>
          <a:p>
            <a:pPr indent="0" marL="0">
              <a:buNone/>
            </a:pPr>
            <a:r>
              <a:rPr lang="en-US" sz="1150" dirty="0">
                <a:solidFill>
                  <a:srgbClr val="1F2937"/>
                </a:solidFill>
                <a:latin typeface="Calibri" pitchFamily="34" charset="0"/>
                <a:ea typeface="Calibri" pitchFamily="34" charset="-122"/>
                <a:cs typeface="Calibri" pitchFamily="34" charset="-120"/>
              </a:rPr>
              <a:t>SET NULL: categoría del producto</a:t>
            </a:r>
            <a:endParaRPr lang="en-US" sz="1150" dirty="0"/>
          </a:p>
          <a:p>
            <a:pPr indent="0" marL="0">
              <a:buNone/>
            </a:pPr>
            <a:r>
              <a:rPr lang="en-US" sz="1150" dirty="0">
                <a:solidFill>
                  <a:srgbClr val="1F2937"/>
                </a:solidFill>
                <a:latin typeface="Calibri" pitchFamily="34" charset="0"/>
                <a:ea typeface="Calibri" pitchFamily="34" charset="-122"/>
                <a:cs typeface="Calibri" pitchFamily="34" charset="-120"/>
              </a:rPr>
              <a:t>RESTRICT: producto ya comprado</a:t>
            </a:r>
            <a:endParaRPr lang="en-US" sz="1150" dirty="0"/>
          </a:p>
        </p:txBody>
      </p:sp>
      <p:sp>
        <p:nvSpPr>
          <p:cNvPr id="14" name="Text 1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A94A3"/>
                </a:solidFill>
                <a:latin typeface="Calibri" pitchFamily="34" charset="0"/>
                <a:ea typeface="Calibri" pitchFamily="34" charset="-122"/>
                <a:cs typeface="Calibri" pitchFamily="34" charset="-120"/>
              </a:rPr>
              <a:t>Programación II · Sistema de Ventas</a:t>
            </a:r>
            <a:endParaRPr lang="en-US" sz="1000" dirty="0"/>
          </a:p>
        </p:txBody>
      </p:sp>
      <p:sp>
        <p:nvSpPr>
          <p:cNvPr id="15" name="Text 12"/>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000" dirty="0">
                <a:solidFill>
                  <a:srgbClr val="8A94A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Un formulario MDI da acceso a todos los módulos</a:t>
            </a:r>
            <a:endParaRPr lang="en-US" sz="3200" dirty="0"/>
          </a:p>
        </p:txBody>
      </p:sp>
      <p:sp>
        <p:nvSpPr>
          <p:cNvPr id="3" name="Text 1"/>
          <p:cNvSpPr txBox="1"/>
          <p:nvPr/>
        </p:nvSpPr>
        <p:spPr>
          <a:xfrm>
            <a:off x="548640" y="987552"/>
            <a:ext cx="11091672" cy="365760"/>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JDesktopPane con ventanas internas (JInternalFrame) y menú por módulo</a:t>
            </a:r>
            <a:endParaRPr lang="en-US" sz="1500" dirty="0"/>
          </a:p>
        </p:txBody>
      </p:sp>
      <p:pic>
        <p:nvPicPr>
          <p:cNvPr id="4" name="Image 0" descr="C:\Users\Josue Zetino\AppData\Local\Temp\claude\C--Users-Josue-Zetino-Documents-4to-semestre-progra-2\7ccdd11b-dc21-4f34-84fe-794d7b2c2056\scratchpad\pres\img\01-principal-resumen.png">    </p:cNvPr>
          <p:cNvPicPr>
            <a:picLocks noChangeAspect="1"/>
          </p:cNvPicPr>
          <p:nvPr/>
        </p:nvPicPr>
        <p:blipFill>
          <a:blip r:embed="rId1"/>
          <a:stretch>
            <a:fillRect/>
          </a:stretch>
        </p:blipFill>
        <p:spPr>
          <a:xfrm>
            <a:off x="548640" y="1887235"/>
            <a:ext cx="6949440" cy="3906490"/>
          </a:xfrm>
          <a:prstGeom prst="rect">
            <a:avLst/>
          </a:prstGeom>
          <a:effectLst>
            <a:outerShdw sx="100000" sy="100000" kx="0" ky="0" algn="bl" rotWithShape="0" blurRad="101600" dist="25400" dir="5400000">
              <a:srgbClr val="000000">
                <a:alpha val="18000"/>
              </a:srgbClr>
            </a:outerShdw>
          </a:effectLst>
        </p:spPr>
      </p:pic>
      <p:sp>
        <p:nvSpPr>
          <p:cNvPr id="5" name="Shape 2"/>
          <p:cNvSpPr/>
          <p:nvPr/>
        </p:nvSpPr>
        <p:spPr>
          <a:xfrm>
            <a:off x="548640" y="1887235"/>
            <a:ext cx="6949440" cy="3906490"/>
          </a:xfrm>
          <a:prstGeom prst="rect">
            <a:avLst/>
          </a:prstGeom>
          <a:ln w="12700">
            <a:solidFill>
              <a:srgbClr val="D5DEEA"/>
            </a:solidFill>
            <a:prstDash val="solid"/>
          </a:ln>
        </p:spPr>
      </p:sp>
      <p:sp>
        <p:nvSpPr>
          <p:cNvPr id="6" name="Text 3"/>
          <p:cNvSpPr txBox="1"/>
          <p:nvPr/>
        </p:nvSpPr>
        <p:spPr>
          <a:xfrm>
            <a:off x="7818120" y="1600200"/>
            <a:ext cx="1417320" cy="438912"/>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Archivo</a:t>
            </a:r>
            <a:endParaRPr lang="en-US" sz="1350" dirty="0"/>
          </a:p>
        </p:txBody>
      </p:sp>
      <p:sp>
        <p:nvSpPr>
          <p:cNvPr id="7" name="Text 4"/>
          <p:cNvSpPr txBox="1"/>
          <p:nvPr/>
        </p:nvSpPr>
        <p:spPr>
          <a:xfrm>
            <a:off x="9235440" y="1600200"/>
            <a:ext cx="2514600" cy="438912"/>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Nueva factura, facturas, contraseña, sesión</a:t>
            </a:r>
            <a:endParaRPr lang="en-US" sz="1150" dirty="0"/>
          </a:p>
        </p:txBody>
      </p:sp>
      <p:sp>
        <p:nvSpPr>
          <p:cNvPr id="8" name="Text 5"/>
          <p:cNvSpPr txBox="1"/>
          <p:nvPr/>
        </p:nvSpPr>
        <p:spPr>
          <a:xfrm>
            <a:off x="7818120" y="2075688"/>
            <a:ext cx="1417320" cy="438912"/>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Catálogos</a:t>
            </a:r>
            <a:endParaRPr lang="en-US" sz="1350" dirty="0"/>
          </a:p>
        </p:txBody>
      </p:sp>
      <p:sp>
        <p:nvSpPr>
          <p:cNvPr id="9" name="Text 6"/>
          <p:cNvSpPr txBox="1"/>
          <p:nvPr/>
        </p:nvSpPr>
        <p:spPr>
          <a:xfrm>
            <a:off x="9235440" y="2075688"/>
            <a:ext cx="2514600" cy="438912"/>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Productos, empleados, clientes, categorías, proveedores</a:t>
            </a:r>
            <a:endParaRPr lang="en-US" sz="1150" dirty="0"/>
          </a:p>
        </p:txBody>
      </p:sp>
      <p:sp>
        <p:nvSpPr>
          <p:cNvPr id="10" name="Text 7"/>
          <p:cNvSpPr txBox="1"/>
          <p:nvPr/>
        </p:nvSpPr>
        <p:spPr>
          <a:xfrm>
            <a:off x="7818120" y="2551176"/>
            <a:ext cx="1417320" cy="438912"/>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Compras</a:t>
            </a:r>
            <a:endParaRPr lang="en-US" sz="1350" dirty="0"/>
          </a:p>
        </p:txBody>
      </p:sp>
      <p:sp>
        <p:nvSpPr>
          <p:cNvPr id="11" name="Text 8"/>
          <p:cNvSpPr txBox="1"/>
          <p:nvPr/>
        </p:nvSpPr>
        <p:spPr>
          <a:xfrm>
            <a:off x="9235440" y="2551176"/>
            <a:ext cx="2514600" cy="438912"/>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Nueva compra, ver compras</a:t>
            </a:r>
            <a:endParaRPr lang="en-US" sz="1150" dirty="0"/>
          </a:p>
        </p:txBody>
      </p:sp>
      <p:sp>
        <p:nvSpPr>
          <p:cNvPr id="12" name="Text 9"/>
          <p:cNvSpPr txBox="1"/>
          <p:nvPr/>
        </p:nvSpPr>
        <p:spPr>
          <a:xfrm>
            <a:off x="7818120" y="3026664"/>
            <a:ext cx="1417320" cy="438912"/>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Edición</a:t>
            </a:r>
            <a:endParaRPr lang="en-US" sz="1350" dirty="0"/>
          </a:p>
        </p:txBody>
      </p:sp>
      <p:sp>
        <p:nvSpPr>
          <p:cNvPr id="13" name="Text 10"/>
          <p:cNvSpPr txBox="1"/>
          <p:nvPr/>
        </p:nvSpPr>
        <p:spPr>
          <a:xfrm>
            <a:off x="9235440" y="3026664"/>
            <a:ext cx="2514600" cy="438912"/>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Limpiar formulario</a:t>
            </a:r>
            <a:endParaRPr lang="en-US" sz="1150" dirty="0"/>
          </a:p>
        </p:txBody>
      </p:sp>
      <p:sp>
        <p:nvSpPr>
          <p:cNvPr id="14" name="Text 11"/>
          <p:cNvSpPr txBox="1"/>
          <p:nvPr/>
        </p:nvSpPr>
        <p:spPr>
          <a:xfrm>
            <a:off x="7818120" y="3502152"/>
            <a:ext cx="1417320" cy="438912"/>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Ventana</a:t>
            </a:r>
            <a:endParaRPr lang="en-US" sz="1350" dirty="0"/>
          </a:p>
        </p:txBody>
      </p:sp>
      <p:sp>
        <p:nvSpPr>
          <p:cNvPr id="15" name="Text 12"/>
          <p:cNvSpPr txBox="1"/>
          <p:nvPr/>
        </p:nvSpPr>
        <p:spPr>
          <a:xfrm>
            <a:off x="9235440" y="3502152"/>
            <a:ext cx="2514600" cy="438912"/>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Cascada, mosaico, tema claro/oscuro</a:t>
            </a:r>
            <a:endParaRPr lang="en-US" sz="1150" dirty="0"/>
          </a:p>
        </p:txBody>
      </p:sp>
      <p:sp>
        <p:nvSpPr>
          <p:cNvPr id="16" name="Text 13"/>
          <p:cNvSpPr txBox="1"/>
          <p:nvPr/>
        </p:nvSpPr>
        <p:spPr>
          <a:xfrm>
            <a:off x="7818120" y="3977640"/>
            <a:ext cx="1417320" cy="438912"/>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Administración</a:t>
            </a:r>
            <a:endParaRPr lang="en-US" sz="1350" dirty="0"/>
          </a:p>
        </p:txBody>
      </p:sp>
      <p:sp>
        <p:nvSpPr>
          <p:cNvPr id="17" name="Text 14"/>
          <p:cNvSpPr txBox="1"/>
          <p:nvPr/>
        </p:nvSpPr>
        <p:spPr>
          <a:xfrm>
            <a:off x="9235440" y="3977640"/>
            <a:ext cx="2514600" cy="438912"/>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Usuarios, respaldar base de datos</a:t>
            </a:r>
            <a:endParaRPr lang="en-US" sz="1150" dirty="0"/>
          </a:p>
        </p:txBody>
      </p:sp>
      <p:sp>
        <p:nvSpPr>
          <p:cNvPr id="18" name="Text 15"/>
          <p:cNvSpPr txBox="1"/>
          <p:nvPr/>
        </p:nvSpPr>
        <p:spPr>
          <a:xfrm>
            <a:off x="7818120" y="4453128"/>
            <a:ext cx="1417320" cy="438912"/>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Reportes</a:t>
            </a:r>
            <a:endParaRPr lang="en-US" sz="1350" dirty="0"/>
          </a:p>
        </p:txBody>
      </p:sp>
      <p:sp>
        <p:nvSpPr>
          <p:cNvPr id="19" name="Text 16"/>
          <p:cNvSpPr txBox="1"/>
          <p:nvPr/>
        </p:nvSpPr>
        <p:spPr>
          <a:xfrm>
            <a:off x="9235440" y="4453128"/>
            <a:ext cx="2514600" cy="438912"/>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Resumen con gráficos, inventario, ventas…</a:t>
            </a:r>
            <a:endParaRPr lang="en-US" sz="1150" dirty="0"/>
          </a:p>
        </p:txBody>
      </p:sp>
      <p:sp>
        <p:nvSpPr>
          <p:cNvPr id="20" name="Text 17"/>
          <p:cNvSpPr txBox="1"/>
          <p:nvPr/>
        </p:nvSpPr>
        <p:spPr>
          <a:xfrm>
            <a:off x="7818120" y="4928616"/>
            <a:ext cx="1417320" cy="438912"/>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Ayuda</a:t>
            </a:r>
            <a:endParaRPr lang="en-US" sz="1350" dirty="0"/>
          </a:p>
        </p:txBody>
      </p:sp>
      <p:sp>
        <p:nvSpPr>
          <p:cNvPr id="21" name="Text 18"/>
          <p:cNvSpPr txBox="1"/>
          <p:nvPr/>
        </p:nvSpPr>
        <p:spPr>
          <a:xfrm>
            <a:off x="9235440" y="4928616"/>
            <a:ext cx="2514600" cy="438912"/>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Acerca de</a:t>
            </a:r>
            <a:endParaRPr lang="en-US" sz="1150" dirty="0"/>
          </a:p>
        </p:txBody>
      </p:sp>
      <p:sp>
        <p:nvSpPr>
          <p:cNvPr id="22" name="Shape 19"/>
          <p:cNvSpPr/>
          <p:nvPr/>
        </p:nvSpPr>
        <p:spPr>
          <a:xfrm>
            <a:off x="7818120" y="5486400"/>
            <a:ext cx="3840480" cy="658368"/>
          </a:xfrm>
          <a:prstGeom prst="roundRect">
            <a:avLst>
              <a:gd name="adj" fmla="val 13889"/>
            </a:avLst>
          </a:prstGeom>
          <a:solidFill>
            <a:srgbClr val="EEF3F9"/>
          </a:solidFill>
          <a:ln w="12700">
            <a:solidFill>
              <a:srgbClr val="EEF3F9"/>
            </a:solidFill>
            <a:prstDash val="solid"/>
          </a:ln>
        </p:spPr>
      </p:sp>
      <p:pic>
        <p:nvPicPr>
          <p:cNvPr id="23" name="Image 1" descr="preencoded.png">    </p:cNvPr>
          <p:cNvPicPr>
            <a:picLocks noChangeAspect="1"/>
          </p:cNvPicPr>
          <p:nvPr/>
        </p:nvPicPr>
        <p:blipFill>
          <a:blip r:embed="rId2"/>
          <a:stretch>
            <a:fillRect/>
          </a:stretch>
        </p:blipFill>
        <p:spPr>
          <a:xfrm>
            <a:off x="7955280" y="5614416"/>
            <a:ext cx="402336" cy="402336"/>
          </a:xfrm>
          <a:prstGeom prst="rect">
            <a:avLst/>
          </a:prstGeom>
        </p:spPr>
      </p:pic>
      <p:sp>
        <p:nvSpPr>
          <p:cNvPr id="24" name="Text 20"/>
          <p:cNvSpPr txBox="1"/>
          <p:nvPr/>
        </p:nvSpPr>
        <p:spPr>
          <a:xfrm>
            <a:off x="8485632" y="5504688"/>
            <a:ext cx="3108960" cy="621792"/>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El menú depende del rol: el vendedor solo ve facturación y clientes.</a:t>
            </a:r>
            <a:endParaRPr lang="en-US" sz="1200" dirty="0"/>
          </a:p>
        </p:txBody>
      </p:sp>
      <p:sp>
        <p:nvSpPr>
          <p:cNvPr id="25" name="Text 2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A94A3"/>
                </a:solidFill>
                <a:latin typeface="Calibri" pitchFamily="34" charset="0"/>
                <a:ea typeface="Calibri" pitchFamily="34" charset="-122"/>
                <a:cs typeface="Calibri" pitchFamily="34" charset="-120"/>
              </a:rPr>
              <a:t>Programación II · Sistema de Ventas</a:t>
            </a:r>
            <a:endParaRPr lang="en-US" sz="1000" dirty="0"/>
          </a:p>
        </p:txBody>
      </p:sp>
      <p:sp>
        <p:nvSpPr>
          <p:cNvPr id="26" name="Text 22"/>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000" dirty="0">
                <a:solidFill>
                  <a:srgbClr val="8A94A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Los formularios registran y consultan datos reales</a:t>
            </a:r>
            <a:endParaRPr lang="en-US" sz="3200" dirty="0"/>
          </a:p>
        </p:txBody>
      </p:sp>
      <p:sp>
        <p:nvSpPr>
          <p:cNvPr id="3" name="Text 1"/>
          <p:cNvSpPr txBox="1"/>
          <p:nvPr/>
        </p:nvSpPr>
        <p:spPr>
          <a:xfrm>
            <a:off x="548640" y="987552"/>
            <a:ext cx="11091672" cy="365760"/>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Todo se guarda en PostgreSQL y sigue ahí al volver a abrir la aplicación</a:t>
            </a:r>
            <a:endParaRPr lang="en-US" sz="1500" dirty="0"/>
          </a:p>
        </p:txBody>
      </p:sp>
      <p:pic>
        <p:nvPicPr>
          <p:cNvPr id="4" name="Image 0" descr="C:\Users\Josue Zetino\AppData\Local\Temp\claude\C--Users-Josue-Zetino-Documents-4to-semestre-progra-2\7ccdd11b-dc21-4f34-84fe-794d7b2c2056\scratchpad\pres\img\03-productos.png">    </p:cNvPr>
          <p:cNvPicPr>
            <a:picLocks noChangeAspect="1"/>
          </p:cNvPicPr>
          <p:nvPr/>
        </p:nvPicPr>
        <p:blipFill>
          <a:blip r:embed="rId1"/>
          <a:stretch>
            <a:fillRect/>
          </a:stretch>
        </p:blipFill>
        <p:spPr>
          <a:xfrm>
            <a:off x="927824" y="1554480"/>
            <a:ext cx="2762071" cy="2103120"/>
          </a:xfrm>
          <a:prstGeom prst="rect">
            <a:avLst/>
          </a:prstGeom>
          <a:effectLst>
            <a:outerShdw sx="100000" sy="100000" kx="0" ky="0" algn="bl" rotWithShape="0" blurRad="101600" dist="25400" dir="5400000">
              <a:srgbClr val="000000">
                <a:alpha val="18000"/>
              </a:srgbClr>
            </a:outerShdw>
          </a:effectLst>
        </p:spPr>
      </p:pic>
      <p:sp>
        <p:nvSpPr>
          <p:cNvPr id="5" name="Text 2"/>
          <p:cNvSpPr txBox="1"/>
          <p:nvPr/>
        </p:nvSpPr>
        <p:spPr>
          <a:xfrm>
            <a:off x="548640" y="3657600"/>
            <a:ext cx="3520440" cy="274320"/>
          </a:xfrm>
          <a:prstGeom prst="rect">
            <a:avLst/>
          </a:prstGeom>
          <a:noFill/>
          <a:ln/>
        </p:spPr>
        <p:txBody>
          <a:bodyPr wrap="square" lIns="0" tIns="0" rIns="0" bIns="0" rtlCol="0" anchor="ctr"/>
          <a:lstStyle/>
          <a:p>
            <a:pPr algn="ctr" indent="0" marL="0">
              <a:buNone/>
            </a:pPr>
            <a:r>
              <a:rPr lang="en-US" sz="1200" b="1" dirty="0">
                <a:solidFill>
                  <a:srgbClr val="5B6472"/>
                </a:solidFill>
                <a:latin typeface="Calibri" pitchFamily="34" charset="0"/>
                <a:ea typeface="Calibri" pitchFamily="34" charset="-122"/>
                <a:cs typeface="Calibri" pitchFamily="34" charset="-120"/>
              </a:rPr>
              <a:t>Productos</a:t>
            </a:r>
            <a:endParaRPr lang="en-US" sz="1200" dirty="0"/>
          </a:p>
        </p:txBody>
      </p:sp>
      <p:pic>
        <p:nvPicPr>
          <p:cNvPr id="6" name="Image 1" descr="C:\Users\Josue Zetino\AppData\Local\Temp\claude\C--Users-Josue-Zetino-Documents-4to-semestre-progra-2\7ccdd11b-dc21-4f34-84fe-794d7b2c2056\scratchpad\pres\img\10-factura-nueva.png">    </p:cNvPr>
          <p:cNvPicPr>
            <a:picLocks noChangeAspect="1"/>
          </p:cNvPicPr>
          <p:nvPr/>
        </p:nvPicPr>
        <p:blipFill>
          <a:blip r:embed="rId2"/>
          <a:stretch>
            <a:fillRect/>
          </a:stretch>
        </p:blipFill>
        <p:spPr>
          <a:xfrm>
            <a:off x="4843227" y="1554480"/>
            <a:ext cx="2429347" cy="2103120"/>
          </a:xfrm>
          <a:prstGeom prst="rect">
            <a:avLst/>
          </a:prstGeom>
          <a:effectLst>
            <a:outerShdw sx="100000" sy="100000" kx="0" ky="0" algn="bl" rotWithShape="0" blurRad="101600" dist="25400" dir="5400000">
              <a:srgbClr val="000000">
                <a:alpha val="18000"/>
              </a:srgbClr>
            </a:outerShdw>
          </a:effectLst>
        </p:spPr>
      </p:pic>
      <p:sp>
        <p:nvSpPr>
          <p:cNvPr id="7" name="Text 3"/>
          <p:cNvSpPr txBox="1"/>
          <p:nvPr/>
        </p:nvSpPr>
        <p:spPr>
          <a:xfrm>
            <a:off x="4297680" y="3657600"/>
            <a:ext cx="3520440" cy="274320"/>
          </a:xfrm>
          <a:prstGeom prst="rect">
            <a:avLst/>
          </a:prstGeom>
          <a:noFill/>
          <a:ln/>
        </p:spPr>
        <p:txBody>
          <a:bodyPr wrap="square" lIns="0" tIns="0" rIns="0" bIns="0" rtlCol="0" anchor="ctr"/>
          <a:lstStyle/>
          <a:p>
            <a:pPr algn="ctr" indent="0" marL="0">
              <a:buNone/>
            </a:pPr>
            <a:r>
              <a:rPr lang="en-US" sz="1200" b="1" dirty="0">
                <a:solidFill>
                  <a:srgbClr val="5B6472"/>
                </a:solidFill>
                <a:latin typeface="Calibri" pitchFamily="34" charset="0"/>
                <a:ea typeface="Calibri" pitchFamily="34" charset="-122"/>
                <a:cs typeface="Calibri" pitchFamily="34" charset="-120"/>
              </a:rPr>
              <a:t>Factura</a:t>
            </a:r>
            <a:endParaRPr lang="en-US" sz="1200" dirty="0"/>
          </a:p>
        </p:txBody>
      </p:sp>
      <p:pic>
        <p:nvPicPr>
          <p:cNvPr id="8" name="Image 2" descr="C:\Users\Josue Zetino\AppData\Local\Temp\claude\C--Users-Josue-Zetino-Documents-4to-semestre-progra-2\7ccdd11b-dc21-4f34-84fe-794d7b2c2056\scratchpad\pres\img\04-clientes.png">    </p:cNvPr>
          <p:cNvPicPr>
            <a:picLocks noChangeAspect="1"/>
          </p:cNvPicPr>
          <p:nvPr/>
        </p:nvPicPr>
        <p:blipFill>
          <a:blip r:embed="rId3"/>
          <a:stretch>
            <a:fillRect/>
          </a:stretch>
        </p:blipFill>
        <p:spPr>
          <a:xfrm>
            <a:off x="712131" y="4023360"/>
            <a:ext cx="3193458" cy="2103120"/>
          </a:xfrm>
          <a:prstGeom prst="rect">
            <a:avLst/>
          </a:prstGeom>
          <a:effectLst>
            <a:outerShdw sx="100000" sy="100000" kx="0" ky="0" algn="bl" rotWithShape="0" blurRad="101600" dist="25400" dir="5400000">
              <a:srgbClr val="000000">
                <a:alpha val="18000"/>
              </a:srgbClr>
            </a:outerShdw>
          </a:effectLst>
        </p:spPr>
      </p:pic>
      <p:sp>
        <p:nvSpPr>
          <p:cNvPr id="9" name="Text 4"/>
          <p:cNvSpPr txBox="1"/>
          <p:nvPr/>
        </p:nvSpPr>
        <p:spPr>
          <a:xfrm>
            <a:off x="548640" y="6126480"/>
            <a:ext cx="3520440" cy="274320"/>
          </a:xfrm>
          <a:prstGeom prst="rect">
            <a:avLst/>
          </a:prstGeom>
          <a:noFill/>
          <a:ln/>
        </p:spPr>
        <p:txBody>
          <a:bodyPr wrap="square" lIns="0" tIns="0" rIns="0" bIns="0" rtlCol="0" anchor="ctr"/>
          <a:lstStyle/>
          <a:p>
            <a:pPr algn="ctr" indent="0" marL="0">
              <a:buNone/>
            </a:pPr>
            <a:r>
              <a:rPr lang="en-US" sz="1200" b="1" dirty="0">
                <a:solidFill>
                  <a:srgbClr val="5B6472"/>
                </a:solidFill>
                <a:latin typeface="Calibri" pitchFamily="34" charset="0"/>
                <a:ea typeface="Calibri" pitchFamily="34" charset="-122"/>
                <a:cs typeface="Calibri" pitchFamily="34" charset="-120"/>
              </a:rPr>
              <a:t>Clientes</a:t>
            </a:r>
            <a:endParaRPr lang="en-US" sz="1200" dirty="0"/>
          </a:p>
        </p:txBody>
      </p:sp>
      <p:pic>
        <p:nvPicPr>
          <p:cNvPr id="10" name="Image 3" descr="C:\Users\Josue Zetino\AppData\Local\Temp\claude\C--Users-Josue-Zetino-Documents-4to-semestre-progra-2\7ccdd11b-dc21-4f34-84fe-794d7b2c2056\scratchpad\pres\img\06-compras.png">    </p:cNvPr>
          <p:cNvPicPr>
            <a:picLocks noChangeAspect="1"/>
          </p:cNvPicPr>
          <p:nvPr/>
        </p:nvPicPr>
        <p:blipFill>
          <a:blip r:embed="rId4"/>
          <a:stretch>
            <a:fillRect/>
          </a:stretch>
        </p:blipFill>
        <p:spPr>
          <a:xfrm>
            <a:off x="4480560" y="4023360"/>
            <a:ext cx="3154680" cy="2103120"/>
          </a:xfrm>
          <a:prstGeom prst="rect">
            <a:avLst/>
          </a:prstGeom>
          <a:effectLst>
            <a:outerShdw sx="100000" sy="100000" kx="0" ky="0" algn="bl" rotWithShape="0" blurRad="101600" dist="25400" dir="5400000">
              <a:srgbClr val="000000">
                <a:alpha val="18000"/>
              </a:srgbClr>
            </a:outerShdw>
          </a:effectLst>
        </p:spPr>
      </p:pic>
      <p:sp>
        <p:nvSpPr>
          <p:cNvPr id="11" name="Text 5"/>
          <p:cNvSpPr txBox="1"/>
          <p:nvPr/>
        </p:nvSpPr>
        <p:spPr>
          <a:xfrm>
            <a:off x="4297680" y="6126480"/>
            <a:ext cx="3520440" cy="274320"/>
          </a:xfrm>
          <a:prstGeom prst="rect">
            <a:avLst/>
          </a:prstGeom>
          <a:noFill/>
          <a:ln/>
        </p:spPr>
        <p:txBody>
          <a:bodyPr wrap="square" lIns="0" tIns="0" rIns="0" bIns="0" rtlCol="0" anchor="ctr"/>
          <a:lstStyle/>
          <a:p>
            <a:pPr algn="ctr" indent="0" marL="0">
              <a:buNone/>
            </a:pPr>
            <a:r>
              <a:rPr lang="en-US" sz="1200" b="1" dirty="0">
                <a:solidFill>
                  <a:srgbClr val="5B6472"/>
                </a:solidFill>
                <a:latin typeface="Calibri" pitchFamily="34" charset="0"/>
                <a:ea typeface="Calibri" pitchFamily="34" charset="-122"/>
                <a:cs typeface="Calibri" pitchFamily="34" charset="-120"/>
              </a:rPr>
              <a:t>Compras</a:t>
            </a:r>
            <a:endParaRPr lang="en-US" sz="1200" dirty="0"/>
          </a:p>
        </p:txBody>
      </p:sp>
      <p:sp>
        <p:nvSpPr>
          <p:cNvPr id="12" name="Shape 6"/>
          <p:cNvSpPr/>
          <p:nvPr/>
        </p:nvSpPr>
        <p:spPr>
          <a:xfrm>
            <a:off x="8183880" y="1618488"/>
            <a:ext cx="384048" cy="384048"/>
          </a:xfrm>
          <a:prstGeom prst="ellipse">
            <a:avLst/>
          </a:prstGeom>
          <a:solidFill>
            <a:srgbClr val="1D6FA5"/>
          </a:solidFill>
          <a:ln w="12700">
            <a:solidFill>
              <a:srgbClr val="1D6FA5"/>
            </a:solidFill>
            <a:prstDash val="solid"/>
          </a:ln>
        </p:spPr>
      </p:sp>
      <p:pic>
        <p:nvPicPr>
          <p:cNvPr id="13" name="Image 4" descr="preencoded.png">    </p:cNvPr>
          <p:cNvPicPr>
            <a:picLocks noChangeAspect="1"/>
          </p:cNvPicPr>
          <p:nvPr/>
        </p:nvPicPr>
        <p:blipFill>
          <a:blip r:embed="rId5"/>
          <a:stretch>
            <a:fillRect/>
          </a:stretch>
        </p:blipFill>
        <p:spPr>
          <a:xfrm>
            <a:off x="8275320" y="1709928"/>
            <a:ext cx="201168" cy="201168"/>
          </a:xfrm>
          <a:prstGeom prst="rect">
            <a:avLst/>
          </a:prstGeom>
        </p:spPr>
      </p:pic>
      <p:sp>
        <p:nvSpPr>
          <p:cNvPr id="14" name="Text 7"/>
          <p:cNvSpPr txBox="1"/>
          <p:nvPr/>
        </p:nvSpPr>
        <p:spPr>
          <a:xfrm>
            <a:off x="8732520" y="1572768"/>
            <a:ext cx="3017520" cy="347472"/>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Catálogos (6)</a:t>
            </a:r>
            <a:endParaRPr lang="en-US" sz="1500" dirty="0"/>
          </a:p>
        </p:txBody>
      </p:sp>
      <p:sp>
        <p:nvSpPr>
          <p:cNvPr id="15" name="Text 8"/>
          <p:cNvSpPr txBox="1"/>
          <p:nvPr/>
        </p:nvSpPr>
        <p:spPr>
          <a:xfrm>
            <a:off x="8732520" y="1920240"/>
            <a:ext cx="3017520" cy="502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Guardar, actualizar, eliminar, buscar y reporte HTML</a:t>
            </a:r>
            <a:endParaRPr lang="en-US" sz="1200" dirty="0"/>
          </a:p>
        </p:txBody>
      </p:sp>
      <p:sp>
        <p:nvSpPr>
          <p:cNvPr id="16" name="Shape 9"/>
          <p:cNvSpPr/>
          <p:nvPr/>
        </p:nvSpPr>
        <p:spPr>
          <a:xfrm>
            <a:off x="8183880" y="2532888"/>
            <a:ext cx="384048" cy="384048"/>
          </a:xfrm>
          <a:prstGeom prst="ellipse">
            <a:avLst/>
          </a:prstGeom>
          <a:solidFill>
            <a:srgbClr val="1D6FA5"/>
          </a:solidFill>
          <a:ln w="12700">
            <a:solidFill>
              <a:srgbClr val="1D6FA5"/>
            </a:solidFill>
            <a:prstDash val="solid"/>
          </a:ln>
        </p:spPr>
      </p:sp>
      <p:pic>
        <p:nvPicPr>
          <p:cNvPr id="17" name="Image 5" descr="preencoded.png">    </p:cNvPr>
          <p:cNvPicPr>
            <a:picLocks noChangeAspect="1"/>
          </p:cNvPicPr>
          <p:nvPr/>
        </p:nvPicPr>
        <p:blipFill>
          <a:blip r:embed="rId6"/>
          <a:stretch>
            <a:fillRect/>
          </a:stretch>
        </p:blipFill>
        <p:spPr>
          <a:xfrm>
            <a:off x="8275320" y="2624328"/>
            <a:ext cx="201168" cy="201168"/>
          </a:xfrm>
          <a:prstGeom prst="rect">
            <a:avLst/>
          </a:prstGeom>
        </p:spPr>
      </p:pic>
      <p:sp>
        <p:nvSpPr>
          <p:cNvPr id="18" name="Text 10"/>
          <p:cNvSpPr txBox="1"/>
          <p:nvPr/>
        </p:nvSpPr>
        <p:spPr>
          <a:xfrm>
            <a:off x="8732520" y="2487168"/>
            <a:ext cx="3017520" cy="347472"/>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Factura</a:t>
            </a:r>
            <a:endParaRPr lang="en-US" sz="1500" dirty="0"/>
          </a:p>
        </p:txBody>
      </p:sp>
      <p:sp>
        <p:nvSpPr>
          <p:cNvPr id="19" name="Text 11"/>
          <p:cNvSpPr txBox="1"/>
          <p:nvPr/>
        </p:nvSpPr>
        <p:spPr>
          <a:xfrm>
            <a:off x="8732520" y="2834640"/>
            <a:ext cx="3017520" cy="502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Encabezado + detalle; descuenta existencia; ticket</a:t>
            </a:r>
            <a:endParaRPr lang="en-US" sz="1200" dirty="0"/>
          </a:p>
        </p:txBody>
      </p:sp>
      <p:sp>
        <p:nvSpPr>
          <p:cNvPr id="20" name="Shape 12"/>
          <p:cNvSpPr/>
          <p:nvPr/>
        </p:nvSpPr>
        <p:spPr>
          <a:xfrm>
            <a:off x="8183880" y="3447288"/>
            <a:ext cx="384048" cy="384048"/>
          </a:xfrm>
          <a:prstGeom prst="ellipse">
            <a:avLst/>
          </a:prstGeom>
          <a:solidFill>
            <a:srgbClr val="1D6FA5"/>
          </a:solidFill>
          <a:ln w="12700">
            <a:solidFill>
              <a:srgbClr val="1D6FA5"/>
            </a:solidFill>
            <a:prstDash val="solid"/>
          </a:ln>
        </p:spPr>
      </p:sp>
      <p:pic>
        <p:nvPicPr>
          <p:cNvPr id="21" name="Image 6" descr="preencoded.png">    </p:cNvPr>
          <p:cNvPicPr>
            <a:picLocks noChangeAspect="1"/>
          </p:cNvPicPr>
          <p:nvPr/>
        </p:nvPicPr>
        <p:blipFill>
          <a:blip r:embed="rId7"/>
          <a:stretch>
            <a:fillRect/>
          </a:stretch>
        </p:blipFill>
        <p:spPr>
          <a:xfrm>
            <a:off x="8275320" y="3538728"/>
            <a:ext cx="201168" cy="201168"/>
          </a:xfrm>
          <a:prstGeom prst="rect">
            <a:avLst/>
          </a:prstGeom>
        </p:spPr>
      </p:pic>
      <p:sp>
        <p:nvSpPr>
          <p:cNvPr id="22" name="Text 13"/>
          <p:cNvSpPr txBox="1"/>
          <p:nvPr/>
        </p:nvSpPr>
        <p:spPr>
          <a:xfrm>
            <a:off x="8732520" y="3401568"/>
            <a:ext cx="3017520" cy="347472"/>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Compra</a:t>
            </a:r>
            <a:endParaRPr lang="en-US" sz="1500" dirty="0"/>
          </a:p>
        </p:txBody>
      </p:sp>
      <p:sp>
        <p:nvSpPr>
          <p:cNvPr id="23" name="Text 14"/>
          <p:cNvSpPr txBox="1"/>
          <p:nvPr/>
        </p:nvSpPr>
        <p:spPr>
          <a:xfrm>
            <a:off x="8732520" y="3749040"/>
            <a:ext cx="3017520" cy="502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Detalle por proveedor; suma existencia; último costo</a:t>
            </a:r>
            <a:endParaRPr lang="en-US" sz="1200" dirty="0"/>
          </a:p>
        </p:txBody>
      </p:sp>
      <p:sp>
        <p:nvSpPr>
          <p:cNvPr id="24" name="Shape 15"/>
          <p:cNvSpPr/>
          <p:nvPr/>
        </p:nvSpPr>
        <p:spPr>
          <a:xfrm>
            <a:off x="8183880" y="4361688"/>
            <a:ext cx="384048" cy="384048"/>
          </a:xfrm>
          <a:prstGeom prst="ellipse">
            <a:avLst/>
          </a:prstGeom>
          <a:solidFill>
            <a:srgbClr val="1D6FA5"/>
          </a:solidFill>
          <a:ln w="12700">
            <a:solidFill>
              <a:srgbClr val="1D6FA5"/>
            </a:solidFill>
            <a:prstDash val="solid"/>
          </a:ln>
        </p:spPr>
      </p:sp>
      <p:pic>
        <p:nvPicPr>
          <p:cNvPr id="25" name="Image 7" descr="preencoded.png">    </p:cNvPr>
          <p:cNvPicPr>
            <a:picLocks noChangeAspect="1"/>
          </p:cNvPicPr>
          <p:nvPr/>
        </p:nvPicPr>
        <p:blipFill>
          <a:blip r:embed="rId8"/>
          <a:stretch>
            <a:fillRect/>
          </a:stretch>
        </p:blipFill>
        <p:spPr>
          <a:xfrm>
            <a:off x="8275320" y="4453128"/>
            <a:ext cx="201168" cy="201168"/>
          </a:xfrm>
          <a:prstGeom prst="rect">
            <a:avLst/>
          </a:prstGeom>
        </p:spPr>
      </p:pic>
      <p:sp>
        <p:nvSpPr>
          <p:cNvPr id="26" name="Text 16"/>
          <p:cNvSpPr txBox="1"/>
          <p:nvPr/>
        </p:nvSpPr>
        <p:spPr>
          <a:xfrm>
            <a:off x="8732520" y="4315968"/>
            <a:ext cx="3017520" cy="347472"/>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Listas</a:t>
            </a:r>
            <a:endParaRPr lang="en-US" sz="1500" dirty="0"/>
          </a:p>
        </p:txBody>
      </p:sp>
      <p:sp>
        <p:nvSpPr>
          <p:cNvPr id="27" name="Text 17"/>
          <p:cNvSpPr txBox="1"/>
          <p:nvPr/>
        </p:nvSpPr>
        <p:spPr>
          <a:xfrm>
            <a:off x="8732520" y="4663440"/>
            <a:ext cx="3017520" cy="502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Consultar, ver detalle, anular y reporte</a:t>
            </a:r>
            <a:endParaRPr lang="en-US" sz="1200" dirty="0"/>
          </a:p>
        </p:txBody>
      </p:sp>
      <p:sp>
        <p:nvSpPr>
          <p:cNvPr id="28" name="Shape 18"/>
          <p:cNvSpPr/>
          <p:nvPr/>
        </p:nvSpPr>
        <p:spPr>
          <a:xfrm>
            <a:off x="8183880" y="5276088"/>
            <a:ext cx="384048" cy="384048"/>
          </a:xfrm>
          <a:prstGeom prst="ellipse">
            <a:avLst/>
          </a:prstGeom>
          <a:solidFill>
            <a:srgbClr val="1D6FA5"/>
          </a:solidFill>
          <a:ln w="12700">
            <a:solidFill>
              <a:srgbClr val="1D6FA5"/>
            </a:solidFill>
            <a:prstDash val="solid"/>
          </a:ln>
        </p:spPr>
      </p:sp>
      <p:pic>
        <p:nvPicPr>
          <p:cNvPr id="29" name="Image 8" descr="preencoded.png">    </p:cNvPr>
          <p:cNvPicPr>
            <a:picLocks noChangeAspect="1"/>
          </p:cNvPicPr>
          <p:nvPr/>
        </p:nvPicPr>
        <p:blipFill>
          <a:blip r:embed="rId9"/>
          <a:stretch>
            <a:fillRect/>
          </a:stretch>
        </p:blipFill>
        <p:spPr>
          <a:xfrm>
            <a:off x="8275320" y="5367528"/>
            <a:ext cx="201168" cy="201168"/>
          </a:xfrm>
          <a:prstGeom prst="rect">
            <a:avLst/>
          </a:prstGeom>
        </p:spPr>
      </p:pic>
      <p:sp>
        <p:nvSpPr>
          <p:cNvPr id="30" name="Text 19"/>
          <p:cNvSpPr txBox="1"/>
          <p:nvPr/>
        </p:nvSpPr>
        <p:spPr>
          <a:xfrm>
            <a:off x="8732520" y="5230368"/>
            <a:ext cx="3017520" cy="347472"/>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Login</a:t>
            </a:r>
            <a:endParaRPr lang="en-US" sz="1500" dirty="0"/>
          </a:p>
        </p:txBody>
      </p:sp>
      <p:sp>
        <p:nvSpPr>
          <p:cNvPr id="31" name="Text 20"/>
          <p:cNvSpPr txBox="1"/>
          <p:nvPr/>
        </p:nvSpPr>
        <p:spPr>
          <a:xfrm>
            <a:off x="8732520" y="5577840"/>
            <a:ext cx="3017520" cy="502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Usuarios con rol; administrador en el primer uso</a:t>
            </a:r>
            <a:endParaRPr lang="en-US" sz="1200" dirty="0"/>
          </a:p>
        </p:txBody>
      </p:sp>
      <p:sp>
        <p:nvSpPr>
          <p:cNvPr id="32" name="Text 2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A94A3"/>
                </a:solidFill>
                <a:latin typeface="Calibri" pitchFamily="34" charset="0"/>
                <a:ea typeface="Calibri" pitchFamily="34" charset="-122"/>
                <a:cs typeface="Calibri" pitchFamily="34" charset="-120"/>
              </a:rPr>
              <a:t>Programación II · Sistema de Ventas</a:t>
            </a:r>
            <a:endParaRPr lang="en-US" sz="1000" dirty="0"/>
          </a:p>
        </p:txBody>
      </p:sp>
      <p:sp>
        <p:nvSpPr>
          <p:cNvPr id="33" name="Text 22"/>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000" dirty="0">
                <a:solidFill>
                  <a:srgbClr val="8A94A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Lo que se registra en un módulo se usa en los demás</a:t>
            </a:r>
            <a:endParaRPr lang="en-US" sz="3200" dirty="0"/>
          </a:p>
        </p:txBody>
      </p:sp>
      <p:sp>
        <p:nvSpPr>
          <p:cNvPr id="3" name="Text 1"/>
          <p:cNvSpPr txBox="1"/>
          <p:nvPr/>
        </p:nvSpPr>
        <p:spPr>
          <a:xfrm>
            <a:off x="548640" y="987552"/>
            <a:ext cx="11091672" cy="365760"/>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De la compra a la factura, y de ahí a los reportes y al celular</a:t>
            </a:r>
            <a:endParaRPr lang="en-US" sz="1500" dirty="0"/>
          </a:p>
        </p:txBody>
      </p:sp>
      <p:sp>
        <p:nvSpPr>
          <p:cNvPr id="4" name="Shape 2"/>
          <p:cNvSpPr/>
          <p:nvPr/>
        </p:nvSpPr>
        <p:spPr>
          <a:xfrm>
            <a:off x="1005840" y="1691640"/>
            <a:ext cx="868680" cy="868680"/>
          </a:xfrm>
          <a:prstGeom prst="ellipse">
            <a:avLst/>
          </a:prstGeom>
          <a:solidFill>
            <a:srgbClr val="0B2545"/>
          </a:solidFill>
          <a:ln w="12700">
            <a:solidFill>
              <a:srgbClr val="0B2545"/>
            </a:solidFill>
            <a:prstDash val="solid"/>
          </a:ln>
        </p:spPr>
      </p:sp>
      <p:pic>
        <p:nvPicPr>
          <p:cNvPr id="5" name="Image 0" descr="preencoded.png">    </p:cNvPr>
          <p:cNvPicPr>
            <a:picLocks noChangeAspect="1"/>
          </p:cNvPicPr>
          <p:nvPr/>
        </p:nvPicPr>
        <p:blipFill>
          <a:blip r:embed="rId1"/>
          <a:stretch>
            <a:fillRect/>
          </a:stretch>
        </p:blipFill>
        <p:spPr>
          <a:xfrm>
            <a:off x="1207008" y="1892808"/>
            <a:ext cx="466344" cy="466344"/>
          </a:xfrm>
          <a:prstGeom prst="rect">
            <a:avLst/>
          </a:prstGeom>
        </p:spPr>
      </p:pic>
      <p:pic>
        <p:nvPicPr>
          <p:cNvPr id="6" name="Image 1" descr="preencoded.png">    </p:cNvPr>
          <p:cNvPicPr>
            <a:picLocks noChangeAspect="1"/>
          </p:cNvPicPr>
          <p:nvPr/>
        </p:nvPicPr>
        <p:blipFill>
          <a:blip r:embed="rId2"/>
          <a:stretch>
            <a:fillRect/>
          </a:stretch>
        </p:blipFill>
        <p:spPr>
          <a:xfrm>
            <a:off x="2130552" y="1993392"/>
            <a:ext cx="274320" cy="274320"/>
          </a:xfrm>
          <a:prstGeom prst="rect">
            <a:avLst/>
          </a:prstGeom>
        </p:spPr>
      </p:pic>
      <p:sp>
        <p:nvSpPr>
          <p:cNvPr id="7" name="Text 3"/>
          <p:cNvSpPr txBox="1"/>
          <p:nvPr/>
        </p:nvSpPr>
        <p:spPr>
          <a:xfrm>
            <a:off x="548640" y="2697480"/>
            <a:ext cx="1783080" cy="566928"/>
          </a:xfrm>
          <a:prstGeom prst="rect">
            <a:avLst/>
          </a:prstGeom>
          <a:noFill/>
          <a:ln/>
        </p:spPr>
        <p:txBody>
          <a:bodyPr wrap="square" lIns="0" tIns="0" rIns="0" bIns="0" rtlCol="0" anchor="t"/>
          <a:lstStyle/>
          <a:p>
            <a:pPr algn="ctr" indent="0" marL="0">
              <a:buNone/>
            </a:pPr>
            <a:r>
              <a:rPr lang="en-US" sz="1400" b="1" dirty="0">
                <a:solidFill>
                  <a:srgbClr val="0B2545"/>
                </a:solidFill>
                <a:latin typeface="Calibri" pitchFamily="34" charset="0"/>
                <a:ea typeface="Calibri" pitchFamily="34" charset="-122"/>
                <a:cs typeface="Calibri" pitchFamily="34" charset="-120"/>
              </a:rPr>
              <a:t>Categoría y proveedor</a:t>
            </a:r>
            <a:endParaRPr lang="en-US" sz="1400" dirty="0"/>
          </a:p>
        </p:txBody>
      </p:sp>
      <p:sp>
        <p:nvSpPr>
          <p:cNvPr id="8" name="Text 4"/>
          <p:cNvSpPr txBox="1"/>
          <p:nvPr/>
        </p:nvSpPr>
        <p:spPr>
          <a:xfrm>
            <a:off x="548640" y="3246120"/>
            <a:ext cx="1783080" cy="731520"/>
          </a:xfrm>
          <a:prstGeom prst="rect">
            <a:avLst/>
          </a:prstGeom>
          <a:noFill/>
          <a:ln/>
        </p:spPr>
        <p:txBody>
          <a:bodyPr wrap="square" lIns="0" tIns="0" rIns="0" bIns="0" rtlCol="0" anchor="t"/>
          <a:lstStyle/>
          <a:p>
            <a:pPr algn="ctr" indent="0" marL="0">
              <a:buNone/>
            </a:pPr>
            <a:r>
              <a:rPr lang="en-US" sz="1200" dirty="0">
                <a:solidFill>
                  <a:srgbClr val="5B6472"/>
                </a:solidFill>
                <a:latin typeface="Calibri" pitchFamily="34" charset="0"/>
                <a:ea typeface="Calibri" pitchFamily="34" charset="-122"/>
                <a:cs typeface="Calibri" pitchFamily="34" charset="-120"/>
              </a:rPr>
              <a:t>Se registran en sus catálogos</a:t>
            </a:r>
            <a:endParaRPr lang="en-US" sz="1200" dirty="0"/>
          </a:p>
        </p:txBody>
      </p:sp>
      <p:sp>
        <p:nvSpPr>
          <p:cNvPr id="9" name="Shape 5"/>
          <p:cNvSpPr/>
          <p:nvPr/>
        </p:nvSpPr>
        <p:spPr>
          <a:xfrm>
            <a:off x="2926080" y="1691640"/>
            <a:ext cx="868680" cy="868680"/>
          </a:xfrm>
          <a:prstGeom prst="ellipse">
            <a:avLst/>
          </a:prstGeom>
          <a:solidFill>
            <a:srgbClr val="0B2545"/>
          </a:solidFill>
          <a:ln w="12700">
            <a:solidFill>
              <a:srgbClr val="0B2545"/>
            </a:solidFill>
            <a:prstDash val="solid"/>
          </a:ln>
        </p:spPr>
      </p:sp>
      <p:pic>
        <p:nvPicPr>
          <p:cNvPr id="10" name="Image 2" descr="preencoded.png">    </p:cNvPr>
          <p:cNvPicPr>
            <a:picLocks noChangeAspect="1"/>
          </p:cNvPicPr>
          <p:nvPr/>
        </p:nvPicPr>
        <p:blipFill>
          <a:blip r:embed="rId3"/>
          <a:stretch>
            <a:fillRect/>
          </a:stretch>
        </p:blipFill>
        <p:spPr>
          <a:xfrm>
            <a:off x="3127248" y="1892808"/>
            <a:ext cx="466344" cy="466344"/>
          </a:xfrm>
          <a:prstGeom prst="rect">
            <a:avLst/>
          </a:prstGeom>
        </p:spPr>
      </p:pic>
      <p:pic>
        <p:nvPicPr>
          <p:cNvPr id="11" name="Image 3" descr="preencoded.png">    </p:cNvPr>
          <p:cNvPicPr>
            <a:picLocks noChangeAspect="1"/>
          </p:cNvPicPr>
          <p:nvPr/>
        </p:nvPicPr>
        <p:blipFill>
          <a:blip r:embed="rId4"/>
          <a:stretch>
            <a:fillRect/>
          </a:stretch>
        </p:blipFill>
        <p:spPr>
          <a:xfrm>
            <a:off x="4050792" y="1993392"/>
            <a:ext cx="274320" cy="274320"/>
          </a:xfrm>
          <a:prstGeom prst="rect">
            <a:avLst/>
          </a:prstGeom>
        </p:spPr>
      </p:pic>
      <p:sp>
        <p:nvSpPr>
          <p:cNvPr id="12" name="Text 6"/>
          <p:cNvSpPr txBox="1"/>
          <p:nvPr/>
        </p:nvSpPr>
        <p:spPr>
          <a:xfrm>
            <a:off x="2468880" y="2697480"/>
            <a:ext cx="1783080" cy="566928"/>
          </a:xfrm>
          <a:prstGeom prst="rect">
            <a:avLst/>
          </a:prstGeom>
          <a:noFill/>
          <a:ln/>
        </p:spPr>
        <p:txBody>
          <a:bodyPr wrap="square" lIns="0" tIns="0" rIns="0" bIns="0" rtlCol="0" anchor="t"/>
          <a:lstStyle/>
          <a:p>
            <a:pPr algn="ctr" indent="0" marL="0">
              <a:buNone/>
            </a:pPr>
            <a:r>
              <a:rPr lang="en-US" sz="1400" b="1" dirty="0">
                <a:solidFill>
                  <a:srgbClr val="0B2545"/>
                </a:solidFill>
                <a:latin typeface="Calibri" pitchFamily="34" charset="0"/>
                <a:ea typeface="Calibri" pitchFamily="34" charset="-122"/>
                <a:cs typeface="Calibri" pitchFamily="34" charset="-120"/>
              </a:rPr>
              <a:t>Producto</a:t>
            </a:r>
            <a:endParaRPr lang="en-US" sz="1400" dirty="0"/>
          </a:p>
        </p:txBody>
      </p:sp>
      <p:sp>
        <p:nvSpPr>
          <p:cNvPr id="13" name="Text 7"/>
          <p:cNvSpPr txBox="1"/>
          <p:nvPr/>
        </p:nvSpPr>
        <p:spPr>
          <a:xfrm>
            <a:off x="2468880" y="3246120"/>
            <a:ext cx="1783080" cy="731520"/>
          </a:xfrm>
          <a:prstGeom prst="rect">
            <a:avLst/>
          </a:prstGeom>
          <a:noFill/>
          <a:ln/>
        </p:spPr>
        <p:txBody>
          <a:bodyPr wrap="square" lIns="0" tIns="0" rIns="0" bIns="0" rtlCol="0" anchor="t"/>
          <a:lstStyle/>
          <a:p>
            <a:pPr algn="ctr" indent="0" marL="0">
              <a:buNone/>
            </a:pPr>
            <a:r>
              <a:rPr lang="en-US" sz="1200" dirty="0">
                <a:solidFill>
                  <a:srgbClr val="5B6472"/>
                </a:solidFill>
                <a:latin typeface="Calibri" pitchFamily="34" charset="0"/>
                <a:ea typeface="Calibri" pitchFamily="34" charset="-122"/>
                <a:cs typeface="Calibri" pitchFamily="34" charset="-120"/>
              </a:rPr>
              <a:t>Usa la categoría</a:t>
            </a:r>
            <a:endParaRPr lang="en-US" sz="1200" dirty="0"/>
          </a:p>
        </p:txBody>
      </p:sp>
      <p:sp>
        <p:nvSpPr>
          <p:cNvPr id="14" name="Shape 8"/>
          <p:cNvSpPr/>
          <p:nvPr/>
        </p:nvSpPr>
        <p:spPr>
          <a:xfrm>
            <a:off x="4846320" y="1691640"/>
            <a:ext cx="868680" cy="868680"/>
          </a:xfrm>
          <a:prstGeom prst="ellipse">
            <a:avLst/>
          </a:prstGeom>
          <a:solidFill>
            <a:srgbClr val="1D6FA5"/>
          </a:solidFill>
          <a:ln w="12700">
            <a:solidFill>
              <a:srgbClr val="1D6FA5"/>
            </a:solidFill>
            <a:prstDash val="solid"/>
          </a:ln>
        </p:spPr>
      </p:sp>
      <p:pic>
        <p:nvPicPr>
          <p:cNvPr id="15" name="Image 4" descr="preencoded.png">    </p:cNvPr>
          <p:cNvPicPr>
            <a:picLocks noChangeAspect="1"/>
          </p:cNvPicPr>
          <p:nvPr/>
        </p:nvPicPr>
        <p:blipFill>
          <a:blip r:embed="rId5"/>
          <a:stretch>
            <a:fillRect/>
          </a:stretch>
        </p:blipFill>
        <p:spPr>
          <a:xfrm>
            <a:off x="5047488" y="1892808"/>
            <a:ext cx="466344" cy="466344"/>
          </a:xfrm>
          <a:prstGeom prst="rect">
            <a:avLst/>
          </a:prstGeom>
        </p:spPr>
      </p:pic>
      <p:pic>
        <p:nvPicPr>
          <p:cNvPr id="16" name="Image 5" descr="preencoded.png">    </p:cNvPr>
          <p:cNvPicPr>
            <a:picLocks noChangeAspect="1"/>
          </p:cNvPicPr>
          <p:nvPr/>
        </p:nvPicPr>
        <p:blipFill>
          <a:blip r:embed="rId6"/>
          <a:stretch>
            <a:fillRect/>
          </a:stretch>
        </p:blipFill>
        <p:spPr>
          <a:xfrm>
            <a:off x="5971032" y="1993392"/>
            <a:ext cx="274320" cy="274320"/>
          </a:xfrm>
          <a:prstGeom prst="rect">
            <a:avLst/>
          </a:prstGeom>
        </p:spPr>
      </p:pic>
      <p:sp>
        <p:nvSpPr>
          <p:cNvPr id="17" name="Text 9"/>
          <p:cNvSpPr txBox="1"/>
          <p:nvPr/>
        </p:nvSpPr>
        <p:spPr>
          <a:xfrm>
            <a:off x="4389120" y="2697480"/>
            <a:ext cx="1783080" cy="566928"/>
          </a:xfrm>
          <a:prstGeom prst="rect">
            <a:avLst/>
          </a:prstGeom>
          <a:noFill/>
          <a:ln/>
        </p:spPr>
        <p:txBody>
          <a:bodyPr wrap="square" lIns="0" tIns="0" rIns="0" bIns="0" rtlCol="0" anchor="t"/>
          <a:lstStyle/>
          <a:p>
            <a:pPr algn="ctr" indent="0" marL="0">
              <a:buNone/>
            </a:pPr>
            <a:r>
              <a:rPr lang="en-US" sz="1400" b="1" dirty="0">
                <a:solidFill>
                  <a:srgbClr val="0B2545"/>
                </a:solidFill>
                <a:latin typeface="Calibri" pitchFamily="34" charset="0"/>
                <a:ea typeface="Calibri" pitchFamily="34" charset="-122"/>
                <a:cs typeface="Calibri" pitchFamily="34" charset="-120"/>
              </a:rPr>
              <a:t>Compra</a:t>
            </a:r>
            <a:endParaRPr lang="en-US" sz="1400" dirty="0"/>
          </a:p>
        </p:txBody>
      </p:sp>
      <p:sp>
        <p:nvSpPr>
          <p:cNvPr id="18" name="Text 10"/>
          <p:cNvSpPr txBox="1"/>
          <p:nvPr/>
        </p:nvSpPr>
        <p:spPr>
          <a:xfrm>
            <a:off x="4389120" y="3246120"/>
            <a:ext cx="1783080" cy="731520"/>
          </a:xfrm>
          <a:prstGeom prst="rect">
            <a:avLst/>
          </a:prstGeom>
          <a:noFill/>
          <a:ln/>
        </p:spPr>
        <p:txBody>
          <a:bodyPr wrap="square" lIns="0" tIns="0" rIns="0" bIns="0" rtlCol="0" anchor="t"/>
          <a:lstStyle/>
          <a:p>
            <a:pPr algn="ctr" indent="0" marL="0">
              <a:buNone/>
            </a:pPr>
            <a:r>
              <a:rPr lang="en-US" sz="1200" dirty="0">
                <a:solidFill>
                  <a:srgbClr val="5B6472"/>
                </a:solidFill>
                <a:latin typeface="Calibri" pitchFamily="34" charset="0"/>
                <a:ea typeface="Calibri" pitchFamily="34" charset="-122"/>
                <a:cs typeface="Calibri" pitchFamily="34" charset="-120"/>
              </a:rPr>
              <a:t>Usa proveedor y producto: suma existencia</a:t>
            </a:r>
            <a:endParaRPr lang="en-US" sz="1200" dirty="0"/>
          </a:p>
        </p:txBody>
      </p:sp>
      <p:sp>
        <p:nvSpPr>
          <p:cNvPr id="19" name="Shape 11"/>
          <p:cNvSpPr/>
          <p:nvPr/>
        </p:nvSpPr>
        <p:spPr>
          <a:xfrm>
            <a:off x="6766560" y="1691640"/>
            <a:ext cx="868680" cy="868680"/>
          </a:xfrm>
          <a:prstGeom prst="ellipse">
            <a:avLst/>
          </a:prstGeom>
          <a:solidFill>
            <a:srgbClr val="1D6FA5"/>
          </a:solidFill>
          <a:ln w="12700">
            <a:solidFill>
              <a:srgbClr val="1D6FA5"/>
            </a:solidFill>
            <a:prstDash val="solid"/>
          </a:ln>
        </p:spPr>
      </p:sp>
      <p:pic>
        <p:nvPicPr>
          <p:cNvPr id="20" name="Image 6" descr="preencoded.png">    </p:cNvPr>
          <p:cNvPicPr>
            <a:picLocks noChangeAspect="1"/>
          </p:cNvPicPr>
          <p:nvPr/>
        </p:nvPicPr>
        <p:blipFill>
          <a:blip r:embed="rId7"/>
          <a:stretch>
            <a:fillRect/>
          </a:stretch>
        </p:blipFill>
        <p:spPr>
          <a:xfrm>
            <a:off x="6967728" y="1892808"/>
            <a:ext cx="466344" cy="466344"/>
          </a:xfrm>
          <a:prstGeom prst="rect">
            <a:avLst/>
          </a:prstGeom>
        </p:spPr>
      </p:pic>
      <p:pic>
        <p:nvPicPr>
          <p:cNvPr id="21" name="Image 7" descr="preencoded.png">    </p:cNvPr>
          <p:cNvPicPr>
            <a:picLocks noChangeAspect="1"/>
          </p:cNvPicPr>
          <p:nvPr/>
        </p:nvPicPr>
        <p:blipFill>
          <a:blip r:embed="rId8"/>
          <a:stretch>
            <a:fillRect/>
          </a:stretch>
        </p:blipFill>
        <p:spPr>
          <a:xfrm>
            <a:off x="7891272" y="1993392"/>
            <a:ext cx="274320" cy="274320"/>
          </a:xfrm>
          <a:prstGeom prst="rect">
            <a:avLst/>
          </a:prstGeom>
        </p:spPr>
      </p:pic>
      <p:sp>
        <p:nvSpPr>
          <p:cNvPr id="22" name="Text 12"/>
          <p:cNvSpPr txBox="1"/>
          <p:nvPr/>
        </p:nvSpPr>
        <p:spPr>
          <a:xfrm>
            <a:off x="6309360" y="2697480"/>
            <a:ext cx="1783080" cy="566928"/>
          </a:xfrm>
          <a:prstGeom prst="rect">
            <a:avLst/>
          </a:prstGeom>
          <a:noFill/>
          <a:ln/>
        </p:spPr>
        <p:txBody>
          <a:bodyPr wrap="square" lIns="0" tIns="0" rIns="0" bIns="0" rtlCol="0" anchor="t"/>
          <a:lstStyle/>
          <a:p>
            <a:pPr algn="ctr" indent="0" marL="0">
              <a:buNone/>
            </a:pPr>
            <a:r>
              <a:rPr lang="en-US" sz="1400" b="1" dirty="0">
                <a:solidFill>
                  <a:srgbClr val="0B2545"/>
                </a:solidFill>
                <a:latin typeface="Calibri" pitchFamily="34" charset="0"/>
                <a:ea typeface="Calibri" pitchFamily="34" charset="-122"/>
                <a:cs typeface="Calibri" pitchFamily="34" charset="-120"/>
              </a:rPr>
              <a:t>Factura</a:t>
            </a:r>
            <a:endParaRPr lang="en-US" sz="1400" dirty="0"/>
          </a:p>
        </p:txBody>
      </p:sp>
      <p:sp>
        <p:nvSpPr>
          <p:cNvPr id="23" name="Text 13"/>
          <p:cNvSpPr txBox="1"/>
          <p:nvPr/>
        </p:nvSpPr>
        <p:spPr>
          <a:xfrm>
            <a:off x="6309360" y="3246120"/>
            <a:ext cx="1783080" cy="731520"/>
          </a:xfrm>
          <a:prstGeom prst="rect">
            <a:avLst/>
          </a:prstGeom>
          <a:noFill/>
          <a:ln/>
        </p:spPr>
        <p:txBody>
          <a:bodyPr wrap="square" lIns="0" tIns="0" rIns="0" bIns="0" rtlCol="0" anchor="t"/>
          <a:lstStyle/>
          <a:p>
            <a:pPr algn="ctr" indent="0" marL="0">
              <a:buNone/>
            </a:pPr>
            <a:r>
              <a:rPr lang="en-US" sz="1200" dirty="0">
                <a:solidFill>
                  <a:srgbClr val="5B6472"/>
                </a:solidFill>
                <a:latin typeface="Calibri" pitchFamily="34" charset="0"/>
                <a:ea typeface="Calibri" pitchFamily="34" charset="-122"/>
                <a:cs typeface="Calibri" pitchFamily="34" charset="-120"/>
              </a:rPr>
              <a:t>Usa cliente y producto: resta existencia</a:t>
            </a:r>
            <a:endParaRPr lang="en-US" sz="1200" dirty="0"/>
          </a:p>
        </p:txBody>
      </p:sp>
      <p:sp>
        <p:nvSpPr>
          <p:cNvPr id="24" name="Shape 14"/>
          <p:cNvSpPr/>
          <p:nvPr/>
        </p:nvSpPr>
        <p:spPr>
          <a:xfrm>
            <a:off x="8686800" y="1691640"/>
            <a:ext cx="868680" cy="868680"/>
          </a:xfrm>
          <a:prstGeom prst="ellipse">
            <a:avLst/>
          </a:prstGeom>
          <a:solidFill>
            <a:srgbClr val="C62828"/>
          </a:solidFill>
          <a:ln w="12700">
            <a:solidFill>
              <a:srgbClr val="C62828"/>
            </a:solidFill>
            <a:prstDash val="solid"/>
          </a:ln>
        </p:spPr>
      </p:sp>
      <p:pic>
        <p:nvPicPr>
          <p:cNvPr id="25" name="Image 8" descr="preencoded.png">    </p:cNvPr>
          <p:cNvPicPr>
            <a:picLocks noChangeAspect="1"/>
          </p:cNvPicPr>
          <p:nvPr/>
        </p:nvPicPr>
        <p:blipFill>
          <a:blip r:embed="rId9"/>
          <a:stretch>
            <a:fillRect/>
          </a:stretch>
        </p:blipFill>
        <p:spPr>
          <a:xfrm>
            <a:off x="8887968" y="1892808"/>
            <a:ext cx="466344" cy="466344"/>
          </a:xfrm>
          <a:prstGeom prst="rect">
            <a:avLst/>
          </a:prstGeom>
        </p:spPr>
      </p:pic>
      <p:pic>
        <p:nvPicPr>
          <p:cNvPr id="26" name="Image 9" descr="preencoded.png">    </p:cNvPr>
          <p:cNvPicPr>
            <a:picLocks noChangeAspect="1"/>
          </p:cNvPicPr>
          <p:nvPr/>
        </p:nvPicPr>
        <p:blipFill>
          <a:blip r:embed="rId10"/>
          <a:stretch>
            <a:fillRect/>
          </a:stretch>
        </p:blipFill>
        <p:spPr>
          <a:xfrm>
            <a:off x="9811512" y="1993392"/>
            <a:ext cx="274320" cy="274320"/>
          </a:xfrm>
          <a:prstGeom prst="rect">
            <a:avLst/>
          </a:prstGeom>
        </p:spPr>
      </p:pic>
      <p:sp>
        <p:nvSpPr>
          <p:cNvPr id="27" name="Text 15"/>
          <p:cNvSpPr txBox="1"/>
          <p:nvPr/>
        </p:nvSpPr>
        <p:spPr>
          <a:xfrm>
            <a:off x="8229600" y="2697480"/>
            <a:ext cx="1783080" cy="566928"/>
          </a:xfrm>
          <a:prstGeom prst="rect">
            <a:avLst/>
          </a:prstGeom>
          <a:noFill/>
          <a:ln/>
        </p:spPr>
        <p:txBody>
          <a:bodyPr wrap="square" lIns="0" tIns="0" rIns="0" bIns="0" rtlCol="0" anchor="t"/>
          <a:lstStyle/>
          <a:p>
            <a:pPr algn="ctr" indent="0" marL="0">
              <a:buNone/>
            </a:pPr>
            <a:r>
              <a:rPr lang="en-US" sz="1400" b="1" dirty="0">
                <a:solidFill>
                  <a:srgbClr val="0B2545"/>
                </a:solidFill>
                <a:latin typeface="Calibri" pitchFamily="34" charset="0"/>
                <a:ea typeface="Calibri" pitchFamily="34" charset="-122"/>
                <a:cs typeface="Calibri" pitchFamily="34" charset="-120"/>
              </a:rPr>
              <a:t>Reportes y resumen</a:t>
            </a:r>
            <a:endParaRPr lang="en-US" sz="1400" dirty="0"/>
          </a:p>
        </p:txBody>
      </p:sp>
      <p:sp>
        <p:nvSpPr>
          <p:cNvPr id="28" name="Text 16"/>
          <p:cNvSpPr txBox="1"/>
          <p:nvPr/>
        </p:nvSpPr>
        <p:spPr>
          <a:xfrm>
            <a:off x="8229600" y="3246120"/>
            <a:ext cx="1783080" cy="731520"/>
          </a:xfrm>
          <a:prstGeom prst="rect">
            <a:avLst/>
          </a:prstGeom>
          <a:noFill/>
          <a:ln/>
        </p:spPr>
        <p:txBody>
          <a:bodyPr wrap="square" lIns="0" tIns="0" rIns="0" bIns="0" rtlCol="0" anchor="t"/>
          <a:lstStyle/>
          <a:p>
            <a:pPr algn="ctr" indent="0" marL="0">
              <a:buNone/>
            </a:pPr>
            <a:r>
              <a:rPr lang="en-US" sz="1200" dirty="0">
                <a:solidFill>
                  <a:srgbClr val="5B6472"/>
                </a:solidFill>
                <a:latin typeface="Calibri" pitchFamily="34" charset="0"/>
                <a:ea typeface="Calibri" pitchFamily="34" charset="-122"/>
                <a:cs typeface="Calibri" pitchFamily="34" charset="-120"/>
              </a:rPr>
              <a:t>Leen facturas y compras</a:t>
            </a:r>
            <a:endParaRPr lang="en-US" sz="1200" dirty="0"/>
          </a:p>
        </p:txBody>
      </p:sp>
      <p:sp>
        <p:nvSpPr>
          <p:cNvPr id="29" name="Shape 17"/>
          <p:cNvSpPr/>
          <p:nvPr/>
        </p:nvSpPr>
        <p:spPr>
          <a:xfrm>
            <a:off x="10607040" y="1691640"/>
            <a:ext cx="868680" cy="868680"/>
          </a:xfrm>
          <a:prstGeom prst="ellipse">
            <a:avLst/>
          </a:prstGeom>
          <a:solidFill>
            <a:srgbClr val="C62828"/>
          </a:solidFill>
          <a:ln w="12700">
            <a:solidFill>
              <a:srgbClr val="C62828"/>
            </a:solidFill>
            <a:prstDash val="solid"/>
          </a:ln>
        </p:spPr>
      </p:sp>
      <p:pic>
        <p:nvPicPr>
          <p:cNvPr id="30" name="Image 10" descr="preencoded.png">    </p:cNvPr>
          <p:cNvPicPr>
            <a:picLocks noChangeAspect="1"/>
          </p:cNvPicPr>
          <p:nvPr/>
        </p:nvPicPr>
        <p:blipFill>
          <a:blip r:embed="rId11"/>
          <a:stretch>
            <a:fillRect/>
          </a:stretch>
        </p:blipFill>
        <p:spPr>
          <a:xfrm>
            <a:off x="10808208" y="1892808"/>
            <a:ext cx="466344" cy="466344"/>
          </a:xfrm>
          <a:prstGeom prst="rect">
            <a:avLst/>
          </a:prstGeom>
        </p:spPr>
      </p:pic>
      <p:sp>
        <p:nvSpPr>
          <p:cNvPr id="31" name="Text 18"/>
          <p:cNvSpPr txBox="1"/>
          <p:nvPr/>
        </p:nvSpPr>
        <p:spPr>
          <a:xfrm>
            <a:off x="10149840" y="2697480"/>
            <a:ext cx="1783080" cy="566928"/>
          </a:xfrm>
          <a:prstGeom prst="rect">
            <a:avLst/>
          </a:prstGeom>
          <a:noFill/>
          <a:ln/>
        </p:spPr>
        <p:txBody>
          <a:bodyPr wrap="square" lIns="0" tIns="0" rIns="0" bIns="0" rtlCol="0" anchor="t"/>
          <a:lstStyle/>
          <a:p>
            <a:pPr algn="ctr" indent="0" marL="0">
              <a:buNone/>
            </a:pPr>
            <a:r>
              <a:rPr lang="en-US" sz="1400" b="1" dirty="0">
                <a:solidFill>
                  <a:srgbClr val="0B2545"/>
                </a:solidFill>
                <a:latin typeface="Calibri" pitchFamily="34" charset="0"/>
                <a:ea typeface="Calibri" pitchFamily="34" charset="-122"/>
                <a:cs typeface="Calibri" pitchFamily="34" charset="-120"/>
              </a:rPr>
              <a:t>App móvil</a:t>
            </a:r>
            <a:endParaRPr lang="en-US" sz="1400" dirty="0"/>
          </a:p>
        </p:txBody>
      </p:sp>
      <p:sp>
        <p:nvSpPr>
          <p:cNvPr id="32" name="Text 19"/>
          <p:cNvSpPr txBox="1"/>
          <p:nvPr/>
        </p:nvSpPr>
        <p:spPr>
          <a:xfrm>
            <a:off x="10149840" y="3246120"/>
            <a:ext cx="1783080" cy="731520"/>
          </a:xfrm>
          <a:prstGeom prst="rect">
            <a:avLst/>
          </a:prstGeom>
          <a:noFill/>
          <a:ln/>
        </p:spPr>
        <p:txBody>
          <a:bodyPr wrap="square" lIns="0" tIns="0" rIns="0" bIns="0" rtlCol="0" anchor="t"/>
          <a:lstStyle/>
          <a:p>
            <a:pPr algn="ctr" indent="0" marL="0">
              <a:buNone/>
            </a:pPr>
            <a:r>
              <a:rPr lang="en-US" sz="1200" dirty="0">
                <a:solidFill>
                  <a:srgbClr val="5B6472"/>
                </a:solidFill>
                <a:latin typeface="Calibri" pitchFamily="34" charset="0"/>
                <a:ea typeface="Calibri" pitchFamily="34" charset="-122"/>
                <a:cs typeface="Calibri" pitchFamily="34" charset="-120"/>
              </a:rPr>
              <a:t>Misma base: vende y consulta</a:t>
            </a:r>
            <a:endParaRPr lang="en-US" sz="1200" dirty="0"/>
          </a:p>
        </p:txBody>
      </p:sp>
      <p:sp>
        <p:nvSpPr>
          <p:cNvPr id="33" name="Shape 20"/>
          <p:cNvSpPr/>
          <p:nvPr/>
        </p:nvSpPr>
        <p:spPr>
          <a:xfrm>
            <a:off x="548640" y="4251960"/>
            <a:ext cx="11109960" cy="1920240"/>
          </a:xfrm>
          <a:prstGeom prst="roundRect">
            <a:avLst>
              <a:gd name="adj" fmla="val 5714"/>
            </a:avLst>
          </a:prstGeom>
          <a:solidFill>
            <a:srgbClr val="EEF3F9"/>
          </a:solidFill>
          <a:ln w="12700">
            <a:solidFill>
              <a:srgbClr val="EEF3F9"/>
            </a:solidFill>
            <a:prstDash val="solid"/>
          </a:ln>
        </p:spPr>
      </p:sp>
      <p:pic>
        <p:nvPicPr>
          <p:cNvPr id="34" name="Image 11" descr="C:\Users\Josue Zetino\AppData\Local\Temp\claude\C--Users-Josue-Zetino-Documents-4to-semestre-progra-2\7ccdd11b-dc21-4f34-84fe-794d7b2c2056\scratchpad\pres\img\02-resumen.png">    </p:cNvPr>
          <p:cNvPicPr>
            <a:picLocks noChangeAspect="1"/>
          </p:cNvPicPr>
          <p:nvPr/>
        </p:nvPicPr>
        <p:blipFill>
          <a:blip r:embed="rId12"/>
          <a:stretch>
            <a:fillRect/>
          </a:stretch>
        </p:blipFill>
        <p:spPr>
          <a:xfrm>
            <a:off x="850378" y="4389120"/>
            <a:ext cx="3054125" cy="1645920"/>
          </a:xfrm>
          <a:prstGeom prst="rect">
            <a:avLst/>
          </a:prstGeom>
        </p:spPr>
      </p:pic>
      <p:sp>
        <p:nvSpPr>
          <p:cNvPr id="35" name="Shape 21"/>
          <p:cNvSpPr/>
          <p:nvPr/>
        </p:nvSpPr>
        <p:spPr>
          <a:xfrm>
            <a:off x="850378" y="4389120"/>
            <a:ext cx="3054125" cy="1645920"/>
          </a:xfrm>
          <a:prstGeom prst="rect">
            <a:avLst/>
          </a:prstGeom>
          <a:ln w="12700">
            <a:solidFill>
              <a:srgbClr val="D5DEEA"/>
            </a:solidFill>
            <a:prstDash val="solid"/>
          </a:ln>
        </p:spPr>
      </p:sp>
      <p:sp>
        <p:nvSpPr>
          <p:cNvPr id="36" name="Text 22"/>
          <p:cNvSpPr txBox="1"/>
          <p:nvPr/>
        </p:nvSpPr>
        <p:spPr>
          <a:xfrm>
            <a:off x="4343400" y="4389120"/>
            <a:ext cx="7132320" cy="365760"/>
          </a:xfrm>
          <a:prstGeom prst="rect">
            <a:avLst/>
          </a:prstGeom>
          <a:noFill/>
          <a:ln/>
        </p:spPr>
        <p:txBody>
          <a:bodyPr wrap="square" lIns="0" tIns="0" rIns="0" bIns="0"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Ejemplo con los datos del sistema</a:t>
            </a:r>
            <a:endParaRPr lang="en-US" sz="1700" dirty="0"/>
          </a:p>
        </p:txBody>
      </p:sp>
      <p:sp>
        <p:nvSpPr>
          <p:cNvPr id="37" name="Text 23"/>
          <p:cNvSpPr txBox="1"/>
          <p:nvPr/>
        </p:nvSpPr>
        <p:spPr>
          <a:xfrm>
            <a:off x="4343400" y="4846320"/>
            <a:ext cx="1188720" cy="365760"/>
          </a:xfrm>
          <a:prstGeom prst="rect">
            <a:avLst/>
          </a:prstGeom>
          <a:noFill/>
          <a:ln/>
        </p:spPr>
        <p:txBody>
          <a:bodyPr wrap="square" lIns="0" tIns="0" rIns="0" bIns="0" rtlCol="0" anchor="ctr"/>
          <a:lstStyle/>
          <a:p>
            <a:pPr indent="0" marL="0">
              <a:buNone/>
            </a:pPr>
            <a:r>
              <a:rPr lang="en-US" sz="1300" b="1" dirty="0">
                <a:solidFill>
                  <a:srgbClr val="C62828"/>
                </a:solidFill>
                <a:latin typeface="Calibri" pitchFamily="34" charset="0"/>
                <a:ea typeface="Calibri" pitchFamily="34" charset="-122"/>
                <a:cs typeface="Calibri" pitchFamily="34" charset="-120"/>
              </a:rPr>
              <a:t>COM-0001</a:t>
            </a:r>
            <a:endParaRPr lang="en-US" sz="1300" dirty="0"/>
          </a:p>
        </p:txBody>
      </p:sp>
      <p:sp>
        <p:nvSpPr>
          <p:cNvPr id="38" name="Text 24"/>
          <p:cNvSpPr txBox="1"/>
          <p:nvPr/>
        </p:nvSpPr>
        <p:spPr>
          <a:xfrm>
            <a:off x="5532120" y="4846320"/>
            <a:ext cx="5989320" cy="36576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Compra a Distribuidora Tinta y Papel: entran lápices, lapiceros y cuadernos.</a:t>
            </a:r>
            <a:endParaRPr lang="en-US" sz="1300" dirty="0"/>
          </a:p>
        </p:txBody>
      </p:sp>
      <p:sp>
        <p:nvSpPr>
          <p:cNvPr id="39" name="Text 25"/>
          <p:cNvSpPr txBox="1"/>
          <p:nvPr/>
        </p:nvSpPr>
        <p:spPr>
          <a:xfrm>
            <a:off x="4343400" y="5257800"/>
            <a:ext cx="1188720" cy="365760"/>
          </a:xfrm>
          <a:prstGeom prst="rect">
            <a:avLst/>
          </a:prstGeom>
          <a:noFill/>
          <a:ln/>
        </p:spPr>
        <p:txBody>
          <a:bodyPr wrap="square" lIns="0" tIns="0" rIns="0" bIns="0" rtlCol="0" anchor="ctr"/>
          <a:lstStyle/>
          <a:p>
            <a:pPr indent="0" marL="0">
              <a:buNone/>
            </a:pPr>
            <a:r>
              <a:rPr lang="en-US" sz="1300" b="1" dirty="0">
                <a:solidFill>
                  <a:srgbClr val="C62828"/>
                </a:solidFill>
                <a:latin typeface="Calibri" pitchFamily="34" charset="0"/>
                <a:ea typeface="Calibri" pitchFamily="34" charset="-122"/>
                <a:cs typeface="Calibri" pitchFamily="34" charset="-120"/>
              </a:rPr>
              <a:t>Facturas</a:t>
            </a:r>
            <a:endParaRPr lang="en-US" sz="1300" dirty="0"/>
          </a:p>
        </p:txBody>
      </p:sp>
      <p:sp>
        <p:nvSpPr>
          <p:cNvPr id="40" name="Text 26"/>
          <p:cNvSpPr txBox="1"/>
          <p:nvPr/>
        </p:nvSpPr>
        <p:spPr>
          <a:xfrm>
            <a:off x="5532120" y="5257800"/>
            <a:ext cx="5989320" cy="36576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Cada venta del lápiz Faber-Castell baja su existencia: 96 vendidos en septiembre.</a:t>
            </a:r>
            <a:endParaRPr lang="en-US" sz="1300" dirty="0"/>
          </a:p>
        </p:txBody>
      </p:sp>
      <p:sp>
        <p:nvSpPr>
          <p:cNvPr id="41" name="Text 27"/>
          <p:cNvSpPr txBox="1"/>
          <p:nvPr/>
        </p:nvSpPr>
        <p:spPr>
          <a:xfrm>
            <a:off x="4343400" y="5669280"/>
            <a:ext cx="1188720" cy="365760"/>
          </a:xfrm>
          <a:prstGeom prst="rect">
            <a:avLst/>
          </a:prstGeom>
          <a:noFill/>
          <a:ln/>
        </p:spPr>
        <p:txBody>
          <a:bodyPr wrap="square" lIns="0" tIns="0" rIns="0" bIns="0" rtlCol="0" anchor="ctr"/>
          <a:lstStyle/>
          <a:p>
            <a:pPr indent="0" marL="0">
              <a:buNone/>
            </a:pPr>
            <a:r>
              <a:rPr lang="en-US" sz="1300" b="1" dirty="0">
                <a:solidFill>
                  <a:srgbClr val="C62828"/>
                </a:solidFill>
                <a:latin typeface="Calibri" pitchFamily="34" charset="0"/>
                <a:ea typeface="Calibri" pitchFamily="34" charset="-122"/>
                <a:cs typeface="Calibri" pitchFamily="34" charset="-120"/>
              </a:rPr>
              <a:t>Resumen</a:t>
            </a:r>
            <a:endParaRPr lang="en-US" sz="1300" dirty="0"/>
          </a:p>
        </p:txBody>
      </p:sp>
      <p:sp>
        <p:nvSpPr>
          <p:cNvPr id="42" name="Text 28"/>
          <p:cNvSpPr txBox="1"/>
          <p:nvPr/>
        </p:nvSpPr>
        <p:spPr>
          <a:xfrm>
            <a:off x="5532120" y="5669280"/>
            <a:ext cx="5989320" cy="36576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Con esas facturas se arman los gráficos y la lista de productos por agotarse.</a:t>
            </a:r>
            <a:endParaRPr lang="en-US" sz="1300" dirty="0"/>
          </a:p>
        </p:txBody>
      </p:sp>
      <p:sp>
        <p:nvSpPr>
          <p:cNvPr id="43" name="Text 29"/>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A94A3"/>
                </a:solidFill>
                <a:latin typeface="Calibri" pitchFamily="34" charset="0"/>
                <a:ea typeface="Calibri" pitchFamily="34" charset="-122"/>
                <a:cs typeface="Calibri" pitchFamily="34" charset="-120"/>
              </a:rPr>
              <a:t>Programación II · Sistema de Ventas</a:t>
            </a:r>
            <a:endParaRPr lang="en-US" sz="1000" dirty="0"/>
          </a:p>
        </p:txBody>
      </p:sp>
      <p:sp>
        <p:nvSpPr>
          <p:cNvPr id="44" name="Text 30"/>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000" dirty="0">
                <a:solidFill>
                  <a:srgbClr val="8A94A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La app Android trabaja sobre la misma base de datos</a:t>
            </a:r>
            <a:endParaRPr lang="en-US" sz="3200" dirty="0"/>
          </a:p>
        </p:txBody>
      </p:sp>
      <p:sp>
        <p:nvSpPr>
          <p:cNvPr id="3" name="Text 1"/>
          <p:cNvSpPr txBox="1"/>
          <p:nvPr/>
        </p:nvSpPr>
        <p:spPr>
          <a:xfrm>
            <a:off x="548640" y="987552"/>
            <a:ext cx="11091672" cy="365760"/>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Una venta hecha en el celular aparece en el escritorio</a:t>
            </a:r>
            <a:endParaRPr lang="en-US" sz="1500" dirty="0"/>
          </a:p>
        </p:txBody>
      </p:sp>
      <p:sp>
        <p:nvSpPr>
          <p:cNvPr id="4" name="Shape 2"/>
          <p:cNvSpPr/>
          <p:nvPr/>
        </p:nvSpPr>
        <p:spPr>
          <a:xfrm>
            <a:off x="548640" y="1600200"/>
            <a:ext cx="3383280" cy="1234440"/>
          </a:xfrm>
          <a:prstGeom prst="roundRect">
            <a:avLst>
              <a:gd name="adj" fmla="val 7407"/>
            </a:avLst>
          </a:prstGeom>
          <a:solidFill>
            <a:srgbClr val="EEF3F9"/>
          </a:solidFill>
          <a:ln w="12700">
            <a:solidFill>
              <a:srgbClr val="EEF3F9"/>
            </a:solidFill>
            <a:prstDash val="solid"/>
          </a:ln>
        </p:spPr>
      </p:sp>
      <p:sp>
        <p:nvSpPr>
          <p:cNvPr id="5" name="Shape 3"/>
          <p:cNvSpPr/>
          <p:nvPr/>
        </p:nvSpPr>
        <p:spPr>
          <a:xfrm>
            <a:off x="749808" y="1874520"/>
            <a:ext cx="658368" cy="658368"/>
          </a:xfrm>
          <a:prstGeom prst="ellipse">
            <a:avLst/>
          </a:prstGeom>
          <a:solidFill>
            <a:srgbClr val="C62828"/>
          </a:solidFill>
          <a:ln w="12700">
            <a:solidFill>
              <a:srgbClr val="C62828"/>
            </a:solidFill>
            <a:prstDash val="solid"/>
          </a:ln>
        </p:spPr>
      </p:sp>
      <p:pic>
        <p:nvPicPr>
          <p:cNvPr id="6" name="Image 0" descr="preencoded.png">    </p:cNvPr>
          <p:cNvPicPr>
            <a:picLocks noChangeAspect="1"/>
          </p:cNvPicPr>
          <p:nvPr/>
        </p:nvPicPr>
        <p:blipFill>
          <a:blip r:embed="rId1"/>
          <a:stretch>
            <a:fillRect/>
          </a:stretch>
        </p:blipFill>
        <p:spPr>
          <a:xfrm>
            <a:off x="896112" y="2020824"/>
            <a:ext cx="365760" cy="365760"/>
          </a:xfrm>
          <a:prstGeom prst="rect">
            <a:avLst/>
          </a:prstGeom>
        </p:spPr>
      </p:pic>
      <p:sp>
        <p:nvSpPr>
          <p:cNvPr id="7" name="Text 4"/>
          <p:cNvSpPr txBox="1"/>
          <p:nvPr/>
        </p:nvSpPr>
        <p:spPr>
          <a:xfrm>
            <a:off x="1572768" y="1801368"/>
            <a:ext cx="2286000" cy="384048"/>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Inicio de sesión</a:t>
            </a:r>
            <a:endParaRPr lang="en-US" sz="1500" dirty="0"/>
          </a:p>
        </p:txBody>
      </p:sp>
      <p:sp>
        <p:nvSpPr>
          <p:cNvPr id="8" name="Text 5"/>
          <p:cNvSpPr txBox="1"/>
          <p:nvPr/>
        </p:nvSpPr>
        <p:spPr>
          <a:xfrm>
            <a:off x="1572768" y="2185416"/>
            <a:ext cx="2286000" cy="502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Token temporal de 8 horas</a:t>
            </a:r>
            <a:endParaRPr lang="en-US" sz="1200" dirty="0"/>
          </a:p>
        </p:txBody>
      </p:sp>
      <p:sp>
        <p:nvSpPr>
          <p:cNvPr id="9" name="Shape 6"/>
          <p:cNvSpPr/>
          <p:nvPr/>
        </p:nvSpPr>
        <p:spPr>
          <a:xfrm>
            <a:off x="4160520" y="1600200"/>
            <a:ext cx="3383280" cy="1234440"/>
          </a:xfrm>
          <a:prstGeom prst="roundRect">
            <a:avLst>
              <a:gd name="adj" fmla="val 7407"/>
            </a:avLst>
          </a:prstGeom>
          <a:solidFill>
            <a:srgbClr val="EEF3F9"/>
          </a:solidFill>
          <a:ln w="12700">
            <a:solidFill>
              <a:srgbClr val="EEF3F9"/>
            </a:solidFill>
            <a:prstDash val="solid"/>
          </a:ln>
        </p:spPr>
      </p:sp>
      <p:sp>
        <p:nvSpPr>
          <p:cNvPr id="10" name="Shape 7"/>
          <p:cNvSpPr/>
          <p:nvPr/>
        </p:nvSpPr>
        <p:spPr>
          <a:xfrm>
            <a:off x="4361688" y="1874520"/>
            <a:ext cx="658368" cy="658368"/>
          </a:xfrm>
          <a:prstGeom prst="ellipse">
            <a:avLst/>
          </a:prstGeom>
          <a:solidFill>
            <a:srgbClr val="C62828"/>
          </a:solidFill>
          <a:ln w="12700">
            <a:solidFill>
              <a:srgbClr val="C62828"/>
            </a:solidFill>
            <a:prstDash val="solid"/>
          </a:ln>
        </p:spPr>
      </p:sp>
      <p:pic>
        <p:nvPicPr>
          <p:cNvPr id="11" name="Image 1" descr="preencoded.png">    </p:cNvPr>
          <p:cNvPicPr>
            <a:picLocks noChangeAspect="1"/>
          </p:cNvPicPr>
          <p:nvPr/>
        </p:nvPicPr>
        <p:blipFill>
          <a:blip r:embed="rId2"/>
          <a:stretch>
            <a:fillRect/>
          </a:stretch>
        </p:blipFill>
        <p:spPr>
          <a:xfrm>
            <a:off x="4507992" y="2020824"/>
            <a:ext cx="365760" cy="365760"/>
          </a:xfrm>
          <a:prstGeom prst="rect">
            <a:avLst/>
          </a:prstGeom>
        </p:spPr>
      </p:pic>
      <p:sp>
        <p:nvSpPr>
          <p:cNvPr id="12" name="Text 8"/>
          <p:cNvSpPr txBox="1"/>
          <p:nvPr/>
        </p:nvSpPr>
        <p:spPr>
          <a:xfrm>
            <a:off x="5184648" y="1801368"/>
            <a:ext cx="2286000" cy="384048"/>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Productos y clientes</a:t>
            </a:r>
            <a:endParaRPr lang="en-US" sz="1500" dirty="0"/>
          </a:p>
        </p:txBody>
      </p:sp>
      <p:sp>
        <p:nvSpPr>
          <p:cNvPr id="13" name="Text 9"/>
          <p:cNvSpPr txBox="1"/>
          <p:nvPr/>
        </p:nvSpPr>
        <p:spPr>
          <a:xfrm>
            <a:off x="5184648" y="2185416"/>
            <a:ext cx="2286000" cy="502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Búsqueda y registro de clientes</a:t>
            </a:r>
            <a:endParaRPr lang="en-US" sz="1200" dirty="0"/>
          </a:p>
        </p:txBody>
      </p:sp>
      <p:sp>
        <p:nvSpPr>
          <p:cNvPr id="14" name="Shape 10"/>
          <p:cNvSpPr/>
          <p:nvPr/>
        </p:nvSpPr>
        <p:spPr>
          <a:xfrm>
            <a:off x="548640" y="3063240"/>
            <a:ext cx="3383280" cy="1234440"/>
          </a:xfrm>
          <a:prstGeom prst="roundRect">
            <a:avLst>
              <a:gd name="adj" fmla="val 7407"/>
            </a:avLst>
          </a:prstGeom>
          <a:solidFill>
            <a:srgbClr val="EEF3F9"/>
          </a:solidFill>
          <a:ln w="12700">
            <a:solidFill>
              <a:srgbClr val="EEF3F9"/>
            </a:solidFill>
            <a:prstDash val="solid"/>
          </a:ln>
        </p:spPr>
      </p:sp>
      <p:sp>
        <p:nvSpPr>
          <p:cNvPr id="15" name="Shape 11"/>
          <p:cNvSpPr/>
          <p:nvPr/>
        </p:nvSpPr>
        <p:spPr>
          <a:xfrm>
            <a:off x="749808" y="3337560"/>
            <a:ext cx="658368" cy="658368"/>
          </a:xfrm>
          <a:prstGeom prst="ellipse">
            <a:avLst/>
          </a:prstGeom>
          <a:solidFill>
            <a:srgbClr val="C62828"/>
          </a:solidFill>
          <a:ln w="12700">
            <a:solidFill>
              <a:srgbClr val="C62828"/>
            </a:solidFill>
            <a:prstDash val="solid"/>
          </a:ln>
        </p:spPr>
      </p:sp>
      <p:pic>
        <p:nvPicPr>
          <p:cNvPr id="16" name="Image 2" descr="preencoded.png">    </p:cNvPr>
          <p:cNvPicPr>
            <a:picLocks noChangeAspect="1"/>
          </p:cNvPicPr>
          <p:nvPr/>
        </p:nvPicPr>
        <p:blipFill>
          <a:blip r:embed="rId3"/>
          <a:stretch>
            <a:fillRect/>
          </a:stretch>
        </p:blipFill>
        <p:spPr>
          <a:xfrm>
            <a:off x="896112" y="3483864"/>
            <a:ext cx="365760" cy="365760"/>
          </a:xfrm>
          <a:prstGeom prst="rect">
            <a:avLst/>
          </a:prstGeom>
        </p:spPr>
      </p:pic>
      <p:sp>
        <p:nvSpPr>
          <p:cNvPr id="17" name="Text 12"/>
          <p:cNvSpPr txBox="1"/>
          <p:nvPr/>
        </p:nvSpPr>
        <p:spPr>
          <a:xfrm>
            <a:off x="1572768" y="3264408"/>
            <a:ext cx="2286000" cy="384048"/>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Nueva venta</a:t>
            </a:r>
            <a:endParaRPr lang="en-US" sz="1500" dirty="0"/>
          </a:p>
        </p:txBody>
      </p:sp>
      <p:sp>
        <p:nvSpPr>
          <p:cNvPr id="18" name="Text 13"/>
          <p:cNvSpPr txBox="1"/>
          <p:nvPr/>
        </p:nvSpPr>
        <p:spPr>
          <a:xfrm>
            <a:off x="1572768" y="3648456"/>
            <a:ext cx="2286000" cy="502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Factura desde el celular; valida existencia</a:t>
            </a:r>
            <a:endParaRPr lang="en-US" sz="1200" dirty="0"/>
          </a:p>
        </p:txBody>
      </p:sp>
      <p:sp>
        <p:nvSpPr>
          <p:cNvPr id="19" name="Shape 14"/>
          <p:cNvSpPr/>
          <p:nvPr/>
        </p:nvSpPr>
        <p:spPr>
          <a:xfrm>
            <a:off x="4160520" y="3063240"/>
            <a:ext cx="3383280" cy="1234440"/>
          </a:xfrm>
          <a:prstGeom prst="roundRect">
            <a:avLst>
              <a:gd name="adj" fmla="val 7407"/>
            </a:avLst>
          </a:prstGeom>
          <a:solidFill>
            <a:srgbClr val="EEF3F9"/>
          </a:solidFill>
          <a:ln w="12700">
            <a:solidFill>
              <a:srgbClr val="EEF3F9"/>
            </a:solidFill>
            <a:prstDash val="solid"/>
          </a:ln>
        </p:spPr>
      </p:sp>
      <p:sp>
        <p:nvSpPr>
          <p:cNvPr id="20" name="Shape 15"/>
          <p:cNvSpPr/>
          <p:nvPr/>
        </p:nvSpPr>
        <p:spPr>
          <a:xfrm>
            <a:off x="4361688" y="3337560"/>
            <a:ext cx="658368" cy="658368"/>
          </a:xfrm>
          <a:prstGeom prst="ellipse">
            <a:avLst/>
          </a:prstGeom>
          <a:solidFill>
            <a:srgbClr val="C62828"/>
          </a:solidFill>
          <a:ln w="12700">
            <a:solidFill>
              <a:srgbClr val="C62828"/>
            </a:solidFill>
            <a:prstDash val="solid"/>
          </a:ln>
        </p:spPr>
      </p:sp>
      <p:pic>
        <p:nvPicPr>
          <p:cNvPr id="21" name="Image 3" descr="preencoded.png">    </p:cNvPr>
          <p:cNvPicPr>
            <a:picLocks noChangeAspect="1"/>
          </p:cNvPicPr>
          <p:nvPr/>
        </p:nvPicPr>
        <p:blipFill>
          <a:blip r:embed="rId4"/>
          <a:stretch>
            <a:fillRect/>
          </a:stretch>
        </p:blipFill>
        <p:spPr>
          <a:xfrm>
            <a:off x="4507992" y="3483864"/>
            <a:ext cx="365760" cy="365760"/>
          </a:xfrm>
          <a:prstGeom prst="rect">
            <a:avLst/>
          </a:prstGeom>
        </p:spPr>
      </p:pic>
      <p:sp>
        <p:nvSpPr>
          <p:cNvPr id="22" name="Text 16"/>
          <p:cNvSpPr txBox="1"/>
          <p:nvPr/>
        </p:nvSpPr>
        <p:spPr>
          <a:xfrm>
            <a:off x="5184648" y="3264408"/>
            <a:ext cx="2286000" cy="384048"/>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Historial de ventas</a:t>
            </a:r>
            <a:endParaRPr lang="en-US" sz="1500" dirty="0"/>
          </a:p>
        </p:txBody>
      </p:sp>
      <p:sp>
        <p:nvSpPr>
          <p:cNvPr id="23" name="Text 17"/>
          <p:cNvSpPr txBox="1"/>
          <p:nvPr/>
        </p:nvSpPr>
        <p:spPr>
          <a:xfrm>
            <a:off x="5184648" y="3648456"/>
            <a:ext cx="2286000" cy="502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Detalle de cada factura</a:t>
            </a:r>
            <a:endParaRPr lang="en-US" sz="1200" dirty="0"/>
          </a:p>
        </p:txBody>
      </p:sp>
      <p:sp>
        <p:nvSpPr>
          <p:cNvPr id="24" name="Shape 18"/>
          <p:cNvSpPr/>
          <p:nvPr/>
        </p:nvSpPr>
        <p:spPr>
          <a:xfrm>
            <a:off x="548640" y="4526280"/>
            <a:ext cx="3383280" cy="1234440"/>
          </a:xfrm>
          <a:prstGeom prst="roundRect">
            <a:avLst>
              <a:gd name="adj" fmla="val 7407"/>
            </a:avLst>
          </a:prstGeom>
          <a:solidFill>
            <a:srgbClr val="EEF3F9"/>
          </a:solidFill>
          <a:ln w="12700">
            <a:solidFill>
              <a:srgbClr val="EEF3F9"/>
            </a:solidFill>
            <a:prstDash val="solid"/>
          </a:ln>
        </p:spPr>
      </p:sp>
      <p:sp>
        <p:nvSpPr>
          <p:cNvPr id="25" name="Shape 19"/>
          <p:cNvSpPr/>
          <p:nvPr/>
        </p:nvSpPr>
        <p:spPr>
          <a:xfrm>
            <a:off x="749808" y="4800600"/>
            <a:ext cx="658368" cy="658368"/>
          </a:xfrm>
          <a:prstGeom prst="ellipse">
            <a:avLst/>
          </a:prstGeom>
          <a:solidFill>
            <a:srgbClr val="C62828"/>
          </a:solidFill>
          <a:ln w="12700">
            <a:solidFill>
              <a:srgbClr val="C62828"/>
            </a:solidFill>
            <a:prstDash val="solid"/>
          </a:ln>
        </p:spPr>
      </p:sp>
      <p:pic>
        <p:nvPicPr>
          <p:cNvPr id="26" name="Image 4" descr="preencoded.png">    </p:cNvPr>
          <p:cNvPicPr>
            <a:picLocks noChangeAspect="1"/>
          </p:cNvPicPr>
          <p:nvPr/>
        </p:nvPicPr>
        <p:blipFill>
          <a:blip r:embed="rId5"/>
          <a:stretch>
            <a:fillRect/>
          </a:stretch>
        </p:blipFill>
        <p:spPr>
          <a:xfrm>
            <a:off x="896112" y="4946904"/>
            <a:ext cx="365760" cy="365760"/>
          </a:xfrm>
          <a:prstGeom prst="rect">
            <a:avLst/>
          </a:prstGeom>
        </p:spPr>
      </p:pic>
      <p:sp>
        <p:nvSpPr>
          <p:cNvPr id="27" name="Text 20"/>
          <p:cNvSpPr txBox="1"/>
          <p:nvPr/>
        </p:nvSpPr>
        <p:spPr>
          <a:xfrm>
            <a:off x="1572768" y="4727448"/>
            <a:ext cx="2286000" cy="384048"/>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Resumen con gráficos</a:t>
            </a:r>
            <a:endParaRPr lang="en-US" sz="1500" dirty="0"/>
          </a:p>
        </p:txBody>
      </p:sp>
      <p:sp>
        <p:nvSpPr>
          <p:cNvPr id="28" name="Text 21"/>
          <p:cNvSpPr txBox="1"/>
          <p:nvPr/>
        </p:nvSpPr>
        <p:spPr>
          <a:xfrm>
            <a:off x="1572768" y="5111496"/>
            <a:ext cx="2286000" cy="502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Barras y dona dibujadas con Canvas</a:t>
            </a:r>
            <a:endParaRPr lang="en-US" sz="1200" dirty="0"/>
          </a:p>
        </p:txBody>
      </p:sp>
      <p:sp>
        <p:nvSpPr>
          <p:cNvPr id="29" name="Shape 22"/>
          <p:cNvSpPr/>
          <p:nvPr/>
        </p:nvSpPr>
        <p:spPr>
          <a:xfrm>
            <a:off x="4160520" y="4526280"/>
            <a:ext cx="3383280" cy="1234440"/>
          </a:xfrm>
          <a:prstGeom prst="roundRect">
            <a:avLst>
              <a:gd name="adj" fmla="val 7407"/>
            </a:avLst>
          </a:prstGeom>
          <a:solidFill>
            <a:srgbClr val="EEF3F9"/>
          </a:solidFill>
          <a:ln w="12700">
            <a:solidFill>
              <a:srgbClr val="EEF3F9"/>
            </a:solidFill>
            <a:prstDash val="solid"/>
          </a:ln>
        </p:spPr>
      </p:sp>
      <p:sp>
        <p:nvSpPr>
          <p:cNvPr id="30" name="Shape 23"/>
          <p:cNvSpPr/>
          <p:nvPr/>
        </p:nvSpPr>
        <p:spPr>
          <a:xfrm>
            <a:off x="4361688" y="4800600"/>
            <a:ext cx="658368" cy="658368"/>
          </a:xfrm>
          <a:prstGeom prst="ellipse">
            <a:avLst/>
          </a:prstGeom>
          <a:solidFill>
            <a:srgbClr val="C62828"/>
          </a:solidFill>
          <a:ln w="12700">
            <a:solidFill>
              <a:srgbClr val="C62828"/>
            </a:solidFill>
            <a:prstDash val="solid"/>
          </a:ln>
        </p:spPr>
      </p:sp>
      <p:pic>
        <p:nvPicPr>
          <p:cNvPr id="31" name="Image 5" descr="preencoded.png">    </p:cNvPr>
          <p:cNvPicPr>
            <a:picLocks noChangeAspect="1"/>
          </p:cNvPicPr>
          <p:nvPr/>
        </p:nvPicPr>
        <p:blipFill>
          <a:blip r:embed="rId6"/>
          <a:stretch>
            <a:fillRect/>
          </a:stretch>
        </p:blipFill>
        <p:spPr>
          <a:xfrm>
            <a:off x="4507992" y="4946904"/>
            <a:ext cx="365760" cy="365760"/>
          </a:xfrm>
          <a:prstGeom prst="rect">
            <a:avLst/>
          </a:prstGeom>
        </p:spPr>
      </p:pic>
      <p:sp>
        <p:nvSpPr>
          <p:cNvPr id="32" name="Text 24"/>
          <p:cNvSpPr txBox="1"/>
          <p:nvPr/>
        </p:nvSpPr>
        <p:spPr>
          <a:xfrm>
            <a:off x="5184648" y="4727448"/>
            <a:ext cx="2286000" cy="384048"/>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Sin conexión</a:t>
            </a:r>
            <a:endParaRPr lang="en-US" sz="1500" dirty="0"/>
          </a:p>
        </p:txBody>
      </p:sp>
      <p:sp>
        <p:nvSpPr>
          <p:cNvPr id="33" name="Text 25"/>
          <p:cNvSpPr txBox="1"/>
          <p:nvPr/>
        </p:nvSpPr>
        <p:spPr>
          <a:xfrm>
            <a:off x="5184648" y="5111496"/>
            <a:ext cx="2286000" cy="502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Catálogo guardado en el teléfono</a:t>
            </a:r>
            <a:endParaRPr lang="en-US" sz="1200" dirty="0"/>
          </a:p>
        </p:txBody>
      </p:sp>
      <p:sp>
        <p:nvSpPr>
          <p:cNvPr id="34" name="Shape 26"/>
          <p:cNvSpPr/>
          <p:nvPr/>
        </p:nvSpPr>
        <p:spPr>
          <a:xfrm>
            <a:off x="8229600" y="1600200"/>
            <a:ext cx="3429000" cy="4160520"/>
          </a:xfrm>
          <a:prstGeom prst="roundRect">
            <a:avLst>
              <a:gd name="adj" fmla="val 3733"/>
            </a:avLst>
          </a:prstGeom>
          <a:solidFill>
            <a:srgbClr val="0B2545"/>
          </a:solidFill>
          <a:ln w="12700">
            <a:solidFill>
              <a:srgbClr val="0B2545"/>
            </a:solidFill>
            <a:prstDash val="solid"/>
          </a:ln>
        </p:spPr>
      </p:sp>
      <p:sp>
        <p:nvSpPr>
          <p:cNvPr id="35" name="Shape 27"/>
          <p:cNvSpPr/>
          <p:nvPr/>
        </p:nvSpPr>
        <p:spPr>
          <a:xfrm>
            <a:off x="8549640" y="1874520"/>
            <a:ext cx="822960" cy="822960"/>
          </a:xfrm>
          <a:prstGeom prst="ellipse">
            <a:avLst/>
          </a:prstGeom>
          <a:solidFill>
            <a:srgbClr val="1D6FA5"/>
          </a:solidFill>
          <a:ln w="12700">
            <a:solidFill>
              <a:srgbClr val="1D6FA5"/>
            </a:solidFill>
            <a:prstDash val="solid"/>
          </a:ln>
        </p:spPr>
      </p:sp>
      <p:pic>
        <p:nvPicPr>
          <p:cNvPr id="36" name="Image 6" descr="preencoded.png">    </p:cNvPr>
          <p:cNvPicPr>
            <a:picLocks noChangeAspect="1"/>
          </p:cNvPicPr>
          <p:nvPr/>
        </p:nvPicPr>
        <p:blipFill>
          <a:blip r:embed="rId7"/>
          <a:stretch>
            <a:fillRect/>
          </a:stretch>
        </p:blipFill>
        <p:spPr>
          <a:xfrm>
            <a:off x="8732520" y="2057400"/>
            <a:ext cx="457200" cy="457200"/>
          </a:xfrm>
          <a:prstGeom prst="rect">
            <a:avLst/>
          </a:prstGeom>
        </p:spPr>
      </p:pic>
      <p:sp>
        <p:nvSpPr>
          <p:cNvPr id="37" name="Text 28"/>
          <p:cNvSpPr txBox="1"/>
          <p:nvPr/>
        </p:nvSpPr>
        <p:spPr>
          <a:xfrm>
            <a:off x="9509760" y="1874520"/>
            <a:ext cx="2057400" cy="8229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App Android</a:t>
            </a:r>
            <a:endParaRPr lang="en-US" sz="1400" dirty="0"/>
          </a:p>
        </p:txBody>
      </p:sp>
      <p:sp>
        <p:nvSpPr>
          <p:cNvPr id="38" name="Shape 29"/>
          <p:cNvSpPr/>
          <p:nvPr/>
        </p:nvSpPr>
        <p:spPr>
          <a:xfrm>
            <a:off x="8549640" y="3154680"/>
            <a:ext cx="822960" cy="822960"/>
          </a:xfrm>
          <a:prstGeom prst="ellipse">
            <a:avLst/>
          </a:prstGeom>
          <a:solidFill>
            <a:srgbClr val="C9A227"/>
          </a:solidFill>
          <a:ln w="12700">
            <a:solidFill>
              <a:srgbClr val="C9A227"/>
            </a:solidFill>
            <a:prstDash val="solid"/>
          </a:ln>
        </p:spPr>
      </p:sp>
      <p:pic>
        <p:nvPicPr>
          <p:cNvPr id="39" name="Image 7" descr="preencoded.png">    </p:cNvPr>
          <p:cNvPicPr>
            <a:picLocks noChangeAspect="1"/>
          </p:cNvPicPr>
          <p:nvPr/>
        </p:nvPicPr>
        <p:blipFill>
          <a:blip r:embed="rId8"/>
          <a:stretch>
            <a:fillRect/>
          </a:stretch>
        </p:blipFill>
        <p:spPr>
          <a:xfrm>
            <a:off x="8732520" y="3337560"/>
            <a:ext cx="457200" cy="457200"/>
          </a:xfrm>
          <a:prstGeom prst="rect">
            <a:avLst/>
          </a:prstGeom>
        </p:spPr>
      </p:pic>
      <p:sp>
        <p:nvSpPr>
          <p:cNvPr id="40" name="Text 30"/>
          <p:cNvSpPr txBox="1"/>
          <p:nvPr/>
        </p:nvSpPr>
        <p:spPr>
          <a:xfrm>
            <a:off x="9509760" y="3154680"/>
            <a:ext cx="2057400" cy="8229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PostgreSQL · Supabase</a:t>
            </a:r>
            <a:endParaRPr lang="en-US" sz="1400" dirty="0"/>
          </a:p>
        </p:txBody>
      </p:sp>
      <p:sp>
        <p:nvSpPr>
          <p:cNvPr id="41" name="Shape 31"/>
          <p:cNvSpPr/>
          <p:nvPr/>
        </p:nvSpPr>
        <p:spPr>
          <a:xfrm>
            <a:off x="8549640" y="4434840"/>
            <a:ext cx="822960" cy="822960"/>
          </a:xfrm>
          <a:prstGeom prst="ellipse">
            <a:avLst/>
          </a:prstGeom>
          <a:solidFill>
            <a:srgbClr val="1D6FA5"/>
          </a:solidFill>
          <a:ln w="12700">
            <a:solidFill>
              <a:srgbClr val="1D6FA5"/>
            </a:solidFill>
            <a:prstDash val="solid"/>
          </a:ln>
        </p:spPr>
      </p:sp>
      <p:pic>
        <p:nvPicPr>
          <p:cNvPr id="42" name="Image 8" descr="preencoded.png">    </p:cNvPr>
          <p:cNvPicPr>
            <a:picLocks noChangeAspect="1"/>
          </p:cNvPicPr>
          <p:nvPr/>
        </p:nvPicPr>
        <p:blipFill>
          <a:blip r:embed="rId9"/>
          <a:stretch>
            <a:fillRect/>
          </a:stretch>
        </p:blipFill>
        <p:spPr>
          <a:xfrm>
            <a:off x="8732520" y="4617720"/>
            <a:ext cx="457200" cy="457200"/>
          </a:xfrm>
          <a:prstGeom prst="rect">
            <a:avLst/>
          </a:prstGeom>
        </p:spPr>
      </p:pic>
      <p:sp>
        <p:nvSpPr>
          <p:cNvPr id="43" name="Text 32"/>
          <p:cNvSpPr txBox="1"/>
          <p:nvPr/>
        </p:nvSpPr>
        <p:spPr>
          <a:xfrm>
            <a:off x="9509760" y="4434840"/>
            <a:ext cx="2057400" cy="8229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Escritorio Java</a:t>
            </a:r>
            <a:endParaRPr lang="en-US" sz="1400" dirty="0"/>
          </a:p>
        </p:txBody>
      </p:sp>
      <p:sp>
        <p:nvSpPr>
          <p:cNvPr id="44" name="Shape 33"/>
          <p:cNvSpPr/>
          <p:nvPr/>
        </p:nvSpPr>
        <p:spPr>
          <a:xfrm>
            <a:off x="8961120" y="2724912"/>
            <a:ext cx="0" cy="402336"/>
          </a:xfrm>
          <a:prstGeom prst="line">
            <a:avLst/>
          </a:prstGeom>
          <a:noFill/>
          <a:ln w="25400">
            <a:solidFill>
              <a:srgbClr val="9FB3CC"/>
            </a:solidFill>
            <a:prstDash val="solid"/>
            <a:headEnd type="triangle"/>
            <a:tailEnd type="triangle"/>
          </a:ln>
        </p:spPr>
      </p:sp>
      <p:sp>
        <p:nvSpPr>
          <p:cNvPr id="45" name="Shape 34"/>
          <p:cNvSpPr/>
          <p:nvPr/>
        </p:nvSpPr>
        <p:spPr>
          <a:xfrm>
            <a:off x="8961120" y="4005072"/>
            <a:ext cx="0" cy="402336"/>
          </a:xfrm>
          <a:prstGeom prst="line">
            <a:avLst/>
          </a:prstGeom>
          <a:noFill/>
          <a:ln w="25400">
            <a:solidFill>
              <a:srgbClr val="9FB3CC"/>
            </a:solidFill>
            <a:prstDash val="solid"/>
            <a:headEnd type="triangle"/>
            <a:tailEnd type="triangle"/>
          </a:ln>
        </p:spPr>
      </p:sp>
      <p:sp>
        <p:nvSpPr>
          <p:cNvPr id="46" name="Text 35"/>
          <p:cNvSpPr txBox="1"/>
          <p:nvPr/>
        </p:nvSpPr>
        <p:spPr>
          <a:xfrm>
            <a:off x="548640" y="5989320"/>
            <a:ext cx="10972800" cy="320040"/>
          </a:xfrm>
          <a:prstGeom prst="rect">
            <a:avLst/>
          </a:prstGeom>
          <a:noFill/>
          <a:ln/>
        </p:spPr>
        <p:txBody>
          <a:bodyPr wrap="square" lIns="0" tIns="0" rIns="0" bIns="0" rtlCol="0" anchor="ctr"/>
          <a:lstStyle/>
          <a:p>
            <a:pPr indent="0" marL="0">
              <a:buNone/>
            </a:pPr>
            <a:r>
              <a:rPr lang="en-US" sz="1300" i="1" dirty="0">
                <a:solidFill>
                  <a:srgbClr val="5B6472"/>
                </a:solidFill>
                <a:latin typeface="Calibri" pitchFamily="34" charset="0"/>
                <a:ea typeface="Calibri" pitchFamily="34" charset="-122"/>
                <a:cs typeface="Calibri" pitchFamily="34" charset="-120"/>
              </a:rPr>
              <a:t>Tema claro de 06:00 a 18:00 y oscuro de 18:00 a 06:00, en ambas aplicaciones.</a:t>
            </a:r>
            <a:endParaRPr lang="en-US" sz="1300" dirty="0"/>
          </a:p>
        </p:txBody>
      </p:sp>
      <p:sp>
        <p:nvSpPr>
          <p:cNvPr id="47" name="Text 3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A94A3"/>
                </a:solidFill>
                <a:latin typeface="Calibri" pitchFamily="34" charset="0"/>
                <a:ea typeface="Calibri" pitchFamily="34" charset="-122"/>
                <a:cs typeface="Calibri" pitchFamily="34" charset="-120"/>
              </a:rPr>
              <a:t>Programación II · Sistema de Ventas</a:t>
            </a:r>
            <a:endParaRPr lang="en-US" sz="1000" dirty="0"/>
          </a:p>
        </p:txBody>
      </p:sp>
      <p:sp>
        <p:nvSpPr>
          <p:cNvPr id="48" name="Text 37"/>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000" dirty="0">
                <a:solidFill>
                  <a:srgbClr val="8A94A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El sistema protege contraseñas, datos y consultas</a:t>
            </a:r>
            <a:endParaRPr lang="en-US" sz="3200" dirty="0"/>
          </a:p>
        </p:txBody>
      </p:sp>
      <p:sp>
        <p:nvSpPr>
          <p:cNvPr id="3" name="Text 1"/>
          <p:cNvSpPr txBox="1"/>
          <p:nvPr/>
        </p:nvSpPr>
        <p:spPr>
          <a:xfrm>
            <a:off x="548640" y="987552"/>
            <a:ext cx="11091672" cy="365760"/>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Buenas prácticas de código seguro en ambas aplicaciones</a:t>
            </a:r>
            <a:endParaRPr lang="en-US" sz="1500" dirty="0"/>
          </a:p>
        </p:txBody>
      </p:sp>
      <p:sp>
        <p:nvSpPr>
          <p:cNvPr id="4" name="Shape 2"/>
          <p:cNvSpPr/>
          <p:nvPr/>
        </p:nvSpPr>
        <p:spPr>
          <a:xfrm>
            <a:off x="548640" y="1600200"/>
            <a:ext cx="3520440" cy="2011680"/>
          </a:xfrm>
          <a:prstGeom prst="roundRect">
            <a:avLst>
              <a:gd name="adj" fmla="val 4545"/>
            </a:avLst>
          </a:prstGeom>
          <a:solidFill>
            <a:srgbClr val="FFFFFF"/>
          </a:solidFill>
          <a:ln w="12700">
            <a:solidFill>
              <a:srgbClr val="D5DEEA"/>
            </a:solidFill>
            <a:prstDash val="solid"/>
          </a:ln>
          <a:effectLst>
            <a:outerShdw sx="100000" sy="100000" kx="0" ky="0" algn="bl" rotWithShape="0" blurRad="101600" dist="25400" dir="5400000">
              <a:srgbClr val="000000">
                <a:alpha val="18000"/>
              </a:srgbClr>
            </a:outerShdw>
          </a:effectLst>
        </p:spPr>
      </p:sp>
      <p:sp>
        <p:nvSpPr>
          <p:cNvPr id="5" name="Shape 3"/>
          <p:cNvSpPr/>
          <p:nvPr/>
        </p:nvSpPr>
        <p:spPr>
          <a:xfrm>
            <a:off x="822960" y="1874520"/>
            <a:ext cx="640080" cy="640080"/>
          </a:xfrm>
          <a:prstGeom prst="ellipse">
            <a:avLst/>
          </a:prstGeom>
          <a:solidFill>
            <a:srgbClr val="0B2545"/>
          </a:solidFill>
          <a:ln w="12700">
            <a:solidFill>
              <a:srgbClr val="0B2545"/>
            </a:solidFill>
            <a:prstDash val="solid"/>
          </a:ln>
        </p:spPr>
      </p:sp>
      <p:pic>
        <p:nvPicPr>
          <p:cNvPr id="6" name="Image 0" descr="preencoded.png">    </p:cNvPr>
          <p:cNvPicPr>
            <a:picLocks noChangeAspect="1"/>
          </p:cNvPicPr>
          <p:nvPr/>
        </p:nvPicPr>
        <p:blipFill>
          <a:blip r:embed="rId1"/>
          <a:stretch>
            <a:fillRect/>
          </a:stretch>
        </p:blipFill>
        <p:spPr>
          <a:xfrm>
            <a:off x="978408" y="2029968"/>
            <a:ext cx="329184" cy="329184"/>
          </a:xfrm>
          <a:prstGeom prst="rect">
            <a:avLst/>
          </a:prstGeom>
        </p:spPr>
      </p:pic>
      <p:sp>
        <p:nvSpPr>
          <p:cNvPr id="7" name="Text 4"/>
          <p:cNvSpPr txBox="1"/>
          <p:nvPr/>
        </p:nvSpPr>
        <p:spPr>
          <a:xfrm>
            <a:off x="822960" y="2606040"/>
            <a:ext cx="301752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Contraseñas con bcrypt</a:t>
            </a:r>
            <a:endParaRPr lang="en-US" sz="1600" dirty="0"/>
          </a:p>
        </p:txBody>
      </p:sp>
      <p:sp>
        <p:nvSpPr>
          <p:cNvPr id="8" name="Text 5"/>
          <p:cNvSpPr txBox="1"/>
          <p:nvPr/>
        </p:nvSpPr>
        <p:spPr>
          <a:xfrm>
            <a:off x="822960" y="2971800"/>
            <a:ext cx="3017520" cy="566928"/>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Nunca se guarda la contraseña, solo su hash con sal.</a:t>
            </a:r>
            <a:endParaRPr lang="en-US" sz="1250" dirty="0"/>
          </a:p>
        </p:txBody>
      </p:sp>
      <p:sp>
        <p:nvSpPr>
          <p:cNvPr id="9" name="Shape 6"/>
          <p:cNvSpPr/>
          <p:nvPr/>
        </p:nvSpPr>
        <p:spPr>
          <a:xfrm>
            <a:off x="4297680" y="1600200"/>
            <a:ext cx="3520440" cy="2011680"/>
          </a:xfrm>
          <a:prstGeom prst="roundRect">
            <a:avLst>
              <a:gd name="adj" fmla="val 4545"/>
            </a:avLst>
          </a:prstGeom>
          <a:solidFill>
            <a:srgbClr val="FFFFFF"/>
          </a:solidFill>
          <a:ln w="12700">
            <a:solidFill>
              <a:srgbClr val="D5DEEA"/>
            </a:solidFill>
            <a:prstDash val="solid"/>
          </a:ln>
          <a:effectLst>
            <a:outerShdw sx="100000" sy="100000" kx="0" ky="0" algn="bl" rotWithShape="0" blurRad="101600" dist="25400" dir="5400000">
              <a:srgbClr val="000000">
                <a:alpha val="18000"/>
              </a:srgbClr>
            </a:outerShdw>
          </a:effectLst>
        </p:spPr>
      </p:sp>
      <p:sp>
        <p:nvSpPr>
          <p:cNvPr id="10" name="Shape 7"/>
          <p:cNvSpPr/>
          <p:nvPr/>
        </p:nvSpPr>
        <p:spPr>
          <a:xfrm>
            <a:off x="4572000" y="1874520"/>
            <a:ext cx="640080" cy="640080"/>
          </a:xfrm>
          <a:prstGeom prst="ellipse">
            <a:avLst/>
          </a:prstGeom>
          <a:solidFill>
            <a:srgbClr val="1D6FA5"/>
          </a:solidFill>
          <a:ln w="12700">
            <a:solidFill>
              <a:srgbClr val="1D6FA5"/>
            </a:solidFill>
            <a:prstDash val="solid"/>
          </a:ln>
        </p:spPr>
      </p:sp>
      <p:pic>
        <p:nvPicPr>
          <p:cNvPr id="11" name="Image 1" descr="preencoded.png">    </p:cNvPr>
          <p:cNvPicPr>
            <a:picLocks noChangeAspect="1"/>
          </p:cNvPicPr>
          <p:nvPr/>
        </p:nvPicPr>
        <p:blipFill>
          <a:blip r:embed="rId2"/>
          <a:stretch>
            <a:fillRect/>
          </a:stretch>
        </p:blipFill>
        <p:spPr>
          <a:xfrm>
            <a:off x="4727448" y="2029968"/>
            <a:ext cx="329184" cy="329184"/>
          </a:xfrm>
          <a:prstGeom prst="rect">
            <a:avLst/>
          </a:prstGeom>
        </p:spPr>
      </p:pic>
      <p:sp>
        <p:nvSpPr>
          <p:cNvPr id="12" name="Text 8"/>
          <p:cNvSpPr txBox="1"/>
          <p:nvPr/>
        </p:nvSpPr>
        <p:spPr>
          <a:xfrm>
            <a:off x="4572000" y="2606040"/>
            <a:ext cx="301752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Roles e intentos</a:t>
            </a:r>
            <a:endParaRPr lang="en-US" sz="1600" dirty="0"/>
          </a:p>
        </p:txBody>
      </p:sp>
      <p:sp>
        <p:nvSpPr>
          <p:cNvPr id="13" name="Text 9"/>
          <p:cNvSpPr txBox="1"/>
          <p:nvPr/>
        </p:nvSpPr>
        <p:spPr>
          <a:xfrm>
            <a:off x="4572000" y="2971800"/>
            <a:ext cx="3017520" cy="566928"/>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Administrador y vendedor; tras 3 intentos fallidos el programa se cierra.</a:t>
            </a:r>
            <a:endParaRPr lang="en-US" sz="1250" dirty="0"/>
          </a:p>
        </p:txBody>
      </p:sp>
      <p:sp>
        <p:nvSpPr>
          <p:cNvPr id="14" name="Shape 10"/>
          <p:cNvSpPr/>
          <p:nvPr/>
        </p:nvSpPr>
        <p:spPr>
          <a:xfrm>
            <a:off x="8046720" y="1600200"/>
            <a:ext cx="3520440" cy="2011680"/>
          </a:xfrm>
          <a:prstGeom prst="roundRect">
            <a:avLst>
              <a:gd name="adj" fmla="val 4545"/>
            </a:avLst>
          </a:prstGeom>
          <a:solidFill>
            <a:srgbClr val="FFFFFF"/>
          </a:solidFill>
          <a:ln w="12700">
            <a:solidFill>
              <a:srgbClr val="D5DEEA"/>
            </a:solidFill>
            <a:prstDash val="solid"/>
          </a:ln>
          <a:effectLst>
            <a:outerShdw sx="100000" sy="100000" kx="0" ky="0" algn="bl" rotWithShape="0" blurRad="101600" dist="25400" dir="5400000">
              <a:srgbClr val="000000">
                <a:alpha val="18000"/>
              </a:srgbClr>
            </a:outerShdw>
          </a:effectLst>
        </p:spPr>
      </p:sp>
      <p:sp>
        <p:nvSpPr>
          <p:cNvPr id="15" name="Shape 11"/>
          <p:cNvSpPr/>
          <p:nvPr/>
        </p:nvSpPr>
        <p:spPr>
          <a:xfrm>
            <a:off x="8321040" y="1874520"/>
            <a:ext cx="640080" cy="640080"/>
          </a:xfrm>
          <a:prstGeom prst="ellipse">
            <a:avLst/>
          </a:prstGeom>
          <a:solidFill>
            <a:srgbClr val="0B2545"/>
          </a:solidFill>
          <a:ln w="12700">
            <a:solidFill>
              <a:srgbClr val="0B2545"/>
            </a:solidFill>
            <a:prstDash val="solid"/>
          </a:ln>
        </p:spPr>
      </p:sp>
      <p:pic>
        <p:nvPicPr>
          <p:cNvPr id="16" name="Image 2" descr="preencoded.png">    </p:cNvPr>
          <p:cNvPicPr>
            <a:picLocks noChangeAspect="1"/>
          </p:cNvPicPr>
          <p:nvPr/>
        </p:nvPicPr>
        <p:blipFill>
          <a:blip r:embed="rId3"/>
          <a:stretch>
            <a:fillRect/>
          </a:stretch>
        </p:blipFill>
        <p:spPr>
          <a:xfrm>
            <a:off x="8476488" y="2029968"/>
            <a:ext cx="329184" cy="329184"/>
          </a:xfrm>
          <a:prstGeom prst="rect">
            <a:avLst/>
          </a:prstGeom>
        </p:spPr>
      </p:pic>
      <p:sp>
        <p:nvSpPr>
          <p:cNvPr id="17" name="Text 12"/>
          <p:cNvSpPr txBox="1"/>
          <p:nvPr/>
        </p:nvSpPr>
        <p:spPr>
          <a:xfrm>
            <a:off x="8321040" y="2606040"/>
            <a:ext cx="301752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Sin inyección SQL</a:t>
            </a:r>
            <a:endParaRPr lang="en-US" sz="1600" dirty="0"/>
          </a:p>
        </p:txBody>
      </p:sp>
      <p:sp>
        <p:nvSpPr>
          <p:cNvPr id="18" name="Text 13"/>
          <p:cNvSpPr txBox="1"/>
          <p:nvPr/>
        </p:nvSpPr>
        <p:spPr>
          <a:xfrm>
            <a:off x="8321040" y="2971800"/>
            <a:ext cx="3017520" cy="566928"/>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Todas las consultas usan PreparedStatement con parámetros.</a:t>
            </a:r>
            <a:endParaRPr lang="en-US" sz="1250" dirty="0"/>
          </a:p>
        </p:txBody>
      </p:sp>
      <p:sp>
        <p:nvSpPr>
          <p:cNvPr id="19" name="Shape 14"/>
          <p:cNvSpPr/>
          <p:nvPr/>
        </p:nvSpPr>
        <p:spPr>
          <a:xfrm>
            <a:off x="548640" y="3886200"/>
            <a:ext cx="3520440" cy="2011680"/>
          </a:xfrm>
          <a:prstGeom prst="roundRect">
            <a:avLst>
              <a:gd name="adj" fmla="val 4545"/>
            </a:avLst>
          </a:prstGeom>
          <a:solidFill>
            <a:srgbClr val="FFFFFF"/>
          </a:solidFill>
          <a:ln w="12700">
            <a:solidFill>
              <a:srgbClr val="D5DEEA"/>
            </a:solidFill>
            <a:prstDash val="solid"/>
          </a:ln>
          <a:effectLst>
            <a:outerShdw sx="100000" sy="100000" kx="0" ky="0" algn="bl" rotWithShape="0" blurRad="101600" dist="25400" dir="5400000">
              <a:srgbClr val="000000">
                <a:alpha val="18000"/>
              </a:srgbClr>
            </a:outerShdw>
          </a:effectLst>
        </p:spPr>
      </p:sp>
      <p:sp>
        <p:nvSpPr>
          <p:cNvPr id="20" name="Shape 15"/>
          <p:cNvSpPr/>
          <p:nvPr/>
        </p:nvSpPr>
        <p:spPr>
          <a:xfrm>
            <a:off x="822960" y="4160520"/>
            <a:ext cx="640080" cy="640080"/>
          </a:xfrm>
          <a:prstGeom prst="ellipse">
            <a:avLst/>
          </a:prstGeom>
          <a:solidFill>
            <a:srgbClr val="1D6FA5"/>
          </a:solidFill>
          <a:ln w="12700">
            <a:solidFill>
              <a:srgbClr val="1D6FA5"/>
            </a:solidFill>
            <a:prstDash val="solid"/>
          </a:ln>
        </p:spPr>
      </p:sp>
      <p:pic>
        <p:nvPicPr>
          <p:cNvPr id="21" name="Image 3" descr="preencoded.png">    </p:cNvPr>
          <p:cNvPicPr>
            <a:picLocks noChangeAspect="1"/>
          </p:cNvPicPr>
          <p:nvPr/>
        </p:nvPicPr>
        <p:blipFill>
          <a:blip r:embed="rId4"/>
          <a:stretch>
            <a:fillRect/>
          </a:stretch>
        </p:blipFill>
        <p:spPr>
          <a:xfrm>
            <a:off x="978408" y="4315968"/>
            <a:ext cx="329184" cy="329184"/>
          </a:xfrm>
          <a:prstGeom prst="rect">
            <a:avLst/>
          </a:prstGeom>
        </p:spPr>
      </p:pic>
      <p:sp>
        <p:nvSpPr>
          <p:cNvPr id="22" name="Text 16"/>
          <p:cNvSpPr txBox="1"/>
          <p:nvPr/>
        </p:nvSpPr>
        <p:spPr>
          <a:xfrm>
            <a:off x="822960" y="4892040"/>
            <a:ext cx="301752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Transacciones</a:t>
            </a:r>
            <a:endParaRPr lang="en-US" sz="1600" dirty="0"/>
          </a:p>
        </p:txBody>
      </p:sp>
      <p:sp>
        <p:nvSpPr>
          <p:cNvPr id="23" name="Text 17"/>
          <p:cNvSpPr txBox="1"/>
          <p:nvPr/>
        </p:nvSpPr>
        <p:spPr>
          <a:xfrm>
            <a:off x="822960" y="5257800"/>
            <a:ext cx="3017520" cy="566928"/>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Factura, detalle y existencia se guardan juntos o no se guarda nada.</a:t>
            </a:r>
            <a:endParaRPr lang="en-US" sz="1250" dirty="0"/>
          </a:p>
        </p:txBody>
      </p:sp>
      <p:sp>
        <p:nvSpPr>
          <p:cNvPr id="24" name="Shape 18"/>
          <p:cNvSpPr/>
          <p:nvPr/>
        </p:nvSpPr>
        <p:spPr>
          <a:xfrm>
            <a:off x="4297680" y="3886200"/>
            <a:ext cx="3520440" cy="2011680"/>
          </a:xfrm>
          <a:prstGeom prst="roundRect">
            <a:avLst>
              <a:gd name="adj" fmla="val 4545"/>
            </a:avLst>
          </a:prstGeom>
          <a:solidFill>
            <a:srgbClr val="FFFFFF"/>
          </a:solidFill>
          <a:ln w="12700">
            <a:solidFill>
              <a:srgbClr val="D5DEEA"/>
            </a:solidFill>
            <a:prstDash val="solid"/>
          </a:ln>
          <a:effectLst>
            <a:outerShdw sx="100000" sy="100000" kx="0" ky="0" algn="bl" rotWithShape="0" blurRad="101600" dist="25400" dir="5400000">
              <a:srgbClr val="000000">
                <a:alpha val="18000"/>
              </a:srgbClr>
            </a:outerShdw>
          </a:effectLst>
        </p:spPr>
      </p:sp>
      <p:sp>
        <p:nvSpPr>
          <p:cNvPr id="25" name="Shape 19"/>
          <p:cNvSpPr/>
          <p:nvPr/>
        </p:nvSpPr>
        <p:spPr>
          <a:xfrm>
            <a:off x="4572000" y="4160520"/>
            <a:ext cx="640080" cy="640080"/>
          </a:xfrm>
          <a:prstGeom prst="ellipse">
            <a:avLst/>
          </a:prstGeom>
          <a:solidFill>
            <a:srgbClr val="0B2545"/>
          </a:solidFill>
          <a:ln w="12700">
            <a:solidFill>
              <a:srgbClr val="0B2545"/>
            </a:solidFill>
            <a:prstDash val="solid"/>
          </a:ln>
        </p:spPr>
      </p:sp>
      <p:pic>
        <p:nvPicPr>
          <p:cNvPr id="26" name="Image 4" descr="preencoded.png">    </p:cNvPr>
          <p:cNvPicPr>
            <a:picLocks noChangeAspect="1"/>
          </p:cNvPicPr>
          <p:nvPr/>
        </p:nvPicPr>
        <p:blipFill>
          <a:blip r:embed="rId5"/>
          <a:stretch>
            <a:fillRect/>
          </a:stretch>
        </p:blipFill>
        <p:spPr>
          <a:xfrm>
            <a:off x="4727448" y="4315968"/>
            <a:ext cx="329184" cy="329184"/>
          </a:xfrm>
          <a:prstGeom prst="rect">
            <a:avLst/>
          </a:prstGeom>
        </p:spPr>
      </p:pic>
      <p:sp>
        <p:nvSpPr>
          <p:cNvPr id="27" name="Text 20"/>
          <p:cNvSpPr txBox="1"/>
          <p:nvPr/>
        </p:nvSpPr>
        <p:spPr>
          <a:xfrm>
            <a:off x="4572000" y="4892040"/>
            <a:ext cx="301752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Base protegida</a:t>
            </a:r>
            <a:endParaRPr lang="en-US" sz="1600" dirty="0"/>
          </a:p>
        </p:txBody>
      </p:sp>
      <p:sp>
        <p:nvSpPr>
          <p:cNvPr id="28" name="Text 21"/>
          <p:cNvSpPr txBox="1"/>
          <p:nvPr/>
        </p:nvSpPr>
        <p:spPr>
          <a:xfrm>
            <a:off x="4572000" y="5257800"/>
            <a:ext cx="3017520" cy="566928"/>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RLS activo: la app móvil solo usa funciones que validan su token.</a:t>
            </a:r>
            <a:endParaRPr lang="en-US" sz="1250" dirty="0"/>
          </a:p>
        </p:txBody>
      </p:sp>
      <p:sp>
        <p:nvSpPr>
          <p:cNvPr id="29" name="Shape 22"/>
          <p:cNvSpPr/>
          <p:nvPr/>
        </p:nvSpPr>
        <p:spPr>
          <a:xfrm>
            <a:off x="8046720" y="3886200"/>
            <a:ext cx="3520440" cy="2011680"/>
          </a:xfrm>
          <a:prstGeom prst="roundRect">
            <a:avLst>
              <a:gd name="adj" fmla="val 4545"/>
            </a:avLst>
          </a:prstGeom>
          <a:solidFill>
            <a:srgbClr val="FFFFFF"/>
          </a:solidFill>
          <a:ln w="12700">
            <a:solidFill>
              <a:srgbClr val="D5DEEA"/>
            </a:solidFill>
            <a:prstDash val="solid"/>
          </a:ln>
          <a:effectLst>
            <a:outerShdw sx="100000" sy="100000" kx="0" ky="0" algn="bl" rotWithShape="0" blurRad="101600" dist="25400" dir="5400000">
              <a:srgbClr val="000000">
                <a:alpha val="18000"/>
              </a:srgbClr>
            </a:outerShdw>
          </a:effectLst>
        </p:spPr>
      </p:sp>
      <p:sp>
        <p:nvSpPr>
          <p:cNvPr id="30" name="Shape 23"/>
          <p:cNvSpPr/>
          <p:nvPr/>
        </p:nvSpPr>
        <p:spPr>
          <a:xfrm>
            <a:off x="8321040" y="4160520"/>
            <a:ext cx="640080" cy="640080"/>
          </a:xfrm>
          <a:prstGeom prst="ellipse">
            <a:avLst/>
          </a:prstGeom>
          <a:solidFill>
            <a:srgbClr val="1D6FA5"/>
          </a:solidFill>
          <a:ln w="12700">
            <a:solidFill>
              <a:srgbClr val="1D6FA5"/>
            </a:solidFill>
            <a:prstDash val="solid"/>
          </a:ln>
        </p:spPr>
      </p:sp>
      <p:pic>
        <p:nvPicPr>
          <p:cNvPr id="31" name="Image 5" descr="preencoded.png">    </p:cNvPr>
          <p:cNvPicPr>
            <a:picLocks noChangeAspect="1"/>
          </p:cNvPicPr>
          <p:nvPr/>
        </p:nvPicPr>
        <p:blipFill>
          <a:blip r:embed="rId6"/>
          <a:stretch>
            <a:fillRect/>
          </a:stretch>
        </p:blipFill>
        <p:spPr>
          <a:xfrm>
            <a:off x="8476488" y="4315968"/>
            <a:ext cx="329184" cy="329184"/>
          </a:xfrm>
          <a:prstGeom prst="rect">
            <a:avLst/>
          </a:prstGeom>
        </p:spPr>
      </p:pic>
      <p:sp>
        <p:nvSpPr>
          <p:cNvPr id="32" name="Text 24"/>
          <p:cNvSpPr txBox="1"/>
          <p:nvPr/>
        </p:nvSpPr>
        <p:spPr>
          <a:xfrm>
            <a:off x="8321040" y="4892040"/>
            <a:ext cx="301752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Respaldo</a:t>
            </a:r>
            <a:endParaRPr lang="en-US" sz="1600" dirty="0"/>
          </a:p>
        </p:txBody>
      </p:sp>
      <p:sp>
        <p:nvSpPr>
          <p:cNvPr id="33" name="Text 25"/>
          <p:cNvSpPr txBox="1"/>
          <p:nvPr/>
        </p:nvSpPr>
        <p:spPr>
          <a:xfrm>
            <a:off x="8321040" y="5257800"/>
            <a:ext cx="3017520" cy="566928"/>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Administración › Respaldar base de datos genera una copia.</a:t>
            </a:r>
            <a:endParaRPr lang="en-US" sz="1250" dirty="0"/>
          </a:p>
        </p:txBody>
      </p:sp>
      <p:sp>
        <p:nvSpPr>
          <p:cNvPr id="34" name="Text 2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A94A3"/>
                </a:solidFill>
                <a:latin typeface="Calibri" pitchFamily="34" charset="0"/>
                <a:ea typeface="Calibri" pitchFamily="34" charset="-122"/>
                <a:cs typeface="Calibri" pitchFamily="34" charset="-120"/>
              </a:rPr>
              <a:t>Programación II · Sistema de Ventas</a:t>
            </a:r>
            <a:endParaRPr lang="en-US" sz="1000" dirty="0"/>
          </a:p>
        </p:txBody>
      </p:sp>
      <p:sp>
        <p:nvSpPr>
          <p:cNvPr id="35" name="Text 27"/>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000" dirty="0">
                <a:solidFill>
                  <a:srgbClr val="8A94A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5184648" y="731520"/>
            <a:ext cx="1828800" cy="1828800"/>
          </a:xfrm>
          <a:prstGeom prst="ellipse">
            <a:avLst/>
          </a:prstGeom>
          <a:solidFill>
            <a:srgbClr val="FFFFFF"/>
          </a:solidFill>
          <a:ln w="25400">
            <a:solidFill>
              <a:srgbClr val="C9A227"/>
            </a:solidFill>
            <a:prstDash val="solid"/>
          </a:ln>
        </p:spPr>
      </p:sp>
      <p:pic>
        <p:nvPicPr>
          <p:cNvPr id="3" name="Image 0" descr="C:\Users\Josue Zetino\AppData\Local\Temp\claude\C--Users-Josue-Zetino-Documents-4to-semestre-progra-2\7ccdd11b-dc21-4f34-84fe-794d7b2c2056\scratchpad\pres\logo-umg.png">    </p:cNvPr>
          <p:cNvPicPr>
            <a:picLocks noChangeAspect="1"/>
          </p:cNvPicPr>
          <p:nvPr/>
        </p:nvPicPr>
        <p:blipFill>
          <a:blip r:embed="rId1"/>
          <a:stretch>
            <a:fillRect/>
          </a:stretch>
        </p:blipFill>
        <p:spPr>
          <a:xfrm>
            <a:off x="5276088" y="822960"/>
            <a:ext cx="1645920" cy="1645920"/>
          </a:xfrm>
          <a:prstGeom prst="rect">
            <a:avLst/>
          </a:prstGeom>
        </p:spPr>
      </p:pic>
      <p:sp>
        <p:nvSpPr>
          <p:cNvPr id="4" name="Text 1"/>
          <p:cNvSpPr txBox="1"/>
          <p:nvPr/>
        </p:nvSpPr>
        <p:spPr>
          <a:xfrm>
            <a:off x="548640" y="2834640"/>
            <a:ext cx="11091672" cy="91440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¡Gracias!</a:t>
            </a:r>
            <a:endParaRPr lang="en-US" sz="5400" dirty="0"/>
          </a:p>
        </p:txBody>
      </p:sp>
      <p:sp>
        <p:nvSpPr>
          <p:cNvPr id="5" name="Text 2"/>
          <p:cNvSpPr txBox="1"/>
          <p:nvPr/>
        </p:nvSpPr>
        <p:spPr>
          <a:xfrm>
            <a:off x="548640" y="3749040"/>
            <a:ext cx="11091672" cy="548640"/>
          </a:xfrm>
          <a:prstGeom prst="rect">
            <a:avLst/>
          </a:prstGeom>
          <a:noFill/>
          <a:ln/>
        </p:spPr>
        <p:txBody>
          <a:bodyPr wrap="square" lIns="0" tIns="0" rIns="0" bIns="0" rtlCol="0" anchor="ctr"/>
          <a:lstStyle/>
          <a:p>
            <a:pPr algn="ctr" indent="0" marL="0">
              <a:buNone/>
            </a:pPr>
            <a:r>
              <a:rPr lang="en-US" sz="2400" dirty="0">
                <a:solidFill>
                  <a:srgbClr val="C9A227"/>
                </a:solidFill>
                <a:latin typeface="Calibri" pitchFamily="34" charset="0"/>
                <a:ea typeface="Calibri" pitchFamily="34" charset="-122"/>
                <a:cs typeface="Calibri" pitchFamily="34" charset="-120"/>
              </a:rPr>
              <a:t>¿Preguntas?</a:t>
            </a:r>
            <a:endParaRPr lang="en-US" sz="2400" dirty="0"/>
          </a:p>
        </p:txBody>
      </p:sp>
      <p:sp>
        <p:nvSpPr>
          <p:cNvPr id="6" name="Text 3"/>
          <p:cNvSpPr txBox="1"/>
          <p:nvPr/>
        </p:nvSpPr>
        <p:spPr>
          <a:xfrm>
            <a:off x="548640" y="4663440"/>
            <a:ext cx="11091672" cy="411480"/>
          </a:xfrm>
          <a:prstGeom prst="rect">
            <a:avLst/>
          </a:prstGeom>
          <a:noFill/>
          <a:ln/>
        </p:spPr>
        <p:txBody>
          <a:bodyPr wrap="square" lIns="0" tIns="0" rIns="0" bIns="0" rtlCol="0" anchor="ctr"/>
          <a:lstStyle/>
          <a:p>
            <a:pPr algn="ctr" indent="0" marL="0">
              <a:buNone/>
            </a:pPr>
            <a:r>
              <a:rPr lang="en-US" sz="1800" dirty="0">
                <a:solidFill>
                  <a:srgbClr val="C7D3E3"/>
                </a:solidFill>
                <a:latin typeface="Calibri" pitchFamily="34" charset="0"/>
                <a:ea typeface="Calibri" pitchFamily="34" charset="-122"/>
                <a:cs typeface="Calibri" pitchFamily="34" charset="-120"/>
              </a:rPr>
              <a:t>github.com/jzetinob/sistema-ventas</a:t>
            </a:r>
            <a:endParaRPr lang="en-US" sz="1800" dirty="0"/>
          </a:p>
        </p:txBody>
      </p:sp>
      <p:sp>
        <p:nvSpPr>
          <p:cNvPr id="7" name="Text 4"/>
          <p:cNvSpPr txBox="1"/>
          <p:nvPr/>
        </p:nvSpPr>
        <p:spPr>
          <a:xfrm>
            <a:off x="548640" y="5120640"/>
            <a:ext cx="11091672" cy="365760"/>
          </a:xfrm>
          <a:prstGeom prst="rect">
            <a:avLst/>
          </a:prstGeom>
          <a:noFill/>
          <a:ln/>
        </p:spPr>
        <p:txBody>
          <a:bodyPr wrap="square" lIns="0" tIns="0" rIns="0" bIns="0" rtlCol="0" anchor="ctr"/>
          <a:lstStyle/>
          <a:p>
            <a:pPr algn="ctr" indent="0" marL="0">
              <a:buNone/>
            </a:pPr>
            <a:r>
              <a:rPr lang="en-US" sz="1400" dirty="0">
                <a:solidFill>
                  <a:srgbClr val="8FA3BF"/>
                </a:solidFill>
                <a:latin typeface="Calibri" pitchFamily="34" charset="0"/>
                <a:ea typeface="Calibri" pitchFamily="34" charset="-122"/>
                <a:cs typeface="Calibri" pitchFamily="34" charset="-120"/>
              </a:rPr>
              <a:t>Código fuente, manuales de usuario y técnico e historial de desarrollo en el repositorio</a:t>
            </a:r>
            <a:endParaRPr lang="en-US" sz="1400" dirty="0"/>
          </a:p>
        </p:txBody>
      </p:sp>
      <p:sp>
        <p:nvSpPr>
          <p:cNvPr id="8" name="Text 5"/>
          <p:cNvSpPr txBox="1"/>
          <p:nvPr/>
        </p:nvSpPr>
        <p:spPr>
          <a:xfrm>
            <a:off x="548640" y="5943600"/>
            <a:ext cx="11091672" cy="365760"/>
          </a:xfrm>
          <a:prstGeom prst="rect">
            <a:avLst/>
          </a:prstGeom>
          <a:noFill/>
          <a:ln/>
        </p:spPr>
        <p:txBody>
          <a:bodyPr wrap="square" lIns="0" tIns="0" rIns="0" bIns="0" rtlCol="0" anchor="ctr"/>
          <a:lstStyle/>
          <a:p>
            <a:pPr algn="ctr" indent="0" marL="0">
              <a:buNone/>
            </a:pPr>
            <a:r>
              <a:rPr lang="en-US" sz="1300" dirty="0">
                <a:solidFill>
                  <a:srgbClr val="8FA3BF"/>
                </a:solidFill>
                <a:latin typeface="Calibri" pitchFamily="34" charset="0"/>
                <a:ea typeface="Calibri" pitchFamily="34" charset="-122"/>
                <a:cs typeface="Calibri" pitchFamily="34" charset="-120"/>
              </a:rPr>
              <a:t>Josué David Zetino Boch · 9989-17-12602 · Programación II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Universidad Mariano Gálvez de Guatemala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de Ventas - Revisión Presencial de Avance de Proyecto</dc:title>
  <dc:subject>PptxGenJS Presentation</dc:subject>
  <dc:creator>Josué David Zetino Boch</dc:creator>
  <cp:lastModifiedBy>Josué David Zetino Boch</cp:lastModifiedBy>
  <cp:revision>1</cp:revision>
  <dcterms:created xsi:type="dcterms:W3CDTF">2026-09-29T01:47:27Z</dcterms:created>
  <dcterms:modified xsi:type="dcterms:W3CDTF">2026-09-29T01:47:27Z</dcterms:modified>
</cp:coreProperties>
</file>