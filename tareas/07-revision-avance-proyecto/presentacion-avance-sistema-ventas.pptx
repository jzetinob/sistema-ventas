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Josué Zetino, carné 9989-17-12602. Presento el avance del proyecto Sistema de Ventas: una aplicación de escritorio en Java para facturación e inventario, conectada a una base de datos en la nube, y una app Android que usa esa misma base. Voy a seguir el orden de la rúbrica y al final hago la demostración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rúbrica tiene seis criterios. Cada diapositiva siguiente lleva en la esquina el número del criterio que cubre, para que sea fácil seguirla con la ficha de evaluación. Lo importante es que todo lo que muestro aquí lo voy a ejecutar después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dar contexto: la base tiene 10 tablas relacionadas. Hoy hay 46 productos en 7 categorías, 30 clientes y 61 facturas; en septiembre se vendieron poco más de 8 mil quetzales. Son datos de una librería y papelería. Y hay dos aplicaciones, la de escritorio en Java Swing y la app Android, que comparten la misma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aplicación está separada en capas. La vista son los formularios Swing dentro del MDI; no tocan la base directamente. Llaman a un controlador, que valida, y el controlador usa un DAO. Cada DAO es una interfaz con su implementación JDBC y es un Singleton. ConexionBD decide si se conecta a PostgreSQL en Supabase o a SQLite local. La app Android no entra a las tablas: llama a funciones de la base que primero validan un token de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diagrama de clases está dividido en cinco vistas para que se pueda leer. Aquí se ve el modelo: Producto, Cliente, Factura con su FacturaDetalle, Compra con CompraDetalle, Categoría, Proveedor, Empleado y Usuario. Cliente, Empleado y Proveedor heredan de Persona. Patrones: MVC en la estructura general, DAO para el acceso a datos, Singleton en los DAO y en la conexión, Template Method en FrmCatalogo, que es la base de los formularios de catálogo, y Facade en ApiSupabase de la app móvil. Los nombres salen del código, no de un diseño aparte.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diagrama entidad-relación tiene las 10 tablas del sistema, cada una con su llave primaria y llaves únicas como el código del producto o el NIT. Hay 7 llaves foráneas y cada una tiene una regla: si borro una factura, su detalle se borra en cascada; si borro una categoría, el producto queda sin categoría (SET NULL); y no se puede borrar un producto que ya aparece en una compra (RESTRICT). La tabla sesiones_app es de la app móvil. El diagrama coincide con el script SQL que crea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FrmPrincipal es un formulario MDI: un JDesktopPane donde cada módulo se abre como ventana interna. El menú tiene ocho opciones organizadas por módulo. En la barra de título se ve el usuario, su rol y que está conectado a la base en la nube. Si entro como vendedor, se ocultan catálogos, compras, administración y reportes. En la demostración lo muestro con el usuario vendedor.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seis catálogos con altas, bajas, cambios, búsqueda y reporte: productos, clientes, empleados, categorías, proveedores y usuarios. La factura guarda el encabezado y su detalle en una sola transacción y descuenta la existencia; si no hay suficiente, no deja vender. La compra hace lo contrario: suma existencia y sugiere el último costo. Las listas permiten consultar, ver el detalle y anular. Todo se guarda en PostgreSQL: si cierro y abro la aplicación, los datos siguen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criterio del flujo. Primero registro categorías y proveedores. El producto usa la categoría. La compra usa el proveedor y el producto, y al guardarla sube la existencia. La factura usa el cliente y el producto y baja la existencia; si pido más de lo que hay, no la guarda. Después los reportes y el resumen leen esas facturas y compras. Y la app móvil trabaja sobre la misma base: una venta hecha en el celular aparece en la lista de facturas del escritorio.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ve para qué sirve registrar bien los datos. El resumen toma las facturas para calcular las ventas del día y del mes, arma el gráfico de los últimos siete días y la dona de los productos más vendidos, y con la existencia de productos lista los que están por agotarse. Los gráficos no usan librerías: se dibujan con Graphics2D en un JPanel.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app Android está hecha en Java. Inicia sesión con los mismos usuarios del escritorio y recibe un token que vence en 8 horas. Puede consultar productos y clientes, registrar clientes y hacer una venta completa; la base valida la existencia igual que en el escritorio. También muestra el historial con el detalle de cada factura, un resumen con gráficos y, si no hay internet, el último catálogo descargado. Las dos aplicaciones cambian a tema oscuro a las 6 de la tarde.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pide código seguro. Las contraseñas se guardan con bcrypt, no en texto. Hay dos roles, y después de tres intentos fallidos el programa se cierra. Todas las consultas usan PreparedStatement, así que lo que escribe el usuario nunca se concatena al SQL; eso evita la inyección SQL. La factura es una transacción: si algo falla, se hace rollback. En la nube, la seguridad a nivel de fila está activa y la app móvil solo puede llamar funciones que revisan su token. Y hay una opción para respaldar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rúbrica pide coherencia entre diagramas, base, clases y formularios. Esta tabla lo muestra: por ejemplo, la entidad Factura es la tabla facturas con factura_detalles en el ER, las clases Factura y FacturaDetalle en el diagrama de clases, la interfaz FacturaDAO en el acceso a datos, y los formularios FrmFactura y FrmListaFacturas. Lo mismo pasa con cada entidad.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lo ejecuto. Uno: inicio sesión y se ve en el título que está conectado a la base en la nube. Dos: recorro el menú. Tres: registro un producto nuevo. Cuatro: hago una compra de ese producto y muestro que la existencia subió. Cinco: lo facturo y la existencia baja; si intento vender más de lo que hay, no me deja. Seis: abro el reporte de ventas y el resumen, y aparece la venta. Siete: hago una venta desde el celular y aparece en Ver facturas. Ocho: cierro sesión y entro como vendedor para mostrar que el menú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se construyó por etapas que siguen las tareas del curso: primero el formulario de facturación, luego el MDI, la base de datos con JDBC, el repositorio en GitHub, los diagramas, las 10 entidades con login y compras, y después la base en la nube con la app Android. Todo está en el repositorio público, con manuales de usuario y técnico y un historial de desarrollo por fases, así que cualquier decisión se puede revisar en los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esto termino el avance. Quedo atento a sus preguntas; puedo abrir cualquier parte del código, del diagrama o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685800" y="1417320"/>
            <a:ext cx="3566160" cy="3566160"/>
          </a:xfrm>
          <a:prstGeom prst="ellipse">
            <a:avLst/>
          </a:prstGeom>
          <a:solidFill>
            <a:srgbClr val="FFFFFF"/>
          </a:solidFill>
          <a:ln w="38100">
            <a:solidFill>
              <a:srgbClr val="C9A227"/>
            </a:solidFill>
            <a:prstDash val="solid"/>
          </a:ln>
        </p:spPr>
      </p:sp>
      <p:pic>
        <p:nvPicPr>
          <p:cNvPr id="3" name="Image 0" descr="C:\Users\Josue Zetino\AppData\Local\Temp\claude\C--Users-Josue-Zetino-Documents-4to-semestre-progra-2\7ccdd11b-dc21-4f34-84fe-794d7b2c2056\scratchpad\pres\logo-umg.png">    </p:cNvPr>
          <p:cNvPicPr>
            <a:picLocks noChangeAspect="1"/>
          </p:cNvPicPr>
          <p:nvPr/>
        </p:nvPicPr>
        <p:blipFill>
          <a:blip r:embed="rId1"/>
          <a:stretch>
            <a:fillRect/>
          </a:stretch>
        </p:blipFill>
        <p:spPr>
          <a:xfrm>
            <a:off x="822960" y="1554480"/>
            <a:ext cx="3291840" cy="3291840"/>
          </a:xfrm>
          <a:prstGeom prst="rect">
            <a:avLst/>
          </a:prstGeom>
        </p:spPr>
      </p:pic>
      <p:sp>
        <p:nvSpPr>
          <p:cNvPr id="4" name="Text 1"/>
          <p:cNvSpPr txBox="1"/>
          <p:nvPr/>
        </p:nvSpPr>
        <p:spPr>
          <a:xfrm>
            <a:off x="4846320" y="640080"/>
            <a:ext cx="6949440" cy="365760"/>
          </a:xfrm>
          <a:prstGeom prst="rect">
            <a:avLst/>
          </a:prstGeom>
          <a:noFill/>
          <a:ln/>
        </p:spPr>
        <p:txBody>
          <a:bodyPr wrap="square" lIns="0" tIns="0" rIns="0" bIns="0" rtlCol="0" anchor="ctr"/>
          <a:lstStyle/>
          <a:p>
            <a:pPr indent="0" marL="0">
              <a:buNone/>
            </a:pPr>
            <a:r>
              <a:rPr lang="en-US" sz="1600" b="1" spc="200" kern="0" dirty="0">
                <a:solidFill>
                  <a:srgbClr val="C9A227"/>
                </a:solidFill>
                <a:latin typeface="Calibri" pitchFamily="34" charset="0"/>
                <a:ea typeface="Calibri" pitchFamily="34" charset="-122"/>
                <a:cs typeface="Calibri" pitchFamily="34" charset="-120"/>
              </a:rPr>
              <a:t>UNIVERSIDAD MARIANO GÁLVEZ DE GUATEMALA</a:t>
            </a:r>
            <a:endParaRPr lang="en-US" sz="1600" dirty="0"/>
          </a:p>
        </p:txBody>
      </p:sp>
      <p:sp>
        <p:nvSpPr>
          <p:cNvPr id="5" name="Text 2"/>
          <p:cNvSpPr txBox="1"/>
          <p:nvPr/>
        </p:nvSpPr>
        <p:spPr>
          <a:xfrm>
            <a:off x="4846320" y="1024128"/>
            <a:ext cx="6949440" cy="640080"/>
          </a:xfrm>
          <a:prstGeom prst="rect">
            <a:avLst/>
          </a:prstGeom>
          <a:noFill/>
          <a:ln/>
        </p:spPr>
        <p:txBody>
          <a:bodyPr wrap="square" lIns="0" tIns="0" rIns="0" bIns="0" rtlCol="0" anchor="ctr"/>
          <a:lstStyle/>
          <a:p>
            <a:pPr indent="0" marL="0">
              <a:buNone/>
            </a:pPr>
            <a:r>
              <a:rPr lang="en-US" sz="1300" dirty="0">
                <a:solidFill>
                  <a:srgbClr val="C7D3E3"/>
                </a:solidFill>
                <a:latin typeface="Calibri" pitchFamily="34" charset="0"/>
                <a:ea typeface="Calibri" pitchFamily="34" charset="-122"/>
                <a:cs typeface="Calibri" pitchFamily="34" charset="-120"/>
              </a:rPr>
              <a:t>Facultad de Ingeniería en Sistemas de Información</a:t>
            </a:r>
            <a:endParaRPr lang="en-US" sz="1300" dirty="0"/>
          </a:p>
          <a:p>
            <a:pPr indent="0" marL="0">
              <a:buNone/>
            </a:pPr>
            <a:r>
              <a:rPr lang="en-US" sz="1300" dirty="0">
                <a:solidFill>
                  <a:srgbClr val="C7D3E3"/>
                </a:solidFill>
                <a:latin typeface="Calibri" pitchFamily="34" charset="0"/>
                <a:ea typeface="Calibri" pitchFamily="34" charset="-122"/>
                <a:cs typeface="Calibri" pitchFamily="34" charset="-120"/>
              </a:rPr>
              <a:t>Ingeniería en Sistemas de Información y Ciencias de la Computación – Portales</a:t>
            </a:r>
            <a:endParaRPr lang="en-US" sz="1300" dirty="0"/>
          </a:p>
        </p:txBody>
      </p:sp>
      <p:sp>
        <p:nvSpPr>
          <p:cNvPr id="6" name="Text 3"/>
          <p:cNvSpPr txBox="1"/>
          <p:nvPr/>
        </p:nvSpPr>
        <p:spPr>
          <a:xfrm>
            <a:off x="4846320" y="1874520"/>
            <a:ext cx="6949440" cy="41148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Programación II</a:t>
            </a:r>
            <a:endParaRPr lang="en-US" sz="1800" dirty="0"/>
          </a:p>
        </p:txBody>
      </p:sp>
      <p:sp>
        <p:nvSpPr>
          <p:cNvPr id="7" name="Text 4"/>
          <p:cNvSpPr txBox="1"/>
          <p:nvPr/>
        </p:nvSpPr>
        <p:spPr>
          <a:xfrm>
            <a:off x="4846320" y="2286000"/>
            <a:ext cx="694944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Sistema de Ventas</a:t>
            </a:r>
            <a:endParaRPr lang="en-US" sz="4800" dirty="0"/>
          </a:p>
        </p:txBody>
      </p:sp>
      <p:sp>
        <p:nvSpPr>
          <p:cNvPr id="8" name="Text 5"/>
          <p:cNvSpPr txBox="1"/>
          <p:nvPr/>
        </p:nvSpPr>
        <p:spPr>
          <a:xfrm>
            <a:off x="4846320" y="3127248"/>
            <a:ext cx="6949440" cy="411480"/>
          </a:xfrm>
          <a:prstGeom prst="rect">
            <a:avLst/>
          </a:prstGeom>
          <a:noFill/>
          <a:ln/>
        </p:spPr>
        <p:txBody>
          <a:bodyPr wrap="square" lIns="0" tIns="0" rIns="0" bIns="0" rtlCol="0" anchor="ctr"/>
          <a:lstStyle/>
          <a:p>
            <a:pPr indent="0" marL="0">
              <a:buNone/>
            </a:pPr>
            <a:r>
              <a:rPr lang="en-US" sz="1700" i="1" dirty="0">
                <a:solidFill>
                  <a:srgbClr val="C7D3E3"/>
                </a:solidFill>
                <a:latin typeface="Calibri" pitchFamily="34" charset="0"/>
                <a:ea typeface="Calibri" pitchFamily="34" charset="-122"/>
                <a:cs typeface="Calibri" pitchFamily="34" charset="-120"/>
              </a:rPr>
              <a:t>Facturación e inventario · aplicación de escritorio + app móvil</a:t>
            </a:r>
            <a:endParaRPr lang="en-US" sz="1700" dirty="0"/>
          </a:p>
        </p:txBody>
      </p:sp>
      <p:sp>
        <p:nvSpPr>
          <p:cNvPr id="9" name="Shape 6"/>
          <p:cNvSpPr/>
          <p:nvPr/>
        </p:nvSpPr>
        <p:spPr>
          <a:xfrm>
            <a:off x="4846320" y="3749040"/>
            <a:ext cx="5120640" cy="457200"/>
          </a:xfrm>
          <a:prstGeom prst="roundRect">
            <a:avLst>
              <a:gd name="adj" fmla="val 50000"/>
            </a:avLst>
          </a:prstGeom>
          <a:solidFill>
            <a:srgbClr val="C62828"/>
          </a:solidFill>
          <a:ln w="12700">
            <a:solidFill>
              <a:srgbClr val="C62828"/>
            </a:solidFill>
            <a:prstDash val="solid"/>
          </a:ln>
        </p:spPr>
      </p:sp>
      <p:sp>
        <p:nvSpPr>
          <p:cNvPr id="10" name="Text 7"/>
          <p:cNvSpPr txBox="1"/>
          <p:nvPr/>
        </p:nvSpPr>
        <p:spPr>
          <a:xfrm>
            <a:off x="4846320" y="3749040"/>
            <a:ext cx="51206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Revisión Presencial de Avance de Proyecto</a:t>
            </a:r>
            <a:endParaRPr lang="en-US" sz="1500" dirty="0"/>
          </a:p>
        </p:txBody>
      </p:sp>
      <p:sp>
        <p:nvSpPr>
          <p:cNvPr id="11" name="Text 8"/>
          <p:cNvSpPr txBox="1"/>
          <p:nvPr/>
        </p:nvSpPr>
        <p:spPr>
          <a:xfrm>
            <a:off x="4846320" y="4480560"/>
            <a:ext cx="6949440" cy="1234440"/>
          </a:xfrm>
          <a:prstGeom prst="rect">
            <a:avLst/>
          </a:prstGeom>
          <a:noFill/>
          <a:ln/>
        </p:spPr>
        <p:txBody>
          <a:bodyPr wrap="square" lIns="0" tIns="0" rIns="0" bIns="0" rtlCol="0" anchor="ctr"/>
          <a:lstStyle/>
          <a:p>
            <a:pPr indent="0" marL="0">
              <a:spcAft>
                <a:spcPts val="300"/>
              </a:spcAft>
              <a:buNone/>
            </a:pPr>
            <a:r>
              <a:rPr lang="en-US" sz="1500" b="1" dirty="0">
                <a:solidFill>
                  <a:srgbClr val="C9A227"/>
                </a:solidFill>
                <a:latin typeface="Calibri" pitchFamily="34" charset="0"/>
                <a:ea typeface="Calibri" pitchFamily="34" charset="-122"/>
                <a:cs typeface="Calibri" pitchFamily="34" charset="-120"/>
              </a:rPr>
              <a:t>Estudiante: </a:t>
            </a:r>
            <a:pPr indent="0" marL="0">
              <a:spcAft>
                <a:spcPts val="300"/>
              </a:spcAft>
              <a:buNone/>
            </a:pPr>
            <a:r>
              <a:rPr lang="en-US" sz="1500" dirty="0">
                <a:solidFill>
                  <a:srgbClr val="FFFFFF"/>
                </a:solidFill>
                <a:latin typeface="Calibri" pitchFamily="34" charset="0"/>
                <a:ea typeface="Calibri" pitchFamily="34" charset="-122"/>
                <a:cs typeface="Calibri" pitchFamily="34" charset="-120"/>
              </a:rPr>
              <a:t>Josué David Zetino Boch</a:t>
            </a:r>
            <a:endParaRPr lang="en-US" sz="1500" dirty="0"/>
          </a:p>
          <a:p>
            <a:pPr indent="0" marL="0">
              <a:spcAft>
                <a:spcPts val="300"/>
              </a:spcAft>
              <a:buNone/>
            </a:pPr>
            <a:r>
              <a:rPr lang="en-US" sz="1500" b="1" dirty="0">
                <a:solidFill>
                  <a:srgbClr val="C9A227"/>
                </a:solidFill>
                <a:latin typeface="Calibri" pitchFamily="34" charset="0"/>
                <a:ea typeface="Calibri" pitchFamily="34" charset="-122"/>
                <a:cs typeface="Calibri" pitchFamily="34" charset="-120"/>
              </a:rPr>
              <a:t>Carné: </a:t>
            </a:r>
            <a:pPr indent="0" marL="0">
              <a:spcAft>
                <a:spcPts val="300"/>
              </a:spcAft>
              <a:buNone/>
            </a:pPr>
            <a:r>
              <a:rPr lang="en-US" sz="1500" dirty="0">
                <a:solidFill>
                  <a:srgbClr val="FFFFFF"/>
                </a:solidFill>
                <a:latin typeface="Calibri" pitchFamily="34" charset="0"/>
                <a:ea typeface="Calibri" pitchFamily="34" charset="-122"/>
                <a:cs typeface="Calibri" pitchFamily="34" charset="-120"/>
              </a:rPr>
              <a:t>9989-17-12602</a:t>
            </a:r>
            <a:endParaRPr lang="en-US" sz="1500" dirty="0"/>
          </a:p>
          <a:p>
            <a:pPr indent="0" marL="0">
              <a:spcAft>
                <a:spcPts val="300"/>
              </a:spcAft>
              <a:buNone/>
            </a:pPr>
            <a:r>
              <a:rPr lang="en-US" sz="1500" b="1" dirty="0">
                <a:solidFill>
                  <a:srgbClr val="C9A227"/>
                </a:solidFill>
                <a:latin typeface="Calibri" pitchFamily="34" charset="0"/>
                <a:ea typeface="Calibri" pitchFamily="34" charset="-122"/>
                <a:cs typeface="Calibri" pitchFamily="34" charset="-120"/>
              </a:rPr>
              <a:t>Ciclo: </a:t>
            </a:r>
            <a:pPr indent="0" marL="0">
              <a:spcAft>
                <a:spcPts val="300"/>
              </a:spcAft>
              <a:buNone/>
            </a:pPr>
            <a:r>
              <a:rPr lang="en-US" sz="1500" dirty="0">
                <a:solidFill>
                  <a:srgbClr val="FFFFFF"/>
                </a:solidFill>
                <a:latin typeface="Calibri" pitchFamily="34" charset="0"/>
                <a:ea typeface="Calibri" pitchFamily="34" charset="-122"/>
                <a:cs typeface="Calibri" pitchFamily="34" charset="-120"/>
              </a:rPr>
              <a:t>4to ciclo · Sección C</a:t>
            </a:r>
            <a:endParaRPr lang="en-US" sz="1500" dirty="0"/>
          </a:p>
          <a:p>
            <a:pPr indent="0" marL="0">
              <a:spcAft>
                <a:spcPts val="300"/>
              </a:spcAft>
              <a:buNone/>
            </a:pPr>
            <a:r>
              <a:rPr lang="en-US" sz="1500" b="1" dirty="0">
                <a:solidFill>
                  <a:srgbClr val="C9A227"/>
                </a:solidFill>
                <a:latin typeface="Calibri" pitchFamily="34" charset="0"/>
                <a:ea typeface="Calibri" pitchFamily="34" charset="-122"/>
                <a:cs typeface="Calibri" pitchFamily="34" charset="-120"/>
              </a:rPr>
              <a:t>Jornada: </a:t>
            </a:r>
            <a:pPr indent="0" marL="0">
              <a:spcAft>
                <a:spcPts val="300"/>
              </a:spcAft>
              <a:buNone/>
            </a:pPr>
            <a:r>
              <a:rPr lang="en-US" sz="1500" dirty="0">
                <a:solidFill>
                  <a:srgbClr val="FFFFFF"/>
                </a:solidFill>
                <a:latin typeface="Calibri" pitchFamily="34" charset="0"/>
                <a:ea typeface="Calibri" pitchFamily="34" charset="-122"/>
                <a:cs typeface="Calibri" pitchFamily="34" charset="-120"/>
              </a:rPr>
              <a:t>Sábado</a:t>
            </a:r>
            <a:endParaRPr lang="en-US" sz="1500" dirty="0"/>
          </a:p>
        </p:txBody>
      </p:sp>
      <p:sp>
        <p:nvSpPr>
          <p:cNvPr id="12" name="Text 9"/>
          <p:cNvSpPr txBox="1"/>
          <p:nvPr/>
        </p:nvSpPr>
        <p:spPr>
          <a:xfrm>
            <a:off x="4846320" y="5989320"/>
            <a:ext cx="6949440" cy="320040"/>
          </a:xfrm>
          <a:prstGeom prst="rect">
            <a:avLst/>
          </a:prstGeom>
          <a:noFill/>
          <a:ln/>
        </p:spPr>
        <p:txBody>
          <a:bodyPr wrap="square" lIns="0" tIns="0" rIns="0" bIns="0" rtlCol="0" anchor="ctr"/>
          <a:lstStyle/>
          <a:p>
            <a:pPr indent="0" marL="0">
              <a:buNone/>
            </a:pPr>
            <a:r>
              <a:rPr lang="en-US" sz="1300" dirty="0">
                <a:solidFill>
                  <a:srgbClr val="C7D3E3"/>
                </a:solidFill>
                <a:latin typeface="Calibri" pitchFamily="34" charset="0"/>
                <a:ea typeface="Calibri" pitchFamily="34" charset="-122"/>
                <a:cs typeface="Calibri" pitchFamily="34" charset="-120"/>
              </a:rPr>
              <a:t>Guatemala, septiembre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Qué se evalúa hoy</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Revisión presencial de avance · valor 5 puntos</a:t>
            </a:r>
            <a:endParaRPr lang="en-US" sz="1500" dirty="0"/>
          </a:p>
        </p:txBody>
      </p:sp>
      <p:sp>
        <p:nvSpPr>
          <p:cNvPr id="4" name="Shape 2"/>
          <p:cNvSpPr/>
          <p:nvPr/>
        </p:nvSpPr>
        <p:spPr>
          <a:xfrm>
            <a:off x="548640" y="1645920"/>
            <a:ext cx="4846320" cy="4297680"/>
          </a:xfrm>
          <a:prstGeom prst="roundRect">
            <a:avLst>
              <a:gd name="adj" fmla="val 2553"/>
            </a:avLst>
          </a:prstGeom>
          <a:solidFill>
            <a:srgbClr val="EEF3F9"/>
          </a:solidFill>
          <a:ln w="12700">
            <a:solidFill>
              <a:srgbClr val="EEF3F9"/>
            </a:solidFill>
            <a:prstDash val="solid"/>
          </a:ln>
        </p:spPr>
      </p:sp>
      <p:sp>
        <p:nvSpPr>
          <p:cNvPr id="5" name="Text 3"/>
          <p:cNvSpPr txBox="1"/>
          <p:nvPr/>
        </p:nvSpPr>
        <p:spPr>
          <a:xfrm>
            <a:off x="868680" y="1874520"/>
            <a:ext cx="4206240" cy="411480"/>
          </a:xfrm>
          <a:prstGeom prst="rect">
            <a:avLst/>
          </a:prstGeom>
          <a:noFill/>
          <a:ln/>
        </p:spPr>
        <p:txBody>
          <a:bodyPr wrap="square" lIns="0" tIns="0" rIns="0" bIns="0" rtlCol="0" anchor="ctr"/>
          <a:lstStyle/>
          <a:p>
            <a:pPr indent="0" marL="0">
              <a:buNone/>
            </a:pPr>
            <a:r>
              <a:rPr lang="en-US" sz="2000" b="1" dirty="0">
                <a:solidFill>
                  <a:srgbClr val="0B2545"/>
                </a:solidFill>
                <a:latin typeface="Cambria" pitchFamily="34" charset="0"/>
                <a:ea typeface="Cambria" pitchFamily="34" charset="-122"/>
                <a:cs typeface="Cambria" pitchFamily="34" charset="-120"/>
              </a:rPr>
              <a:t>Objetivo de la revisión</a:t>
            </a:r>
            <a:endParaRPr lang="en-US" sz="2000" dirty="0"/>
          </a:p>
        </p:txBody>
      </p:sp>
      <p:sp>
        <p:nvSpPr>
          <p:cNvPr id="6" name="Text 4"/>
          <p:cNvSpPr txBox="1"/>
          <p:nvPr/>
        </p:nvSpPr>
        <p:spPr>
          <a:xfrm>
            <a:off x="868680" y="2377440"/>
            <a:ext cx="4206240" cy="182880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Verificar el avance real del proyecto: el diseño del sistema y su implementación en Java, con una estructura definida y un flujo funcional que permita registrar información y usarla en otros formularios.</a:t>
            </a:r>
            <a:endParaRPr lang="en-US" sz="1600" dirty="0"/>
          </a:p>
        </p:txBody>
      </p:sp>
      <p:sp>
        <p:nvSpPr>
          <p:cNvPr id="7" name="Text 5"/>
          <p:cNvSpPr txBox="1"/>
          <p:nvPr/>
        </p:nvSpPr>
        <p:spPr>
          <a:xfrm>
            <a:off x="868680" y="4480560"/>
            <a:ext cx="4206240" cy="1097280"/>
          </a:xfrm>
          <a:prstGeom prst="rect">
            <a:avLst/>
          </a:prstGeom>
          <a:noFill/>
          <a:ln/>
        </p:spPr>
        <p:txBody>
          <a:bodyPr wrap="square" lIns="0" tIns="0" rIns="0" bIns="0" rtlCol="0" anchor="t"/>
          <a:lstStyle/>
          <a:p>
            <a:pPr indent="0" marL="0">
              <a:buNone/>
            </a:pPr>
            <a:r>
              <a:rPr lang="en-US" sz="1500" b="1" i="1" dirty="0">
                <a:solidFill>
                  <a:srgbClr val="C62828"/>
                </a:solidFill>
                <a:latin typeface="Calibri" pitchFamily="34" charset="0"/>
                <a:ea typeface="Calibri" pitchFamily="34" charset="-122"/>
                <a:cs typeface="Calibri" pitchFamily="34" charset="-120"/>
              </a:rPr>
              <a:t>El proyecto se ejecuta en vivo: no son solo capturas ni diagramas aislados.</a:t>
            </a:r>
            <a:endParaRPr lang="en-US" sz="1500" dirty="0"/>
          </a:p>
        </p:txBody>
      </p:sp>
      <p:sp>
        <p:nvSpPr>
          <p:cNvPr id="8" name="Shape 6"/>
          <p:cNvSpPr/>
          <p:nvPr/>
        </p:nvSpPr>
        <p:spPr>
          <a:xfrm>
            <a:off x="5897880" y="1737360"/>
            <a:ext cx="457200" cy="457200"/>
          </a:xfrm>
          <a:prstGeom prst="ellipse">
            <a:avLst/>
          </a:prstGeom>
          <a:solidFill>
            <a:srgbClr val="1D6FA5"/>
          </a:solidFill>
          <a:ln w="12700">
            <a:solidFill>
              <a:srgbClr val="1D6FA5"/>
            </a:solidFill>
            <a:prstDash val="solid"/>
          </a:ln>
        </p:spPr>
      </p:sp>
      <p:sp>
        <p:nvSpPr>
          <p:cNvPr id="9" name="Text 7"/>
          <p:cNvSpPr txBox="1"/>
          <p:nvPr/>
        </p:nvSpPr>
        <p:spPr>
          <a:xfrm>
            <a:off x="589788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0" name="Text 8"/>
          <p:cNvSpPr txBox="1"/>
          <p:nvPr/>
        </p:nvSpPr>
        <p:spPr>
          <a:xfrm>
            <a:off x="6537960" y="1691640"/>
            <a:ext cx="4023360" cy="54864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Diagrama de clases</a:t>
            </a:r>
            <a:endParaRPr lang="en-US" sz="1800" dirty="0"/>
          </a:p>
        </p:txBody>
      </p:sp>
      <p:sp>
        <p:nvSpPr>
          <p:cNvPr id="11" name="Text 9"/>
          <p:cNvSpPr txBox="1"/>
          <p:nvPr/>
        </p:nvSpPr>
        <p:spPr>
          <a:xfrm>
            <a:off x="10561320" y="1691640"/>
            <a:ext cx="1051560" cy="548640"/>
          </a:xfrm>
          <a:prstGeom prst="rect">
            <a:avLst/>
          </a:prstGeom>
          <a:noFill/>
          <a:ln/>
        </p:spPr>
        <p:txBody>
          <a:bodyPr wrap="square" lIns="0" tIns="0" rIns="0" bIns="0" rtlCol="0" anchor="ctr"/>
          <a:lstStyle/>
          <a:p>
            <a:pPr algn="r" indent="0" marL="0">
              <a:buNone/>
            </a:pPr>
            <a:r>
              <a:rPr lang="en-US" sz="1800" b="1" dirty="0">
                <a:solidFill>
                  <a:srgbClr val="0B2545"/>
                </a:solidFill>
                <a:latin typeface="Cambria" pitchFamily="34" charset="0"/>
                <a:ea typeface="Cambria" pitchFamily="34" charset="-122"/>
                <a:cs typeface="Cambria" pitchFamily="34" charset="-120"/>
              </a:rPr>
              <a:t>0.75</a:t>
            </a:r>
            <a:endParaRPr lang="en-US" sz="1800" dirty="0"/>
          </a:p>
        </p:txBody>
      </p:sp>
      <p:sp>
        <p:nvSpPr>
          <p:cNvPr id="12" name="Shape 10"/>
          <p:cNvSpPr/>
          <p:nvPr/>
        </p:nvSpPr>
        <p:spPr>
          <a:xfrm>
            <a:off x="5897880" y="2395728"/>
            <a:ext cx="457200" cy="457200"/>
          </a:xfrm>
          <a:prstGeom prst="ellipse">
            <a:avLst/>
          </a:prstGeom>
          <a:solidFill>
            <a:srgbClr val="1D6FA5"/>
          </a:solidFill>
          <a:ln w="12700">
            <a:solidFill>
              <a:srgbClr val="1D6FA5"/>
            </a:solidFill>
            <a:prstDash val="solid"/>
          </a:ln>
        </p:spPr>
      </p:sp>
      <p:sp>
        <p:nvSpPr>
          <p:cNvPr id="13" name="Text 11"/>
          <p:cNvSpPr txBox="1"/>
          <p:nvPr/>
        </p:nvSpPr>
        <p:spPr>
          <a:xfrm>
            <a:off x="5897880" y="23957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txBox="1"/>
          <p:nvPr/>
        </p:nvSpPr>
        <p:spPr>
          <a:xfrm>
            <a:off x="6537960" y="2350008"/>
            <a:ext cx="4023360" cy="54864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Diagrama entidad-relación</a:t>
            </a:r>
            <a:endParaRPr lang="en-US" sz="1800" dirty="0"/>
          </a:p>
        </p:txBody>
      </p:sp>
      <p:sp>
        <p:nvSpPr>
          <p:cNvPr id="15" name="Text 13"/>
          <p:cNvSpPr txBox="1"/>
          <p:nvPr/>
        </p:nvSpPr>
        <p:spPr>
          <a:xfrm>
            <a:off x="10561320" y="2350008"/>
            <a:ext cx="1051560" cy="548640"/>
          </a:xfrm>
          <a:prstGeom prst="rect">
            <a:avLst/>
          </a:prstGeom>
          <a:noFill/>
          <a:ln/>
        </p:spPr>
        <p:txBody>
          <a:bodyPr wrap="square" lIns="0" tIns="0" rIns="0" bIns="0" rtlCol="0" anchor="ctr"/>
          <a:lstStyle/>
          <a:p>
            <a:pPr algn="r" indent="0" marL="0">
              <a:buNone/>
            </a:pPr>
            <a:r>
              <a:rPr lang="en-US" sz="1800" b="1" dirty="0">
                <a:solidFill>
                  <a:srgbClr val="0B2545"/>
                </a:solidFill>
                <a:latin typeface="Cambria" pitchFamily="34" charset="0"/>
                <a:ea typeface="Cambria" pitchFamily="34" charset="-122"/>
                <a:cs typeface="Cambria" pitchFamily="34" charset="-120"/>
              </a:rPr>
              <a:t>0.75</a:t>
            </a:r>
            <a:endParaRPr lang="en-US" sz="1800" dirty="0"/>
          </a:p>
        </p:txBody>
      </p:sp>
      <p:sp>
        <p:nvSpPr>
          <p:cNvPr id="16" name="Shape 14"/>
          <p:cNvSpPr/>
          <p:nvPr/>
        </p:nvSpPr>
        <p:spPr>
          <a:xfrm>
            <a:off x="5897880" y="3054096"/>
            <a:ext cx="457200" cy="457200"/>
          </a:xfrm>
          <a:prstGeom prst="ellipse">
            <a:avLst/>
          </a:prstGeom>
          <a:solidFill>
            <a:srgbClr val="1D6FA5"/>
          </a:solidFill>
          <a:ln w="12700">
            <a:solidFill>
              <a:srgbClr val="1D6FA5"/>
            </a:solidFill>
            <a:prstDash val="solid"/>
          </a:ln>
        </p:spPr>
      </p:sp>
      <p:sp>
        <p:nvSpPr>
          <p:cNvPr id="17" name="Text 15"/>
          <p:cNvSpPr txBox="1"/>
          <p:nvPr/>
        </p:nvSpPr>
        <p:spPr>
          <a:xfrm>
            <a:off x="5897880" y="30540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6537960" y="3008376"/>
            <a:ext cx="4023360" cy="54864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MDI, menú y navegación</a:t>
            </a:r>
            <a:endParaRPr lang="en-US" sz="1800" dirty="0"/>
          </a:p>
        </p:txBody>
      </p:sp>
      <p:sp>
        <p:nvSpPr>
          <p:cNvPr id="19" name="Text 17"/>
          <p:cNvSpPr txBox="1"/>
          <p:nvPr/>
        </p:nvSpPr>
        <p:spPr>
          <a:xfrm>
            <a:off x="10561320" y="3008376"/>
            <a:ext cx="1051560" cy="548640"/>
          </a:xfrm>
          <a:prstGeom prst="rect">
            <a:avLst/>
          </a:prstGeom>
          <a:noFill/>
          <a:ln/>
        </p:spPr>
        <p:txBody>
          <a:bodyPr wrap="square" lIns="0" tIns="0" rIns="0" bIns="0" rtlCol="0" anchor="ctr"/>
          <a:lstStyle/>
          <a:p>
            <a:pPr algn="r" indent="0" marL="0">
              <a:buNone/>
            </a:pPr>
            <a:r>
              <a:rPr lang="en-US" sz="1800" b="1" dirty="0">
                <a:solidFill>
                  <a:srgbClr val="0B2545"/>
                </a:solidFill>
                <a:latin typeface="Cambria" pitchFamily="34" charset="0"/>
                <a:ea typeface="Cambria" pitchFamily="34" charset="-122"/>
                <a:cs typeface="Cambria" pitchFamily="34" charset="-120"/>
              </a:rPr>
              <a:t>0.75</a:t>
            </a:r>
            <a:endParaRPr lang="en-US" sz="1800" dirty="0"/>
          </a:p>
        </p:txBody>
      </p:sp>
      <p:sp>
        <p:nvSpPr>
          <p:cNvPr id="20" name="Shape 18"/>
          <p:cNvSpPr/>
          <p:nvPr/>
        </p:nvSpPr>
        <p:spPr>
          <a:xfrm>
            <a:off x="5897880" y="3712464"/>
            <a:ext cx="457200" cy="457200"/>
          </a:xfrm>
          <a:prstGeom prst="ellipse">
            <a:avLst/>
          </a:prstGeom>
          <a:solidFill>
            <a:srgbClr val="1D6FA5"/>
          </a:solidFill>
          <a:ln w="12700">
            <a:solidFill>
              <a:srgbClr val="1D6FA5"/>
            </a:solidFill>
            <a:prstDash val="solid"/>
          </a:ln>
        </p:spPr>
      </p:sp>
      <p:sp>
        <p:nvSpPr>
          <p:cNvPr id="21" name="Text 19"/>
          <p:cNvSpPr txBox="1"/>
          <p:nvPr/>
        </p:nvSpPr>
        <p:spPr>
          <a:xfrm>
            <a:off x="5897880" y="37124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6537960" y="3666744"/>
            <a:ext cx="4023360" cy="54864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Formularios y operaciones</a:t>
            </a:r>
            <a:endParaRPr lang="en-US" sz="1800" dirty="0"/>
          </a:p>
        </p:txBody>
      </p:sp>
      <p:sp>
        <p:nvSpPr>
          <p:cNvPr id="23" name="Text 21"/>
          <p:cNvSpPr txBox="1"/>
          <p:nvPr/>
        </p:nvSpPr>
        <p:spPr>
          <a:xfrm>
            <a:off x="10561320" y="3666744"/>
            <a:ext cx="1051560" cy="548640"/>
          </a:xfrm>
          <a:prstGeom prst="rect">
            <a:avLst/>
          </a:prstGeom>
          <a:noFill/>
          <a:ln/>
        </p:spPr>
        <p:txBody>
          <a:bodyPr wrap="square" lIns="0" tIns="0" rIns="0" bIns="0" rtlCol="0" anchor="ctr"/>
          <a:lstStyle/>
          <a:p>
            <a:pPr algn="r" indent="0" marL="0">
              <a:buNone/>
            </a:pPr>
            <a:r>
              <a:rPr lang="en-US" sz="1800" b="1" dirty="0">
                <a:solidFill>
                  <a:srgbClr val="0B2545"/>
                </a:solidFill>
                <a:latin typeface="Cambria" pitchFamily="34" charset="0"/>
                <a:ea typeface="Cambria" pitchFamily="34" charset="-122"/>
                <a:cs typeface="Cambria" pitchFamily="34" charset="-120"/>
              </a:rPr>
              <a:t>1.25</a:t>
            </a:r>
            <a:endParaRPr lang="en-US" sz="1800" dirty="0"/>
          </a:p>
        </p:txBody>
      </p:sp>
      <p:sp>
        <p:nvSpPr>
          <p:cNvPr id="24" name="Shape 22"/>
          <p:cNvSpPr/>
          <p:nvPr/>
        </p:nvSpPr>
        <p:spPr>
          <a:xfrm>
            <a:off x="5897880" y="4370832"/>
            <a:ext cx="457200" cy="457200"/>
          </a:xfrm>
          <a:prstGeom prst="ellipse">
            <a:avLst/>
          </a:prstGeom>
          <a:solidFill>
            <a:srgbClr val="1D6FA5"/>
          </a:solidFill>
          <a:ln w="12700">
            <a:solidFill>
              <a:srgbClr val="1D6FA5"/>
            </a:solidFill>
            <a:prstDash val="solid"/>
          </a:ln>
        </p:spPr>
      </p:sp>
      <p:sp>
        <p:nvSpPr>
          <p:cNvPr id="25" name="Text 23"/>
          <p:cNvSpPr txBox="1"/>
          <p:nvPr/>
        </p:nvSpPr>
        <p:spPr>
          <a:xfrm>
            <a:off x="5897880" y="43708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6" name="Text 24"/>
          <p:cNvSpPr txBox="1"/>
          <p:nvPr/>
        </p:nvSpPr>
        <p:spPr>
          <a:xfrm>
            <a:off x="6537960" y="4325112"/>
            <a:ext cx="4023360" cy="54864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Flujo funcional e integración</a:t>
            </a:r>
            <a:endParaRPr lang="en-US" sz="1800" dirty="0"/>
          </a:p>
        </p:txBody>
      </p:sp>
      <p:sp>
        <p:nvSpPr>
          <p:cNvPr id="27" name="Text 25"/>
          <p:cNvSpPr txBox="1"/>
          <p:nvPr/>
        </p:nvSpPr>
        <p:spPr>
          <a:xfrm>
            <a:off x="10561320" y="4325112"/>
            <a:ext cx="1051560" cy="548640"/>
          </a:xfrm>
          <a:prstGeom prst="rect">
            <a:avLst/>
          </a:prstGeom>
          <a:noFill/>
          <a:ln/>
        </p:spPr>
        <p:txBody>
          <a:bodyPr wrap="square" lIns="0" tIns="0" rIns="0" bIns="0" rtlCol="0" anchor="ctr"/>
          <a:lstStyle/>
          <a:p>
            <a:pPr algn="r" indent="0" marL="0">
              <a:buNone/>
            </a:pPr>
            <a:r>
              <a:rPr lang="en-US" sz="1800" b="1" dirty="0">
                <a:solidFill>
                  <a:srgbClr val="0B2545"/>
                </a:solidFill>
                <a:latin typeface="Cambria" pitchFamily="34" charset="0"/>
                <a:ea typeface="Cambria" pitchFamily="34" charset="-122"/>
                <a:cs typeface="Cambria" pitchFamily="34" charset="-120"/>
              </a:rPr>
              <a:t>1.00</a:t>
            </a:r>
            <a:endParaRPr lang="en-US" sz="1800" dirty="0"/>
          </a:p>
        </p:txBody>
      </p:sp>
      <p:sp>
        <p:nvSpPr>
          <p:cNvPr id="28" name="Shape 26"/>
          <p:cNvSpPr/>
          <p:nvPr/>
        </p:nvSpPr>
        <p:spPr>
          <a:xfrm>
            <a:off x="5897880" y="5029200"/>
            <a:ext cx="457200" cy="457200"/>
          </a:xfrm>
          <a:prstGeom prst="ellipse">
            <a:avLst/>
          </a:prstGeom>
          <a:solidFill>
            <a:srgbClr val="C9A227"/>
          </a:solidFill>
          <a:ln w="12700">
            <a:solidFill>
              <a:srgbClr val="C9A227"/>
            </a:solidFill>
            <a:prstDash val="solid"/>
          </a:ln>
        </p:spPr>
      </p:sp>
      <p:sp>
        <p:nvSpPr>
          <p:cNvPr id="29" name="Text 27"/>
          <p:cNvSpPr txBox="1"/>
          <p:nvPr/>
        </p:nvSpPr>
        <p:spPr>
          <a:xfrm>
            <a:off x="5897880" y="5029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0" name="Text 28"/>
          <p:cNvSpPr txBox="1"/>
          <p:nvPr/>
        </p:nvSpPr>
        <p:spPr>
          <a:xfrm>
            <a:off x="6537960" y="4983480"/>
            <a:ext cx="4023360" cy="54864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Organización y explicación</a:t>
            </a:r>
            <a:endParaRPr lang="en-US" sz="1800" dirty="0"/>
          </a:p>
        </p:txBody>
      </p:sp>
      <p:sp>
        <p:nvSpPr>
          <p:cNvPr id="31" name="Text 29"/>
          <p:cNvSpPr txBox="1"/>
          <p:nvPr/>
        </p:nvSpPr>
        <p:spPr>
          <a:xfrm>
            <a:off x="10561320" y="4983480"/>
            <a:ext cx="1051560" cy="548640"/>
          </a:xfrm>
          <a:prstGeom prst="rect">
            <a:avLst/>
          </a:prstGeom>
          <a:noFill/>
          <a:ln/>
        </p:spPr>
        <p:txBody>
          <a:bodyPr wrap="square" lIns="0" tIns="0" rIns="0" bIns="0" rtlCol="0" anchor="ctr"/>
          <a:lstStyle/>
          <a:p>
            <a:pPr algn="r" indent="0" marL="0">
              <a:buNone/>
            </a:pPr>
            <a:r>
              <a:rPr lang="en-US" sz="1800" b="1" dirty="0">
                <a:solidFill>
                  <a:srgbClr val="0B2545"/>
                </a:solidFill>
                <a:latin typeface="Cambria" pitchFamily="34" charset="0"/>
                <a:ea typeface="Cambria" pitchFamily="34" charset="-122"/>
                <a:cs typeface="Cambria" pitchFamily="34" charset="-120"/>
              </a:rPr>
              <a:t>0.50</a:t>
            </a:r>
            <a:endParaRPr lang="en-US" sz="1800" dirty="0"/>
          </a:p>
        </p:txBody>
      </p:sp>
      <p:sp>
        <p:nvSpPr>
          <p:cNvPr id="32" name="Shape 30"/>
          <p:cNvSpPr/>
          <p:nvPr/>
        </p:nvSpPr>
        <p:spPr>
          <a:xfrm>
            <a:off x="5897880" y="5669280"/>
            <a:ext cx="5715000" cy="0"/>
          </a:xfrm>
          <a:prstGeom prst="line">
            <a:avLst/>
          </a:prstGeom>
          <a:noFill/>
          <a:ln w="12700">
            <a:solidFill>
              <a:srgbClr val="D5DEEA"/>
            </a:solidFill>
            <a:prstDash val="solid"/>
          </a:ln>
        </p:spPr>
      </p:sp>
      <p:sp>
        <p:nvSpPr>
          <p:cNvPr id="33" name="Text 31"/>
          <p:cNvSpPr txBox="1"/>
          <p:nvPr/>
        </p:nvSpPr>
        <p:spPr>
          <a:xfrm>
            <a:off x="6537960" y="5715000"/>
            <a:ext cx="4023360" cy="45720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Total</a:t>
            </a:r>
            <a:endParaRPr lang="en-US" sz="1800" dirty="0"/>
          </a:p>
        </p:txBody>
      </p:sp>
      <p:sp>
        <p:nvSpPr>
          <p:cNvPr id="34" name="Text 32"/>
          <p:cNvSpPr txBox="1"/>
          <p:nvPr/>
        </p:nvSpPr>
        <p:spPr>
          <a:xfrm>
            <a:off x="10561320" y="5715000"/>
            <a:ext cx="1051560" cy="457200"/>
          </a:xfrm>
          <a:prstGeom prst="rect">
            <a:avLst/>
          </a:prstGeom>
          <a:noFill/>
          <a:ln/>
        </p:spPr>
        <p:txBody>
          <a:bodyPr wrap="square" lIns="0" tIns="0" rIns="0" bIns="0" rtlCol="0" anchor="ctr"/>
          <a:lstStyle/>
          <a:p>
            <a:pPr algn="r" indent="0" marL="0">
              <a:buNone/>
            </a:pPr>
            <a:r>
              <a:rPr lang="en-US" sz="2000" b="1" dirty="0">
                <a:solidFill>
                  <a:srgbClr val="C62828"/>
                </a:solidFill>
                <a:latin typeface="Cambria" pitchFamily="34" charset="0"/>
                <a:ea typeface="Cambria" pitchFamily="34" charset="-122"/>
                <a:cs typeface="Cambria" pitchFamily="34" charset="-120"/>
              </a:rPr>
              <a:t>5.00</a:t>
            </a:r>
            <a:endParaRPr lang="en-US" sz="2000" dirty="0"/>
          </a:p>
        </p:txBody>
      </p:sp>
      <p:sp>
        <p:nvSpPr>
          <p:cNvPr id="35" name="Text 3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El proyecto en números</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Datos reales registrados en la base de datos en la nube (septiembre 2026)</a:t>
            </a:r>
            <a:endParaRPr lang="en-US" sz="1500" dirty="0"/>
          </a:p>
        </p:txBody>
      </p:sp>
      <p:sp>
        <p:nvSpPr>
          <p:cNvPr id="4" name="Shape 2"/>
          <p:cNvSpPr/>
          <p:nvPr/>
        </p:nvSpPr>
        <p:spPr>
          <a:xfrm>
            <a:off x="548640" y="1691640"/>
            <a:ext cx="3474720" cy="1965960"/>
          </a:xfrm>
          <a:prstGeom prst="roundRect">
            <a:avLst>
              <a:gd name="adj" fmla="val 5581"/>
            </a:avLst>
          </a:prstGeom>
          <a:solidFill>
            <a:srgbClr val="EEF3F9"/>
          </a:solidFill>
          <a:ln w="12700">
            <a:solidFill>
              <a:srgbClr val="EEF3F9"/>
            </a:solidFill>
            <a:prstDash val="solid"/>
          </a:ln>
        </p:spPr>
      </p:sp>
      <p:sp>
        <p:nvSpPr>
          <p:cNvPr id="5" name="Text 3"/>
          <p:cNvSpPr txBox="1"/>
          <p:nvPr/>
        </p:nvSpPr>
        <p:spPr>
          <a:xfrm>
            <a:off x="822960" y="1920240"/>
            <a:ext cx="2926080" cy="960120"/>
          </a:xfrm>
          <a:prstGeom prst="rect">
            <a:avLst/>
          </a:prstGeom>
          <a:noFill/>
          <a:ln/>
        </p:spPr>
        <p:txBody>
          <a:bodyPr wrap="square" lIns="0" tIns="0" rIns="0" bIns="0" rtlCol="0" anchor="ctr"/>
          <a:lstStyle/>
          <a:p>
            <a:pPr indent="0" marL="0">
              <a:buNone/>
            </a:pPr>
            <a:r>
              <a:rPr lang="en-US" sz="5400" b="1" dirty="0">
                <a:solidFill>
                  <a:srgbClr val="1D6FA5"/>
                </a:solidFill>
                <a:latin typeface="Cambria" pitchFamily="34" charset="0"/>
                <a:ea typeface="Cambria" pitchFamily="34" charset="-122"/>
                <a:cs typeface="Cambria" pitchFamily="34" charset="-120"/>
              </a:rPr>
              <a:t>10</a:t>
            </a:r>
            <a:endParaRPr lang="en-US" sz="5400" dirty="0"/>
          </a:p>
        </p:txBody>
      </p:sp>
      <p:sp>
        <p:nvSpPr>
          <p:cNvPr id="6" name="Text 4"/>
          <p:cNvSpPr txBox="1"/>
          <p:nvPr/>
        </p:nvSpPr>
        <p:spPr>
          <a:xfrm>
            <a:off x="822960" y="2880360"/>
            <a:ext cx="2926080" cy="5943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tablas relacionadas en la base de datos</a:t>
            </a:r>
            <a:endParaRPr lang="en-US" sz="1600" dirty="0"/>
          </a:p>
        </p:txBody>
      </p:sp>
      <p:sp>
        <p:nvSpPr>
          <p:cNvPr id="7" name="Shape 5"/>
          <p:cNvSpPr/>
          <p:nvPr/>
        </p:nvSpPr>
        <p:spPr>
          <a:xfrm>
            <a:off x="4297680" y="1691640"/>
            <a:ext cx="3474720" cy="1965960"/>
          </a:xfrm>
          <a:prstGeom prst="roundRect">
            <a:avLst>
              <a:gd name="adj" fmla="val 5581"/>
            </a:avLst>
          </a:prstGeom>
          <a:solidFill>
            <a:srgbClr val="EEF3F9"/>
          </a:solidFill>
          <a:ln w="12700">
            <a:solidFill>
              <a:srgbClr val="EEF3F9"/>
            </a:solidFill>
            <a:prstDash val="solid"/>
          </a:ln>
        </p:spPr>
      </p:sp>
      <p:sp>
        <p:nvSpPr>
          <p:cNvPr id="8" name="Text 6"/>
          <p:cNvSpPr txBox="1"/>
          <p:nvPr/>
        </p:nvSpPr>
        <p:spPr>
          <a:xfrm>
            <a:off x="4572000" y="1920240"/>
            <a:ext cx="2926080" cy="960120"/>
          </a:xfrm>
          <a:prstGeom prst="rect">
            <a:avLst/>
          </a:prstGeom>
          <a:noFill/>
          <a:ln/>
        </p:spPr>
        <p:txBody>
          <a:bodyPr wrap="square" lIns="0" tIns="0" rIns="0" bIns="0" rtlCol="0" anchor="ctr"/>
          <a:lstStyle/>
          <a:p>
            <a:pPr indent="0" marL="0">
              <a:buNone/>
            </a:pPr>
            <a:r>
              <a:rPr lang="en-US" sz="5400" b="1" dirty="0">
                <a:solidFill>
                  <a:srgbClr val="1D6FA5"/>
                </a:solidFill>
                <a:latin typeface="Cambria" pitchFamily="34" charset="0"/>
                <a:ea typeface="Cambria" pitchFamily="34" charset="-122"/>
                <a:cs typeface="Cambria" pitchFamily="34" charset="-120"/>
              </a:rPr>
              <a:t>46</a:t>
            </a:r>
            <a:endParaRPr lang="en-US" sz="5400" dirty="0"/>
          </a:p>
        </p:txBody>
      </p:sp>
      <p:sp>
        <p:nvSpPr>
          <p:cNvPr id="9" name="Text 7"/>
          <p:cNvSpPr txBox="1"/>
          <p:nvPr/>
        </p:nvSpPr>
        <p:spPr>
          <a:xfrm>
            <a:off x="4572000" y="2880360"/>
            <a:ext cx="2926080" cy="5943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productos en 7 categorías</a:t>
            </a:r>
            <a:endParaRPr lang="en-US" sz="1600" dirty="0"/>
          </a:p>
        </p:txBody>
      </p:sp>
      <p:sp>
        <p:nvSpPr>
          <p:cNvPr id="10" name="Shape 8"/>
          <p:cNvSpPr/>
          <p:nvPr/>
        </p:nvSpPr>
        <p:spPr>
          <a:xfrm>
            <a:off x="8046720" y="1691640"/>
            <a:ext cx="3474720" cy="1965960"/>
          </a:xfrm>
          <a:prstGeom prst="roundRect">
            <a:avLst>
              <a:gd name="adj" fmla="val 5581"/>
            </a:avLst>
          </a:prstGeom>
          <a:solidFill>
            <a:srgbClr val="EEF3F9"/>
          </a:solidFill>
          <a:ln w="12700">
            <a:solidFill>
              <a:srgbClr val="EEF3F9"/>
            </a:solidFill>
            <a:prstDash val="solid"/>
          </a:ln>
        </p:spPr>
      </p:sp>
      <p:sp>
        <p:nvSpPr>
          <p:cNvPr id="11" name="Text 9"/>
          <p:cNvSpPr txBox="1"/>
          <p:nvPr/>
        </p:nvSpPr>
        <p:spPr>
          <a:xfrm>
            <a:off x="8321040" y="1920240"/>
            <a:ext cx="2926080" cy="960120"/>
          </a:xfrm>
          <a:prstGeom prst="rect">
            <a:avLst/>
          </a:prstGeom>
          <a:noFill/>
          <a:ln/>
        </p:spPr>
        <p:txBody>
          <a:bodyPr wrap="square" lIns="0" tIns="0" rIns="0" bIns="0" rtlCol="0" anchor="ctr"/>
          <a:lstStyle/>
          <a:p>
            <a:pPr indent="0" marL="0">
              <a:buNone/>
            </a:pPr>
            <a:r>
              <a:rPr lang="en-US" sz="5400" b="1" dirty="0">
                <a:solidFill>
                  <a:srgbClr val="1D6FA5"/>
                </a:solidFill>
                <a:latin typeface="Cambria" pitchFamily="34" charset="0"/>
                <a:ea typeface="Cambria" pitchFamily="34" charset="-122"/>
                <a:cs typeface="Cambria" pitchFamily="34" charset="-120"/>
              </a:rPr>
              <a:t>30</a:t>
            </a:r>
            <a:endParaRPr lang="en-US" sz="5400" dirty="0"/>
          </a:p>
        </p:txBody>
      </p:sp>
      <p:sp>
        <p:nvSpPr>
          <p:cNvPr id="12" name="Text 10"/>
          <p:cNvSpPr txBox="1"/>
          <p:nvPr/>
        </p:nvSpPr>
        <p:spPr>
          <a:xfrm>
            <a:off x="8321040" y="2880360"/>
            <a:ext cx="2926080" cy="5943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clientes registrados</a:t>
            </a:r>
            <a:endParaRPr lang="en-US" sz="1600" dirty="0"/>
          </a:p>
        </p:txBody>
      </p:sp>
      <p:sp>
        <p:nvSpPr>
          <p:cNvPr id="13" name="Shape 11"/>
          <p:cNvSpPr/>
          <p:nvPr/>
        </p:nvSpPr>
        <p:spPr>
          <a:xfrm>
            <a:off x="548640" y="3931920"/>
            <a:ext cx="3474720" cy="1965960"/>
          </a:xfrm>
          <a:prstGeom prst="roundRect">
            <a:avLst>
              <a:gd name="adj" fmla="val 5581"/>
            </a:avLst>
          </a:prstGeom>
          <a:solidFill>
            <a:srgbClr val="EEF3F9"/>
          </a:solidFill>
          <a:ln w="12700">
            <a:solidFill>
              <a:srgbClr val="EEF3F9"/>
            </a:solidFill>
            <a:prstDash val="solid"/>
          </a:ln>
        </p:spPr>
      </p:sp>
      <p:sp>
        <p:nvSpPr>
          <p:cNvPr id="14" name="Text 12"/>
          <p:cNvSpPr txBox="1"/>
          <p:nvPr/>
        </p:nvSpPr>
        <p:spPr>
          <a:xfrm>
            <a:off x="822960" y="4160520"/>
            <a:ext cx="2926080" cy="960120"/>
          </a:xfrm>
          <a:prstGeom prst="rect">
            <a:avLst/>
          </a:prstGeom>
          <a:noFill/>
          <a:ln/>
        </p:spPr>
        <p:txBody>
          <a:bodyPr wrap="square" lIns="0" tIns="0" rIns="0" bIns="0" rtlCol="0" anchor="ctr"/>
          <a:lstStyle/>
          <a:p>
            <a:pPr indent="0" marL="0">
              <a:buNone/>
            </a:pPr>
            <a:r>
              <a:rPr lang="en-US" sz="5400" b="1" dirty="0">
                <a:solidFill>
                  <a:srgbClr val="C62828"/>
                </a:solidFill>
                <a:latin typeface="Cambria" pitchFamily="34" charset="0"/>
                <a:ea typeface="Cambria" pitchFamily="34" charset="-122"/>
                <a:cs typeface="Cambria" pitchFamily="34" charset="-120"/>
              </a:rPr>
              <a:t>61</a:t>
            </a:r>
            <a:endParaRPr lang="en-US" sz="5400" dirty="0"/>
          </a:p>
        </p:txBody>
      </p:sp>
      <p:sp>
        <p:nvSpPr>
          <p:cNvPr id="15" name="Text 13"/>
          <p:cNvSpPr txBox="1"/>
          <p:nvPr/>
        </p:nvSpPr>
        <p:spPr>
          <a:xfrm>
            <a:off x="822960" y="5120640"/>
            <a:ext cx="2926080" cy="5943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facturas con su detalle</a:t>
            </a:r>
            <a:endParaRPr lang="en-US" sz="1600" dirty="0"/>
          </a:p>
        </p:txBody>
      </p:sp>
      <p:sp>
        <p:nvSpPr>
          <p:cNvPr id="16" name="Shape 14"/>
          <p:cNvSpPr/>
          <p:nvPr/>
        </p:nvSpPr>
        <p:spPr>
          <a:xfrm>
            <a:off x="4297680" y="3931920"/>
            <a:ext cx="3474720" cy="1965960"/>
          </a:xfrm>
          <a:prstGeom prst="roundRect">
            <a:avLst>
              <a:gd name="adj" fmla="val 5581"/>
            </a:avLst>
          </a:prstGeom>
          <a:solidFill>
            <a:srgbClr val="EEF3F9"/>
          </a:solidFill>
          <a:ln w="12700">
            <a:solidFill>
              <a:srgbClr val="EEF3F9"/>
            </a:solidFill>
            <a:prstDash val="solid"/>
          </a:ln>
        </p:spPr>
      </p:sp>
      <p:sp>
        <p:nvSpPr>
          <p:cNvPr id="17" name="Text 15"/>
          <p:cNvSpPr txBox="1"/>
          <p:nvPr/>
        </p:nvSpPr>
        <p:spPr>
          <a:xfrm>
            <a:off x="4572000" y="4160520"/>
            <a:ext cx="2926080" cy="960120"/>
          </a:xfrm>
          <a:prstGeom prst="rect">
            <a:avLst/>
          </a:prstGeom>
          <a:noFill/>
          <a:ln/>
        </p:spPr>
        <p:txBody>
          <a:bodyPr wrap="square" lIns="0" tIns="0" rIns="0" bIns="0" rtlCol="0" anchor="ctr"/>
          <a:lstStyle/>
          <a:p>
            <a:pPr indent="0" marL="0">
              <a:buNone/>
            </a:pPr>
            <a:r>
              <a:rPr lang="en-US" sz="5400" b="1" dirty="0">
                <a:solidFill>
                  <a:srgbClr val="C62828"/>
                </a:solidFill>
                <a:latin typeface="Cambria" pitchFamily="34" charset="0"/>
                <a:ea typeface="Cambria" pitchFamily="34" charset="-122"/>
                <a:cs typeface="Cambria" pitchFamily="34" charset="-120"/>
              </a:rPr>
              <a:t>Q 8,363</a:t>
            </a:r>
            <a:endParaRPr lang="en-US" sz="5400" dirty="0"/>
          </a:p>
        </p:txBody>
      </p:sp>
      <p:sp>
        <p:nvSpPr>
          <p:cNvPr id="18" name="Text 16"/>
          <p:cNvSpPr txBox="1"/>
          <p:nvPr/>
        </p:nvSpPr>
        <p:spPr>
          <a:xfrm>
            <a:off x="4572000" y="5120640"/>
            <a:ext cx="2926080" cy="5943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vendidos en septiembre</a:t>
            </a:r>
            <a:endParaRPr lang="en-US" sz="1600" dirty="0"/>
          </a:p>
        </p:txBody>
      </p:sp>
      <p:sp>
        <p:nvSpPr>
          <p:cNvPr id="19" name="Shape 17"/>
          <p:cNvSpPr/>
          <p:nvPr/>
        </p:nvSpPr>
        <p:spPr>
          <a:xfrm>
            <a:off x="8046720" y="3931920"/>
            <a:ext cx="3474720" cy="1965960"/>
          </a:xfrm>
          <a:prstGeom prst="roundRect">
            <a:avLst>
              <a:gd name="adj" fmla="val 5581"/>
            </a:avLst>
          </a:prstGeom>
          <a:solidFill>
            <a:srgbClr val="EEF3F9"/>
          </a:solidFill>
          <a:ln w="12700">
            <a:solidFill>
              <a:srgbClr val="EEF3F9"/>
            </a:solidFill>
            <a:prstDash val="solid"/>
          </a:ln>
        </p:spPr>
      </p:sp>
      <p:sp>
        <p:nvSpPr>
          <p:cNvPr id="20" name="Text 18"/>
          <p:cNvSpPr txBox="1"/>
          <p:nvPr/>
        </p:nvSpPr>
        <p:spPr>
          <a:xfrm>
            <a:off x="8321040" y="4160520"/>
            <a:ext cx="2926080" cy="960120"/>
          </a:xfrm>
          <a:prstGeom prst="rect">
            <a:avLst/>
          </a:prstGeom>
          <a:noFill/>
          <a:ln/>
        </p:spPr>
        <p:txBody>
          <a:bodyPr wrap="square" lIns="0" tIns="0" rIns="0" bIns="0" rtlCol="0" anchor="ctr"/>
          <a:lstStyle/>
          <a:p>
            <a:pPr indent="0" marL="0">
              <a:buNone/>
            </a:pPr>
            <a:r>
              <a:rPr lang="en-US" sz="5400" b="1" dirty="0">
                <a:solidFill>
                  <a:srgbClr val="C62828"/>
                </a:solidFill>
                <a:latin typeface="Cambria" pitchFamily="34" charset="0"/>
                <a:ea typeface="Cambria" pitchFamily="34" charset="-122"/>
                <a:cs typeface="Cambria" pitchFamily="34" charset="-120"/>
              </a:rPr>
              <a:t>2</a:t>
            </a:r>
            <a:endParaRPr lang="en-US" sz="5400" dirty="0"/>
          </a:p>
        </p:txBody>
      </p:sp>
      <p:sp>
        <p:nvSpPr>
          <p:cNvPr id="21" name="Text 19"/>
          <p:cNvSpPr txBox="1"/>
          <p:nvPr/>
        </p:nvSpPr>
        <p:spPr>
          <a:xfrm>
            <a:off x="8321040" y="5120640"/>
            <a:ext cx="2926080" cy="59436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aplicaciones: escritorio y Android</a:t>
            </a:r>
            <a:endParaRPr lang="en-US" sz="1600" dirty="0"/>
          </a:p>
        </p:txBody>
      </p:sp>
      <p:sp>
        <p:nvSpPr>
          <p:cNvPr id="22" name="Text 2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Arquitectura por capas</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Patrón MVC con acceso a datos mediante DAO</a:t>
            </a:r>
            <a:endParaRPr lang="en-US" sz="1500" dirty="0"/>
          </a:p>
        </p:txBody>
      </p:sp>
      <p:sp>
        <p:nvSpPr>
          <p:cNvPr id="4" name="Shape 2"/>
          <p:cNvSpPr/>
          <p:nvPr/>
        </p:nvSpPr>
        <p:spPr>
          <a:xfrm>
            <a:off x="548640" y="1737360"/>
            <a:ext cx="2514600" cy="2377440"/>
          </a:xfrm>
          <a:prstGeom prst="roundRect">
            <a:avLst>
              <a:gd name="adj" fmla="val 4615"/>
            </a:avLst>
          </a:prstGeom>
          <a:solidFill>
            <a:srgbClr val="1D6FA5"/>
          </a:solidFill>
          <a:ln w="12700">
            <a:solidFill>
              <a:srgbClr val="1D6FA5"/>
            </a:solidFill>
            <a:prstDash val="solid"/>
          </a:ln>
          <a:effectLst>
            <a:outerShdw sx="100000" sy="100000" kx="0" ky="0" algn="bl" rotWithShape="0" blurRad="101600" dist="254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777240" y="1965960"/>
            <a:ext cx="502920" cy="502920"/>
          </a:xfrm>
          <a:prstGeom prst="rect">
            <a:avLst/>
          </a:prstGeom>
        </p:spPr>
      </p:pic>
      <p:sp>
        <p:nvSpPr>
          <p:cNvPr id="6" name="Text 3"/>
          <p:cNvSpPr txBox="1"/>
          <p:nvPr/>
        </p:nvSpPr>
        <p:spPr>
          <a:xfrm>
            <a:off x="777240" y="2606040"/>
            <a:ext cx="210312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Vista</a:t>
            </a:r>
            <a:endParaRPr lang="en-US" sz="2000" dirty="0"/>
          </a:p>
        </p:txBody>
      </p:sp>
      <p:sp>
        <p:nvSpPr>
          <p:cNvPr id="7" name="Text 4"/>
          <p:cNvSpPr txBox="1"/>
          <p:nvPr/>
        </p:nvSpPr>
        <p:spPr>
          <a:xfrm>
            <a:off x="777240" y="3108960"/>
            <a:ext cx="2148840" cy="868680"/>
          </a:xfrm>
          <a:prstGeom prst="rect">
            <a:avLst/>
          </a:prstGeom>
          <a:noFill/>
          <a:ln/>
        </p:spPr>
        <p:txBody>
          <a:bodyPr wrap="square" lIns="0" tIns="0" rIns="0" bIns="0" rtlCol="0" anchor="t"/>
          <a:lstStyle/>
          <a:p>
            <a:pPr indent="0" marL="0">
              <a:buNone/>
            </a:pPr>
            <a:r>
              <a:rPr lang="en-US" sz="1300" dirty="0">
                <a:solidFill>
                  <a:srgbClr val="DCE6F2"/>
                </a:solidFill>
                <a:latin typeface="Calibri" pitchFamily="34" charset="0"/>
                <a:ea typeface="Calibri" pitchFamily="34" charset="-122"/>
                <a:cs typeface="Calibri" pitchFamily="34" charset="-120"/>
              </a:rPr>
              <a:t>Swing MDI · FlatLaf</a:t>
            </a:r>
            <a:endParaRPr lang="en-US" sz="1300" dirty="0"/>
          </a:p>
          <a:p>
            <a:pPr indent="0" marL="0">
              <a:buNone/>
            </a:pPr>
            <a:r>
              <a:rPr lang="en-US" sz="1300" dirty="0">
                <a:solidFill>
                  <a:srgbClr val="DCE6F2"/>
                </a:solidFill>
                <a:latin typeface="Calibri" pitchFamily="34" charset="0"/>
                <a:ea typeface="Calibri" pitchFamily="34" charset="-122"/>
                <a:cs typeface="Calibri" pitchFamily="34" charset="-120"/>
              </a:rPr>
              <a:t>FrmPrincipal, formularios</a:t>
            </a:r>
            <a:endParaRPr lang="en-US" sz="1300" dirty="0"/>
          </a:p>
        </p:txBody>
      </p:sp>
      <p:pic>
        <p:nvPicPr>
          <p:cNvPr id="8" name="Image 1" descr="preencoded.png">    </p:cNvPr>
          <p:cNvPicPr>
            <a:picLocks noChangeAspect="1"/>
          </p:cNvPicPr>
          <p:nvPr/>
        </p:nvPicPr>
        <p:blipFill>
          <a:blip r:embed="rId2"/>
          <a:stretch>
            <a:fillRect/>
          </a:stretch>
        </p:blipFill>
        <p:spPr>
          <a:xfrm>
            <a:off x="3136392" y="2743200"/>
            <a:ext cx="256032" cy="256032"/>
          </a:xfrm>
          <a:prstGeom prst="rect">
            <a:avLst/>
          </a:prstGeom>
        </p:spPr>
      </p:pic>
      <p:sp>
        <p:nvSpPr>
          <p:cNvPr id="9" name="Shape 5"/>
          <p:cNvSpPr/>
          <p:nvPr/>
        </p:nvSpPr>
        <p:spPr>
          <a:xfrm>
            <a:off x="3456432" y="1737360"/>
            <a:ext cx="2514600" cy="2377440"/>
          </a:xfrm>
          <a:prstGeom prst="roundRect">
            <a:avLst>
              <a:gd name="adj" fmla="val 4615"/>
            </a:avLst>
          </a:prstGeom>
          <a:solidFill>
            <a:srgbClr val="1D6FA5"/>
          </a:solidFill>
          <a:ln w="12700">
            <a:solidFill>
              <a:srgbClr val="1D6FA5"/>
            </a:solidFill>
            <a:prstDash val="solid"/>
          </a:ln>
          <a:effectLst>
            <a:outerShdw sx="100000" sy="100000" kx="0" ky="0" algn="bl" rotWithShape="0" blurRad="101600" dist="25400" dir="5400000">
              <a:srgbClr val="000000">
                <a:alpha val="18000"/>
              </a:srgbClr>
            </a:outerShdw>
          </a:effectLst>
        </p:spPr>
      </p:sp>
      <p:pic>
        <p:nvPicPr>
          <p:cNvPr id="10" name="Image 2" descr="preencoded.png">    </p:cNvPr>
          <p:cNvPicPr>
            <a:picLocks noChangeAspect="1"/>
          </p:cNvPicPr>
          <p:nvPr/>
        </p:nvPicPr>
        <p:blipFill>
          <a:blip r:embed="rId3"/>
          <a:stretch>
            <a:fillRect/>
          </a:stretch>
        </p:blipFill>
        <p:spPr>
          <a:xfrm>
            <a:off x="3685032" y="1965960"/>
            <a:ext cx="502920" cy="502920"/>
          </a:xfrm>
          <a:prstGeom prst="rect">
            <a:avLst/>
          </a:prstGeom>
        </p:spPr>
      </p:pic>
      <p:sp>
        <p:nvSpPr>
          <p:cNvPr id="11" name="Text 6"/>
          <p:cNvSpPr txBox="1"/>
          <p:nvPr/>
        </p:nvSpPr>
        <p:spPr>
          <a:xfrm>
            <a:off x="3685032" y="2606040"/>
            <a:ext cx="210312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Controlador</a:t>
            </a:r>
            <a:endParaRPr lang="en-US" sz="2000" dirty="0"/>
          </a:p>
        </p:txBody>
      </p:sp>
      <p:sp>
        <p:nvSpPr>
          <p:cNvPr id="12" name="Text 7"/>
          <p:cNvSpPr txBox="1"/>
          <p:nvPr/>
        </p:nvSpPr>
        <p:spPr>
          <a:xfrm>
            <a:off x="3685032" y="3108960"/>
            <a:ext cx="2148840" cy="868680"/>
          </a:xfrm>
          <a:prstGeom prst="rect">
            <a:avLst/>
          </a:prstGeom>
          <a:noFill/>
          <a:ln/>
        </p:spPr>
        <p:txBody>
          <a:bodyPr wrap="square" lIns="0" tIns="0" rIns="0" bIns="0" rtlCol="0" anchor="t"/>
          <a:lstStyle/>
          <a:p>
            <a:pPr indent="0" marL="0">
              <a:buNone/>
            </a:pPr>
            <a:r>
              <a:rPr lang="en-US" sz="1300" dirty="0">
                <a:solidFill>
                  <a:srgbClr val="DCE6F2"/>
                </a:solidFill>
                <a:latin typeface="Calibri" pitchFamily="34" charset="0"/>
                <a:ea typeface="Calibri" pitchFamily="34" charset="-122"/>
                <a:cs typeface="Calibri" pitchFamily="34" charset="-120"/>
              </a:rPr>
              <a:t>Reglas y validaciones</a:t>
            </a:r>
            <a:endParaRPr lang="en-US" sz="1300" dirty="0"/>
          </a:p>
          <a:p>
            <a:pPr indent="0" marL="0">
              <a:buNone/>
            </a:pPr>
            <a:r>
              <a:rPr lang="en-US" sz="1300" dirty="0">
                <a:solidFill>
                  <a:srgbClr val="DCE6F2"/>
                </a:solidFill>
                <a:latin typeface="Calibri" pitchFamily="34" charset="0"/>
                <a:ea typeface="Calibri" pitchFamily="34" charset="-122"/>
                <a:cs typeface="Calibri" pitchFamily="34" charset="-120"/>
              </a:rPr>
              <a:t>ProductoController…</a:t>
            </a:r>
            <a:endParaRPr lang="en-US" sz="1300" dirty="0"/>
          </a:p>
        </p:txBody>
      </p:sp>
      <p:pic>
        <p:nvPicPr>
          <p:cNvPr id="13" name="Image 3" descr="preencoded.png">    </p:cNvPr>
          <p:cNvPicPr>
            <a:picLocks noChangeAspect="1"/>
          </p:cNvPicPr>
          <p:nvPr/>
        </p:nvPicPr>
        <p:blipFill>
          <a:blip r:embed="rId4"/>
          <a:stretch>
            <a:fillRect/>
          </a:stretch>
        </p:blipFill>
        <p:spPr>
          <a:xfrm>
            <a:off x="6044184" y="2743200"/>
            <a:ext cx="256032" cy="256032"/>
          </a:xfrm>
          <a:prstGeom prst="rect">
            <a:avLst/>
          </a:prstGeom>
        </p:spPr>
      </p:pic>
      <p:sp>
        <p:nvSpPr>
          <p:cNvPr id="14" name="Shape 8"/>
          <p:cNvSpPr/>
          <p:nvPr/>
        </p:nvSpPr>
        <p:spPr>
          <a:xfrm>
            <a:off x="6364224" y="1737360"/>
            <a:ext cx="2514600" cy="2377440"/>
          </a:xfrm>
          <a:prstGeom prst="roundRect">
            <a:avLst>
              <a:gd name="adj" fmla="val 4615"/>
            </a:avLst>
          </a:prstGeom>
          <a:solidFill>
            <a:srgbClr val="1D6FA5"/>
          </a:solidFill>
          <a:ln w="12700">
            <a:solidFill>
              <a:srgbClr val="1D6FA5"/>
            </a:solidFill>
            <a:prstDash val="solid"/>
          </a:ln>
          <a:effectLst>
            <a:outerShdw sx="100000" sy="100000" kx="0" ky="0" algn="bl" rotWithShape="0" blurRad="101600" dist="25400" dir="5400000">
              <a:srgbClr val="000000">
                <a:alpha val="18000"/>
              </a:srgbClr>
            </a:outerShdw>
          </a:effectLst>
        </p:spPr>
      </p:sp>
      <p:pic>
        <p:nvPicPr>
          <p:cNvPr id="15" name="Image 4" descr="preencoded.png">    </p:cNvPr>
          <p:cNvPicPr>
            <a:picLocks noChangeAspect="1"/>
          </p:cNvPicPr>
          <p:nvPr/>
        </p:nvPicPr>
        <p:blipFill>
          <a:blip r:embed="rId5"/>
          <a:stretch>
            <a:fillRect/>
          </a:stretch>
        </p:blipFill>
        <p:spPr>
          <a:xfrm>
            <a:off x="6592824" y="1965960"/>
            <a:ext cx="502920" cy="502920"/>
          </a:xfrm>
          <a:prstGeom prst="rect">
            <a:avLst/>
          </a:prstGeom>
        </p:spPr>
      </p:pic>
      <p:sp>
        <p:nvSpPr>
          <p:cNvPr id="16" name="Text 9"/>
          <p:cNvSpPr txBox="1"/>
          <p:nvPr/>
        </p:nvSpPr>
        <p:spPr>
          <a:xfrm>
            <a:off x="6592824" y="2606040"/>
            <a:ext cx="210312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DAO</a:t>
            </a:r>
            <a:endParaRPr lang="en-US" sz="2000" dirty="0"/>
          </a:p>
        </p:txBody>
      </p:sp>
      <p:sp>
        <p:nvSpPr>
          <p:cNvPr id="17" name="Text 10"/>
          <p:cNvSpPr txBox="1"/>
          <p:nvPr/>
        </p:nvSpPr>
        <p:spPr>
          <a:xfrm>
            <a:off x="6592824" y="3108960"/>
            <a:ext cx="2148840" cy="868680"/>
          </a:xfrm>
          <a:prstGeom prst="rect">
            <a:avLst/>
          </a:prstGeom>
          <a:noFill/>
          <a:ln/>
        </p:spPr>
        <p:txBody>
          <a:bodyPr wrap="square" lIns="0" tIns="0" rIns="0" bIns="0" rtlCol="0" anchor="t"/>
          <a:lstStyle/>
          <a:p>
            <a:pPr indent="0" marL="0">
              <a:buNone/>
            </a:pPr>
            <a:r>
              <a:rPr lang="en-US" sz="1300" dirty="0">
                <a:solidFill>
                  <a:srgbClr val="DCE6F2"/>
                </a:solidFill>
                <a:latin typeface="Calibri" pitchFamily="34" charset="0"/>
                <a:ea typeface="Calibri" pitchFamily="34" charset="-122"/>
                <a:cs typeface="Calibri" pitchFamily="34" charset="-120"/>
              </a:rPr>
              <a:t>Interfaces + JDBC</a:t>
            </a:r>
            <a:endParaRPr lang="en-US" sz="1300" dirty="0"/>
          </a:p>
          <a:p>
            <a:pPr indent="0" marL="0">
              <a:buNone/>
            </a:pPr>
            <a:r>
              <a:rPr lang="en-US" sz="1300" dirty="0">
                <a:solidFill>
                  <a:srgbClr val="DCE6F2"/>
                </a:solidFill>
                <a:latin typeface="Calibri" pitchFamily="34" charset="0"/>
                <a:ea typeface="Calibri" pitchFamily="34" charset="-122"/>
                <a:cs typeface="Calibri" pitchFamily="34" charset="-120"/>
              </a:rPr>
              <a:t>Singleton por entidad</a:t>
            </a:r>
            <a:endParaRPr lang="en-US" sz="1300" dirty="0"/>
          </a:p>
        </p:txBody>
      </p:sp>
      <p:pic>
        <p:nvPicPr>
          <p:cNvPr id="18" name="Image 5" descr="preencoded.png">    </p:cNvPr>
          <p:cNvPicPr>
            <a:picLocks noChangeAspect="1"/>
          </p:cNvPicPr>
          <p:nvPr/>
        </p:nvPicPr>
        <p:blipFill>
          <a:blip r:embed="rId6"/>
          <a:stretch>
            <a:fillRect/>
          </a:stretch>
        </p:blipFill>
        <p:spPr>
          <a:xfrm>
            <a:off x="8951976" y="2743200"/>
            <a:ext cx="256032" cy="256032"/>
          </a:xfrm>
          <a:prstGeom prst="rect">
            <a:avLst/>
          </a:prstGeom>
        </p:spPr>
      </p:pic>
      <p:sp>
        <p:nvSpPr>
          <p:cNvPr id="19" name="Shape 11"/>
          <p:cNvSpPr/>
          <p:nvPr/>
        </p:nvSpPr>
        <p:spPr>
          <a:xfrm>
            <a:off x="9272016" y="1737360"/>
            <a:ext cx="2514600" cy="2377440"/>
          </a:xfrm>
          <a:prstGeom prst="roundRect">
            <a:avLst>
              <a:gd name="adj" fmla="val 4615"/>
            </a:avLst>
          </a:prstGeom>
          <a:solidFill>
            <a:srgbClr val="0B2545"/>
          </a:solidFill>
          <a:ln w="12700">
            <a:solidFill>
              <a:srgbClr val="0B2545"/>
            </a:solidFill>
            <a:prstDash val="solid"/>
          </a:ln>
          <a:effectLst>
            <a:outerShdw sx="100000" sy="100000" kx="0" ky="0" algn="bl" rotWithShape="0" blurRad="101600" dist="25400" dir="5400000">
              <a:srgbClr val="000000">
                <a:alpha val="18000"/>
              </a:srgbClr>
            </a:outerShdw>
          </a:effectLst>
        </p:spPr>
      </p:sp>
      <p:pic>
        <p:nvPicPr>
          <p:cNvPr id="20" name="Image 6" descr="preencoded.png">    </p:cNvPr>
          <p:cNvPicPr>
            <a:picLocks noChangeAspect="1"/>
          </p:cNvPicPr>
          <p:nvPr/>
        </p:nvPicPr>
        <p:blipFill>
          <a:blip r:embed="rId7"/>
          <a:stretch>
            <a:fillRect/>
          </a:stretch>
        </p:blipFill>
        <p:spPr>
          <a:xfrm>
            <a:off x="9500616" y="1965960"/>
            <a:ext cx="502920" cy="502920"/>
          </a:xfrm>
          <a:prstGeom prst="rect">
            <a:avLst/>
          </a:prstGeom>
        </p:spPr>
      </p:pic>
      <p:sp>
        <p:nvSpPr>
          <p:cNvPr id="21" name="Text 12"/>
          <p:cNvSpPr txBox="1"/>
          <p:nvPr/>
        </p:nvSpPr>
        <p:spPr>
          <a:xfrm>
            <a:off x="9500616" y="2606040"/>
            <a:ext cx="210312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Base de datos</a:t>
            </a:r>
            <a:endParaRPr lang="en-US" sz="2000" dirty="0"/>
          </a:p>
        </p:txBody>
      </p:sp>
      <p:sp>
        <p:nvSpPr>
          <p:cNvPr id="22" name="Text 13"/>
          <p:cNvSpPr txBox="1"/>
          <p:nvPr/>
        </p:nvSpPr>
        <p:spPr>
          <a:xfrm>
            <a:off x="9500616" y="3108960"/>
            <a:ext cx="2148840" cy="868680"/>
          </a:xfrm>
          <a:prstGeom prst="rect">
            <a:avLst/>
          </a:prstGeom>
          <a:noFill/>
          <a:ln/>
        </p:spPr>
        <p:txBody>
          <a:bodyPr wrap="square" lIns="0" tIns="0" rIns="0" bIns="0" rtlCol="0" anchor="t"/>
          <a:lstStyle/>
          <a:p>
            <a:pPr indent="0" marL="0">
              <a:buNone/>
            </a:pPr>
            <a:r>
              <a:rPr lang="en-US" sz="1300" dirty="0">
                <a:solidFill>
                  <a:srgbClr val="DCE6F2"/>
                </a:solidFill>
                <a:latin typeface="Calibri" pitchFamily="34" charset="0"/>
                <a:ea typeface="Calibri" pitchFamily="34" charset="-122"/>
                <a:cs typeface="Calibri" pitchFamily="34" charset="-120"/>
              </a:rPr>
              <a:t>PostgreSQL en Supabase</a:t>
            </a:r>
            <a:endParaRPr lang="en-US" sz="1300" dirty="0"/>
          </a:p>
          <a:p>
            <a:pPr indent="0" marL="0">
              <a:buNone/>
            </a:pPr>
            <a:r>
              <a:rPr lang="en-US" sz="1300" dirty="0">
                <a:solidFill>
                  <a:srgbClr val="DCE6F2"/>
                </a:solidFill>
                <a:latin typeface="Calibri" pitchFamily="34" charset="0"/>
                <a:ea typeface="Calibri" pitchFamily="34" charset="-122"/>
                <a:cs typeface="Calibri" pitchFamily="34" charset="-120"/>
              </a:rPr>
              <a:t>(SQLite como respaldo local)</a:t>
            </a:r>
            <a:endParaRPr lang="en-US" sz="1300" dirty="0"/>
          </a:p>
        </p:txBody>
      </p:sp>
      <p:sp>
        <p:nvSpPr>
          <p:cNvPr id="23" name="Shape 14"/>
          <p:cNvSpPr/>
          <p:nvPr/>
        </p:nvSpPr>
        <p:spPr>
          <a:xfrm>
            <a:off x="8357616" y="4617720"/>
            <a:ext cx="2514600" cy="1463040"/>
          </a:xfrm>
          <a:prstGeom prst="roundRect">
            <a:avLst>
              <a:gd name="adj" fmla="val 7500"/>
            </a:avLst>
          </a:prstGeom>
          <a:solidFill>
            <a:srgbClr val="C62828"/>
          </a:solidFill>
          <a:ln w="12700">
            <a:solidFill>
              <a:srgbClr val="C62828"/>
            </a:solidFill>
            <a:prstDash val="solid"/>
          </a:ln>
          <a:effectLst>
            <a:outerShdw sx="100000" sy="100000" kx="0" ky="0" algn="bl" rotWithShape="0" blurRad="101600" dist="25400" dir="5400000">
              <a:srgbClr val="000000">
                <a:alpha val="18000"/>
              </a:srgbClr>
            </a:outerShdw>
          </a:effectLst>
        </p:spPr>
      </p:sp>
      <p:pic>
        <p:nvPicPr>
          <p:cNvPr id="24" name="Image 7" descr="preencoded.png">    </p:cNvPr>
          <p:cNvPicPr>
            <a:picLocks noChangeAspect="1"/>
          </p:cNvPicPr>
          <p:nvPr/>
        </p:nvPicPr>
        <p:blipFill>
          <a:blip r:embed="rId8"/>
          <a:stretch>
            <a:fillRect/>
          </a:stretch>
        </p:blipFill>
        <p:spPr>
          <a:xfrm>
            <a:off x="8586216" y="4800600"/>
            <a:ext cx="457200" cy="457200"/>
          </a:xfrm>
          <a:prstGeom prst="rect">
            <a:avLst/>
          </a:prstGeom>
        </p:spPr>
      </p:pic>
      <p:sp>
        <p:nvSpPr>
          <p:cNvPr id="25" name="Text 15"/>
          <p:cNvSpPr txBox="1"/>
          <p:nvPr/>
        </p:nvSpPr>
        <p:spPr>
          <a:xfrm>
            <a:off x="9144000" y="4800600"/>
            <a:ext cx="1645920" cy="45720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App Android</a:t>
            </a:r>
            <a:endParaRPr lang="en-US" sz="1800" dirty="0"/>
          </a:p>
        </p:txBody>
      </p:sp>
      <p:sp>
        <p:nvSpPr>
          <p:cNvPr id="26" name="Text 16"/>
          <p:cNvSpPr txBox="1"/>
          <p:nvPr/>
        </p:nvSpPr>
        <p:spPr>
          <a:xfrm>
            <a:off x="8586216" y="5303520"/>
            <a:ext cx="2194560" cy="685800"/>
          </a:xfrm>
          <a:prstGeom prst="rect">
            <a:avLst/>
          </a:prstGeom>
          <a:noFill/>
          <a:ln/>
        </p:spPr>
        <p:txBody>
          <a:bodyPr wrap="square" lIns="0" tIns="0" rIns="0" bIns="0" rtlCol="0" anchor="ctr"/>
          <a:lstStyle/>
          <a:p>
            <a:pPr indent="0" marL="0">
              <a:buNone/>
            </a:pPr>
            <a:r>
              <a:rPr lang="en-US" sz="1200" dirty="0">
                <a:solidFill>
                  <a:srgbClr val="FBE3E3"/>
                </a:solidFill>
                <a:latin typeface="Calibri" pitchFamily="34" charset="0"/>
                <a:ea typeface="Calibri" pitchFamily="34" charset="-122"/>
                <a:cs typeface="Calibri" pitchFamily="34" charset="-120"/>
              </a:rPr>
              <a:t>Funciones app_* con token</a:t>
            </a:r>
            <a:endParaRPr lang="en-US" sz="1200" dirty="0"/>
          </a:p>
          <a:p>
            <a:pPr indent="0" marL="0">
              <a:buNone/>
            </a:pPr>
            <a:r>
              <a:rPr lang="en-US" sz="1200" dirty="0">
                <a:solidFill>
                  <a:srgbClr val="FBE3E3"/>
                </a:solidFill>
                <a:latin typeface="Calibri" pitchFamily="34" charset="0"/>
                <a:ea typeface="Calibri" pitchFamily="34" charset="-122"/>
                <a:cs typeface="Calibri" pitchFamily="34" charset="-120"/>
              </a:rPr>
              <a:t>(sin acceso directo a tablas)</a:t>
            </a:r>
            <a:endParaRPr lang="en-US" sz="1200" dirty="0"/>
          </a:p>
        </p:txBody>
      </p:sp>
      <p:sp>
        <p:nvSpPr>
          <p:cNvPr id="27" name="Shape 17"/>
          <p:cNvSpPr/>
          <p:nvPr/>
        </p:nvSpPr>
        <p:spPr>
          <a:xfrm>
            <a:off x="9601200" y="4160520"/>
            <a:ext cx="0" cy="411480"/>
          </a:xfrm>
          <a:prstGeom prst="line">
            <a:avLst/>
          </a:prstGeom>
          <a:noFill/>
          <a:ln w="25400">
            <a:solidFill>
              <a:srgbClr val="9AA7B8"/>
            </a:solidFill>
            <a:prstDash val="solid"/>
            <a:headEnd type="triangle"/>
          </a:ln>
        </p:spPr>
      </p:sp>
      <p:sp>
        <p:nvSpPr>
          <p:cNvPr id="28" name="Text 18"/>
          <p:cNvSpPr txBox="1"/>
          <p:nvPr/>
        </p:nvSpPr>
        <p:spPr>
          <a:xfrm>
            <a:off x="548640" y="4663440"/>
            <a:ext cx="7498080" cy="1005840"/>
          </a:xfrm>
          <a:prstGeom prst="rect">
            <a:avLst/>
          </a:prstGeom>
          <a:noFill/>
          <a:ln/>
        </p:spPr>
        <p:txBody>
          <a:bodyPr wrap="square" lIns="0" tIns="0" rIns="0" bIns="0" rtlCol="0" anchor="t"/>
          <a:lstStyle/>
          <a:p>
            <a:pPr indent="0" marL="0">
              <a:buNone/>
            </a:pPr>
            <a:r>
              <a:rPr lang="en-US" sz="1500" b="1" dirty="0">
                <a:solidFill>
                  <a:srgbClr val="0B2545"/>
                </a:solidFill>
                <a:latin typeface="Calibri" pitchFamily="34" charset="0"/>
                <a:ea typeface="Calibri" pitchFamily="34" charset="-122"/>
                <a:cs typeface="Calibri" pitchFamily="34" charset="-120"/>
              </a:rPr>
              <a:t>Tecnologías: </a:t>
            </a:r>
            <a:pPr indent="0" marL="0">
              <a:buNone/>
            </a:pPr>
            <a:r>
              <a:rPr lang="en-US" sz="1500" dirty="0">
                <a:solidFill>
                  <a:srgbClr val="1F2937"/>
                </a:solidFill>
                <a:latin typeface="Calibri" pitchFamily="34" charset="0"/>
                <a:ea typeface="Calibri" pitchFamily="34" charset="-122"/>
                <a:cs typeface="Calibri" pitchFamily="34" charset="-120"/>
              </a:rPr>
              <a:t>Java 25 · Maven · NetBeans · Swing + FlatLaf · JDBC · PostgreSQL (Supabase) · SQLite · Android (Java) · Git y GitHub</a:t>
            </a:r>
            <a:endParaRPr lang="en-US" sz="1500" dirty="0"/>
          </a:p>
        </p:txBody>
      </p:sp>
      <p:sp>
        <p:nvSpPr>
          <p:cNvPr id="29" name="Text 1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30" name="Text 2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Diagrama de clases</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Coherente con el código: nombres y firmas tomados de las clases implementadas</a:t>
            </a:r>
            <a:endParaRPr lang="en-US" sz="1500" dirty="0"/>
          </a:p>
        </p:txBody>
      </p:sp>
      <p:sp>
        <p:nvSpPr>
          <p:cNvPr id="4" name="Shape 2"/>
          <p:cNvSpPr/>
          <p:nvPr/>
        </p:nvSpPr>
        <p:spPr>
          <a:xfrm>
            <a:off x="10195560" y="347472"/>
            <a:ext cx="822960" cy="822960"/>
          </a:xfrm>
          <a:prstGeom prst="ellipse">
            <a:avLst/>
          </a:prstGeom>
          <a:solidFill>
            <a:srgbClr val="C62828"/>
          </a:solidFill>
          <a:ln w="12700">
            <a:solidFill>
              <a:srgbClr val="C62828"/>
            </a:solidFill>
            <a:prstDash val="solid"/>
          </a:ln>
        </p:spPr>
      </p:sp>
      <p:sp>
        <p:nvSpPr>
          <p:cNvPr id="5" name="Text 3"/>
          <p:cNvSpPr txBox="1"/>
          <p:nvPr/>
        </p:nvSpPr>
        <p:spPr>
          <a:xfrm>
            <a:off x="10195560" y="34747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11064240" y="384048"/>
            <a:ext cx="1005840" cy="7772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Criterio 1</a:t>
            </a:r>
            <a:endParaRPr lang="en-US" sz="1100" dirty="0"/>
          </a:p>
          <a:p>
            <a:pPr indent="0" marL="0">
              <a:buNone/>
            </a:pPr>
            <a:r>
              <a:rPr lang="en-US" sz="1600" b="1" dirty="0">
                <a:solidFill>
                  <a:srgbClr val="0B2545"/>
                </a:solidFill>
                <a:latin typeface="Calibri" pitchFamily="34" charset="0"/>
                <a:ea typeface="Calibri" pitchFamily="34" charset="-122"/>
                <a:cs typeface="Calibri" pitchFamily="34" charset="-120"/>
              </a:rPr>
              <a:t>0.75 pts</a:t>
            </a:r>
            <a:endParaRPr lang="en-US" sz="1100" dirty="0"/>
          </a:p>
        </p:txBody>
      </p:sp>
      <p:sp>
        <p:nvSpPr>
          <p:cNvPr id="7" name="Shape 5"/>
          <p:cNvSpPr/>
          <p:nvPr/>
        </p:nvSpPr>
        <p:spPr>
          <a:xfrm>
            <a:off x="548640" y="1600200"/>
            <a:ext cx="6126480" cy="4663440"/>
          </a:xfrm>
          <a:prstGeom prst="rect">
            <a:avLst/>
          </a:prstGeom>
          <a:solidFill>
            <a:srgbClr val="FFFFFF"/>
          </a:solidFill>
          <a:ln w="12700">
            <a:solidFill>
              <a:srgbClr val="D5DEEA"/>
            </a:solidFill>
            <a:prstDash val="solid"/>
          </a:ln>
        </p:spPr>
      </p:sp>
      <p:pic>
        <p:nvPicPr>
          <p:cNvPr id="8" name="Image 0" descr="C:\Users\Josue Zetino\AppData\Local\Temp\claude\C--Users-Josue-Zetino-Documents-4to-semestre-progra-2\7ccdd11b-dc21-4f34-84fe-794d7b2c2056\scratchpad\pres\img\clases-1-modelo.png">    </p:cNvPr>
          <p:cNvPicPr>
            <a:picLocks noChangeAspect="1"/>
          </p:cNvPicPr>
          <p:nvPr/>
        </p:nvPicPr>
        <p:blipFill>
          <a:blip r:embed="rId1"/>
          <a:stretch>
            <a:fillRect/>
          </a:stretch>
        </p:blipFill>
        <p:spPr>
          <a:xfrm>
            <a:off x="845928" y="1691640"/>
            <a:ext cx="5531904" cy="4480560"/>
          </a:xfrm>
          <a:prstGeom prst="rect">
            <a:avLst/>
          </a:prstGeom>
        </p:spPr>
      </p:pic>
      <p:sp>
        <p:nvSpPr>
          <p:cNvPr id="9" name="Text 6"/>
          <p:cNvSpPr txBox="1"/>
          <p:nvPr/>
        </p:nvSpPr>
        <p:spPr>
          <a:xfrm>
            <a:off x="7086600" y="1645920"/>
            <a:ext cx="4572000" cy="411480"/>
          </a:xfrm>
          <a:prstGeom prst="rect">
            <a:avLst/>
          </a:prstGeom>
          <a:noFill/>
          <a:ln/>
        </p:spPr>
        <p:txBody>
          <a:bodyPr wrap="square" lIns="0" tIns="0" rIns="0" bIns="0" rtlCol="0" anchor="ctr"/>
          <a:lstStyle/>
          <a:p>
            <a:pPr indent="0" marL="0">
              <a:buNone/>
            </a:pPr>
            <a:r>
              <a:rPr lang="en-US" sz="1900" b="1" dirty="0">
                <a:solidFill>
                  <a:srgbClr val="0B2545"/>
                </a:solidFill>
                <a:latin typeface="Cambria" pitchFamily="34" charset="0"/>
                <a:ea typeface="Cambria" pitchFamily="34" charset="-122"/>
                <a:cs typeface="Cambria" pitchFamily="34" charset="-120"/>
              </a:rPr>
              <a:t>5 vistas del diagrama</a:t>
            </a:r>
            <a:endParaRPr lang="en-US" sz="1900" dirty="0"/>
          </a:p>
        </p:txBody>
      </p:sp>
      <p:sp>
        <p:nvSpPr>
          <p:cNvPr id="10" name="Text 7"/>
          <p:cNvSpPr txBox="1"/>
          <p:nvPr/>
        </p:nvSpPr>
        <p:spPr>
          <a:xfrm>
            <a:off x="7086600" y="2103120"/>
            <a:ext cx="4572000" cy="182880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Modelo: entidades, herencia de Persona</a:t>
            </a:r>
            <a:endParaRPr lang="en-US" sz="1500" dirty="0"/>
          </a:p>
          <a:p>
            <a:pPr marL="342900" indent="-342900">
              <a:spcAft>
                <a:spcPts val="4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Acceso a datos: DAO + Singleton</a:t>
            </a:r>
            <a:endParaRPr lang="en-US" sz="1500" dirty="0"/>
          </a:p>
          <a:p>
            <a:pPr marL="342900" indent="-342900">
              <a:spcAft>
                <a:spcPts val="4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Controladores y seguridad</a:t>
            </a:r>
            <a:endParaRPr lang="en-US" sz="1500" dirty="0"/>
          </a:p>
          <a:p>
            <a:pPr marL="342900" indent="-342900">
              <a:spcAft>
                <a:spcPts val="4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Vistas MDI (formularios)</a:t>
            </a:r>
            <a:endParaRPr lang="en-US" sz="1500" dirty="0"/>
          </a:p>
          <a:p>
            <a:pPr marL="342900" indent="-342900">
              <a:spcAft>
                <a:spcPts val="400"/>
              </a:spcAft>
              <a:buSzPct val="100000"/>
              <a:buFont typeface="+mj-lt"/>
              <a:buAutoNum type="arabicPeriod" startAt="1"/>
            </a:pPr>
            <a:r>
              <a:rPr lang="en-US" sz="1500" dirty="0">
                <a:solidFill>
                  <a:srgbClr val="1F2937"/>
                </a:solidFill>
                <a:latin typeface="Calibri" pitchFamily="34" charset="0"/>
                <a:ea typeface="Calibri" pitchFamily="34" charset="-122"/>
                <a:cs typeface="Calibri" pitchFamily="34" charset="-120"/>
              </a:rPr>
              <a:t>App móvil Android</a:t>
            </a:r>
            <a:endParaRPr lang="en-US" sz="1500" dirty="0"/>
          </a:p>
        </p:txBody>
      </p:sp>
      <p:sp>
        <p:nvSpPr>
          <p:cNvPr id="11" name="Text 8"/>
          <p:cNvSpPr txBox="1"/>
          <p:nvPr/>
        </p:nvSpPr>
        <p:spPr>
          <a:xfrm>
            <a:off x="7086600" y="4114800"/>
            <a:ext cx="4572000" cy="411480"/>
          </a:xfrm>
          <a:prstGeom prst="rect">
            <a:avLst/>
          </a:prstGeom>
          <a:noFill/>
          <a:ln/>
        </p:spPr>
        <p:txBody>
          <a:bodyPr wrap="square" lIns="0" tIns="0" rIns="0" bIns="0" rtlCol="0" anchor="ctr"/>
          <a:lstStyle/>
          <a:p>
            <a:pPr indent="0" marL="0">
              <a:buNone/>
            </a:pPr>
            <a:r>
              <a:rPr lang="en-US" sz="1900" b="1" dirty="0">
                <a:solidFill>
                  <a:srgbClr val="0B2545"/>
                </a:solidFill>
                <a:latin typeface="Cambria" pitchFamily="34" charset="0"/>
                <a:ea typeface="Cambria" pitchFamily="34" charset="-122"/>
                <a:cs typeface="Cambria" pitchFamily="34" charset="-120"/>
              </a:rPr>
              <a:t>Patrones de diseño aplicados</a:t>
            </a:r>
            <a:endParaRPr lang="en-US" sz="1900" dirty="0"/>
          </a:p>
        </p:txBody>
      </p:sp>
      <p:sp>
        <p:nvSpPr>
          <p:cNvPr id="12" name="Shape 9"/>
          <p:cNvSpPr/>
          <p:nvPr/>
        </p:nvSpPr>
        <p:spPr>
          <a:xfrm>
            <a:off x="7086600" y="4617720"/>
            <a:ext cx="576072" cy="384048"/>
          </a:xfrm>
          <a:prstGeom prst="roundRect">
            <a:avLst>
              <a:gd name="adj" fmla="val 47619"/>
            </a:avLst>
          </a:prstGeom>
          <a:solidFill>
            <a:srgbClr val="EEF3F9"/>
          </a:solidFill>
          <a:ln w="12700">
            <a:solidFill>
              <a:srgbClr val="1D6FA5"/>
            </a:solidFill>
            <a:prstDash val="solid"/>
          </a:ln>
        </p:spPr>
      </p:sp>
      <p:sp>
        <p:nvSpPr>
          <p:cNvPr id="13" name="Text 10"/>
          <p:cNvSpPr txBox="1"/>
          <p:nvPr/>
        </p:nvSpPr>
        <p:spPr>
          <a:xfrm>
            <a:off x="7086600" y="4617720"/>
            <a:ext cx="576072" cy="384048"/>
          </a:xfrm>
          <a:prstGeom prst="rect">
            <a:avLst/>
          </a:prstGeom>
          <a:noFill/>
          <a:ln/>
        </p:spPr>
        <p:txBody>
          <a:bodyPr wrap="square" lIns="0" tIns="0" rIns="0" bIns="0" rtlCol="0" anchor="ctr"/>
          <a:lstStyle/>
          <a:p>
            <a:pPr algn="ctr" indent="0" marL="0">
              <a:buNone/>
            </a:pPr>
            <a:r>
              <a:rPr lang="en-US" sz="1300" b="1" dirty="0">
                <a:solidFill>
                  <a:srgbClr val="1D6FA5"/>
                </a:solidFill>
                <a:latin typeface="Calibri" pitchFamily="34" charset="0"/>
                <a:ea typeface="Calibri" pitchFamily="34" charset="-122"/>
                <a:cs typeface="Calibri" pitchFamily="34" charset="-120"/>
              </a:rPr>
              <a:t>MVC</a:t>
            </a:r>
            <a:endParaRPr lang="en-US" sz="1300" dirty="0"/>
          </a:p>
        </p:txBody>
      </p:sp>
      <p:sp>
        <p:nvSpPr>
          <p:cNvPr id="14" name="Shape 11"/>
          <p:cNvSpPr/>
          <p:nvPr/>
        </p:nvSpPr>
        <p:spPr>
          <a:xfrm>
            <a:off x="7799832" y="4617720"/>
            <a:ext cx="576072" cy="384048"/>
          </a:xfrm>
          <a:prstGeom prst="roundRect">
            <a:avLst>
              <a:gd name="adj" fmla="val 47619"/>
            </a:avLst>
          </a:prstGeom>
          <a:solidFill>
            <a:srgbClr val="EEF3F9"/>
          </a:solidFill>
          <a:ln w="12700">
            <a:solidFill>
              <a:srgbClr val="1D6FA5"/>
            </a:solidFill>
            <a:prstDash val="solid"/>
          </a:ln>
        </p:spPr>
      </p:sp>
      <p:sp>
        <p:nvSpPr>
          <p:cNvPr id="15" name="Text 12"/>
          <p:cNvSpPr txBox="1"/>
          <p:nvPr/>
        </p:nvSpPr>
        <p:spPr>
          <a:xfrm>
            <a:off x="7799832" y="4617720"/>
            <a:ext cx="576072" cy="384048"/>
          </a:xfrm>
          <a:prstGeom prst="rect">
            <a:avLst/>
          </a:prstGeom>
          <a:noFill/>
          <a:ln/>
        </p:spPr>
        <p:txBody>
          <a:bodyPr wrap="square" lIns="0" tIns="0" rIns="0" bIns="0" rtlCol="0" anchor="ctr"/>
          <a:lstStyle/>
          <a:p>
            <a:pPr algn="ctr" indent="0" marL="0">
              <a:buNone/>
            </a:pPr>
            <a:r>
              <a:rPr lang="en-US" sz="1300" b="1" dirty="0">
                <a:solidFill>
                  <a:srgbClr val="1D6FA5"/>
                </a:solidFill>
                <a:latin typeface="Calibri" pitchFamily="34" charset="0"/>
                <a:ea typeface="Calibri" pitchFamily="34" charset="-122"/>
                <a:cs typeface="Calibri" pitchFamily="34" charset="-120"/>
              </a:rPr>
              <a:t>DAO</a:t>
            </a:r>
            <a:endParaRPr lang="en-US" sz="1300" dirty="0"/>
          </a:p>
        </p:txBody>
      </p:sp>
      <p:sp>
        <p:nvSpPr>
          <p:cNvPr id="16" name="Shape 13"/>
          <p:cNvSpPr/>
          <p:nvPr/>
        </p:nvSpPr>
        <p:spPr>
          <a:xfrm>
            <a:off x="8513064" y="4617720"/>
            <a:ext cx="1179576" cy="384048"/>
          </a:xfrm>
          <a:prstGeom prst="roundRect">
            <a:avLst>
              <a:gd name="adj" fmla="val 47619"/>
            </a:avLst>
          </a:prstGeom>
          <a:solidFill>
            <a:srgbClr val="EEF3F9"/>
          </a:solidFill>
          <a:ln w="12700">
            <a:solidFill>
              <a:srgbClr val="1D6FA5"/>
            </a:solidFill>
            <a:prstDash val="solid"/>
          </a:ln>
        </p:spPr>
      </p:sp>
      <p:sp>
        <p:nvSpPr>
          <p:cNvPr id="17" name="Text 14"/>
          <p:cNvSpPr txBox="1"/>
          <p:nvPr/>
        </p:nvSpPr>
        <p:spPr>
          <a:xfrm>
            <a:off x="8513064" y="4617720"/>
            <a:ext cx="1179576" cy="384048"/>
          </a:xfrm>
          <a:prstGeom prst="rect">
            <a:avLst/>
          </a:prstGeom>
          <a:noFill/>
          <a:ln/>
        </p:spPr>
        <p:txBody>
          <a:bodyPr wrap="square" lIns="0" tIns="0" rIns="0" bIns="0" rtlCol="0" anchor="ctr"/>
          <a:lstStyle/>
          <a:p>
            <a:pPr algn="ctr" indent="0" marL="0">
              <a:buNone/>
            </a:pPr>
            <a:r>
              <a:rPr lang="en-US" sz="1300" b="1" dirty="0">
                <a:solidFill>
                  <a:srgbClr val="1D6FA5"/>
                </a:solidFill>
                <a:latin typeface="Calibri" pitchFamily="34" charset="0"/>
                <a:ea typeface="Calibri" pitchFamily="34" charset="-122"/>
                <a:cs typeface="Calibri" pitchFamily="34" charset="-120"/>
              </a:rPr>
              <a:t>Singleton</a:t>
            </a:r>
            <a:endParaRPr lang="en-US" sz="1300" dirty="0"/>
          </a:p>
        </p:txBody>
      </p:sp>
      <p:sp>
        <p:nvSpPr>
          <p:cNvPr id="18" name="Shape 15"/>
          <p:cNvSpPr/>
          <p:nvPr/>
        </p:nvSpPr>
        <p:spPr>
          <a:xfrm>
            <a:off x="9829800" y="4617720"/>
            <a:ext cx="1783080" cy="384048"/>
          </a:xfrm>
          <a:prstGeom prst="roundRect">
            <a:avLst>
              <a:gd name="adj" fmla="val 47619"/>
            </a:avLst>
          </a:prstGeom>
          <a:solidFill>
            <a:srgbClr val="EEF3F9"/>
          </a:solidFill>
          <a:ln w="12700">
            <a:solidFill>
              <a:srgbClr val="1D6FA5"/>
            </a:solidFill>
            <a:prstDash val="solid"/>
          </a:ln>
        </p:spPr>
      </p:sp>
      <p:sp>
        <p:nvSpPr>
          <p:cNvPr id="19" name="Text 16"/>
          <p:cNvSpPr txBox="1"/>
          <p:nvPr/>
        </p:nvSpPr>
        <p:spPr>
          <a:xfrm>
            <a:off x="9829800" y="4617720"/>
            <a:ext cx="1783080" cy="384048"/>
          </a:xfrm>
          <a:prstGeom prst="rect">
            <a:avLst/>
          </a:prstGeom>
          <a:noFill/>
          <a:ln/>
        </p:spPr>
        <p:txBody>
          <a:bodyPr wrap="square" lIns="0" tIns="0" rIns="0" bIns="0" rtlCol="0" anchor="ctr"/>
          <a:lstStyle/>
          <a:p>
            <a:pPr algn="ctr" indent="0" marL="0">
              <a:buNone/>
            </a:pPr>
            <a:r>
              <a:rPr lang="en-US" sz="1300" b="1" dirty="0">
                <a:solidFill>
                  <a:srgbClr val="1D6FA5"/>
                </a:solidFill>
                <a:latin typeface="Calibri" pitchFamily="34" charset="0"/>
                <a:ea typeface="Calibri" pitchFamily="34" charset="-122"/>
                <a:cs typeface="Calibri" pitchFamily="34" charset="-120"/>
              </a:rPr>
              <a:t>Template Method</a:t>
            </a:r>
            <a:endParaRPr lang="en-US" sz="1300" dirty="0"/>
          </a:p>
        </p:txBody>
      </p:sp>
      <p:sp>
        <p:nvSpPr>
          <p:cNvPr id="20" name="Shape 17"/>
          <p:cNvSpPr/>
          <p:nvPr/>
        </p:nvSpPr>
        <p:spPr>
          <a:xfrm>
            <a:off x="7086600" y="5120640"/>
            <a:ext cx="877824" cy="384048"/>
          </a:xfrm>
          <a:prstGeom prst="roundRect">
            <a:avLst>
              <a:gd name="adj" fmla="val 47619"/>
            </a:avLst>
          </a:prstGeom>
          <a:solidFill>
            <a:srgbClr val="EEF3F9"/>
          </a:solidFill>
          <a:ln w="12700">
            <a:solidFill>
              <a:srgbClr val="1D6FA5"/>
            </a:solidFill>
            <a:prstDash val="solid"/>
          </a:ln>
        </p:spPr>
      </p:sp>
      <p:sp>
        <p:nvSpPr>
          <p:cNvPr id="21" name="Text 18"/>
          <p:cNvSpPr txBox="1"/>
          <p:nvPr/>
        </p:nvSpPr>
        <p:spPr>
          <a:xfrm>
            <a:off x="7086600" y="5120640"/>
            <a:ext cx="877824" cy="384048"/>
          </a:xfrm>
          <a:prstGeom prst="rect">
            <a:avLst/>
          </a:prstGeom>
          <a:noFill/>
          <a:ln/>
        </p:spPr>
        <p:txBody>
          <a:bodyPr wrap="square" lIns="0" tIns="0" rIns="0" bIns="0" rtlCol="0" anchor="ctr"/>
          <a:lstStyle/>
          <a:p>
            <a:pPr algn="ctr" indent="0" marL="0">
              <a:buNone/>
            </a:pPr>
            <a:r>
              <a:rPr lang="en-US" sz="1300" b="1" dirty="0">
                <a:solidFill>
                  <a:srgbClr val="1D6FA5"/>
                </a:solidFill>
                <a:latin typeface="Calibri" pitchFamily="34" charset="0"/>
                <a:ea typeface="Calibri" pitchFamily="34" charset="-122"/>
                <a:cs typeface="Calibri" pitchFamily="34" charset="-120"/>
              </a:rPr>
              <a:t>Facade</a:t>
            </a:r>
            <a:endParaRPr lang="en-US" sz="1300" dirty="0"/>
          </a:p>
        </p:txBody>
      </p:sp>
      <p:sp>
        <p:nvSpPr>
          <p:cNvPr id="22" name="Text 1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23" name="Text 2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Diagrama entidad-relación</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Corresponde al script que crea la base: esquema-postgresql.sql</a:t>
            </a:r>
            <a:endParaRPr lang="en-US" sz="1500" dirty="0"/>
          </a:p>
        </p:txBody>
      </p:sp>
      <p:sp>
        <p:nvSpPr>
          <p:cNvPr id="4" name="Shape 2"/>
          <p:cNvSpPr/>
          <p:nvPr/>
        </p:nvSpPr>
        <p:spPr>
          <a:xfrm>
            <a:off x="10195560" y="347472"/>
            <a:ext cx="822960" cy="822960"/>
          </a:xfrm>
          <a:prstGeom prst="ellipse">
            <a:avLst/>
          </a:prstGeom>
          <a:solidFill>
            <a:srgbClr val="C62828"/>
          </a:solidFill>
          <a:ln w="12700">
            <a:solidFill>
              <a:srgbClr val="C62828"/>
            </a:solidFill>
            <a:prstDash val="solid"/>
          </a:ln>
        </p:spPr>
      </p:sp>
      <p:sp>
        <p:nvSpPr>
          <p:cNvPr id="5" name="Text 3"/>
          <p:cNvSpPr txBox="1"/>
          <p:nvPr/>
        </p:nvSpPr>
        <p:spPr>
          <a:xfrm>
            <a:off x="10195560" y="34747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11064240" y="384048"/>
            <a:ext cx="1005840" cy="7772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Criterio 2</a:t>
            </a:r>
            <a:endParaRPr lang="en-US" sz="1100" dirty="0"/>
          </a:p>
          <a:p>
            <a:pPr indent="0" marL="0">
              <a:buNone/>
            </a:pPr>
            <a:r>
              <a:rPr lang="en-US" sz="1600" b="1" dirty="0">
                <a:solidFill>
                  <a:srgbClr val="0B2545"/>
                </a:solidFill>
                <a:latin typeface="Calibri" pitchFamily="34" charset="0"/>
                <a:ea typeface="Calibri" pitchFamily="34" charset="-122"/>
                <a:cs typeface="Calibri" pitchFamily="34" charset="-120"/>
              </a:rPr>
              <a:t>0.75 pts</a:t>
            </a:r>
            <a:endParaRPr lang="en-US" sz="1100" dirty="0"/>
          </a:p>
        </p:txBody>
      </p:sp>
      <p:sp>
        <p:nvSpPr>
          <p:cNvPr id="7" name="Shape 5"/>
          <p:cNvSpPr/>
          <p:nvPr/>
        </p:nvSpPr>
        <p:spPr>
          <a:xfrm>
            <a:off x="548640" y="1554480"/>
            <a:ext cx="8229600" cy="4709160"/>
          </a:xfrm>
          <a:prstGeom prst="rect">
            <a:avLst/>
          </a:prstGeom>
          <a:solidFill>
            <a:srgbClr val="FFFFFF"/>
          </a:solidFill>
          <a:ln w="12700">
            <a:solidFill>
              <a:srgbClr val="D5DEEA"/>
            </a:solidFill>
            <a:prstDash val="solid"/>
          </a:ln>
        </p:spPr>
      </p:sp>
      <p:pic>
        <p:nvPicPr>
          <p:cNvPr id="8" name="Image 0" descr="C:\Users\Josue Zetino\AppData\Local\Temp\claude\C--Users-Josue-Zetino-Documents-4to-semestre-progra-2\7ccdd11b-dc21-4f34-84fe-794d7b2c2056\scratchpad\pres\img\entidad-relacion.png">    </p:cNvPr>
          <p:cNvPicPr>
            <a:picLocks noChangeAspect="1"/>
          </p:cNvPicPr>
          <p:nvPr/>
        </p:nvPicPr>
        <p:blipFill>
          <a:blip r:embed="rId1"/>
          <a:stretch>
            <a:fillRect/>
          </a:stretch>
        </p:blipFill>
        <p:spPr>
          <a:xfrm>
            <a:off x="594360" y="1651343"/>
            <a:ext cx="8138160" cy="4515433"/>
          </a:xfrm>
          <a:prstGeom prst="rect">
            <a:avLst/>
          </a:prstGeom>
        </p:spPr>
      </p:pic>
      <p:sp>
        <p:nvSpPr>
          <p:cNvPr id="9" name="Text 6"/>
          <p:cNvSpPr txBox="1"/>
          <p:nvPr/>
        </p:nvSpPr>
        <p:spPr>
          <a:xfrm>
            <a:off x="9098280" y="1600200"/>
            <a:ext cx="2651760" cy="548640"/>
          </a:xfrm>
          <a:prstGeom prst="rect">
            <a:avLst/>
          </a:prstGeom>
          <a:noFill/>
          <a:ln/>
        </p:spPr>
        <p:txBody>
          <a:bodyPr wrap="square" lIns="0" tIns="0" rIns="0" bIns="0" rtlCol="0" anchor="ctr"/>
          <a:lstStyle/>
          <a:p>
            <a:pPr indent="0" marL="0">
              <a:buNone/>
            </a:pPr>
            <a:r>
              <a:rPr lang="en-US" sz="3000" b="1" dirty="0">
                <a:solidFill>
                  <a:srgbClr val="C62828"/>
                </a:solidFill>
                <a:latin typeface="Cambria" pitchFamily="34" charset="0"/>
                <a:ea typeface="Cambria" pitchFamily="34" charset="-122"/>
                <a:cs typeface="Cambria" pitchFamily="34" charset="-120"/>
              </a:rPr>
              <a:t>10</a:t>
            </a:r>
            <a:endParaRPr lang="en-US" sz="3000" dirty="0"/>
          </a:p>
        </p:txBody>
      </p:sp>
      <p:sp>
        <p:nvSpPr>
          <p:cNvPr id="10" name="Text 7"/>
          <p:cNvSpPr txBox="1"/>
          <p:nvPr/>
        </p:nvSpPr>
        <p:spPr>
          <a:xfrm>
            <a:off x="9098280" y="2148840"/>
            <a:ext cx="2651760" cy="41148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tablas del sistema</a:t>
            </a:r>
            <a:endParaRPr lang="en-US" sz="1300" dirty="0"/>
          </a:p>
        </p:txBody>
      </p:sp>
      <p:sp>
        <p:nvSpPr>
          <p:cNvPr id="11" name="Text 8"/>
          <p:cNvSpPr txBox="1"/>
          <p:nvPr/>
        </p:nvSpPr>
        <p:spPr>
          <a:xfrm>
            <a:off x="9098280" y="2697480"/>
            <a:ext cx="2651760" cy="548640"/>
          </a:xfrm>
          <a:prstGeom prst="rect">
            <a:avLst/>
          </a:prstGeom>
          <a:noFill/>
          <a:ln/>
        </p:spPr>
        <p:txBody>
          <a:bodyPr wrap="square" lIns="0" tIns="0" rIns="0" bIns="0" rtlCol="0" anchor="ctr"/>
          <a:lstStyle/>
          <a:p>
            <a:pPr indent="0" marL="0">
              <a:buNone/>
            </a:pPr>
            <a:r>
              <a:rPr lang="en-US" sz="3000" b="1" dirty="0">
                <a:solidFill>
                  <a:srgbClr val="C62828"/>
                </a:solidFill>
                <a:latin typeface="Cambria" pitchFamily="34" charset="0"/>
                <a:ea typeface="Cambria" pitchFamily="34" charset="-122"/>
                <a:cs typeface="Cambria" pitchFamily="34" charset="-120"/>
              </a:rPr>
              <a:t>7</a:t>
            </a:r>
            <a:endParaRPr lang="en-US" sz="3000" dirty="0"/>
          </a:p>
        </p:txBody>
      </p:sp>
      <p:sp>
        <p:nvSpPr>
          <p:cNvPr id="12" name="Text 9"/>
          <p:cNvSpPr txBox="1"/>
          <p:nvPr/>
        </p:nvSpPr>
        <p:spPr>
          <a:xfrm>
            <a:off x="9098280" y="3246120"/>
            <a:ext cx="2651760" cy="41148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llaves foráneas</a:t>
            </a:r>
            <a:endParaRPr lang="en-US" sz="1300" dirty="0"/>
          </a:p>
        </p:txBody>
      </p:sp>
      <p:sp>
        <p:nvSpPr>
          <p:cNvPr id="13" name="Text 10"/>
          <p:cNvSpPr txBox="1"/>
          <p:nvPr/>
        </p:nvSpPr>
        <p:spPr>
          <a:xfrm>
            <a:off x="9098280" y="3794760"/>
            <a:ext cx="2651760" cy="548640"/>
          </a:xfrm>
          <a:prstGeom prst="rect">
            <a:avLst/>
          </a:prstGeom>
          <a:noFill/>
          <a:ln/>
        </p:spPr>
        <p:txBody>
          <a:bodyPr wrap="square" lIns="0" tIns="0" rIns="0" bIns="0" rtlCol="0" anchor="ctr"/>
          <a:lstStyle/>
          <a:p>
            <a:pPr indent="0" marL="0">
              <a:buNone/>
            </a:pPr>
            <a:r>
              <a:rPr lang="en-US" sz="3000" b="1" dirty="0">
                <a:solidFill>
                  <a:srgbClr val="1D6FA5"/>
                </a:solidFill>
                <a:latin typeface="Cambria" pitchFamily="34" charset="0"/>
                <a:ea typeface="Cambria" pitchFamily="34" charset="-122"/>
                <a:cs typeface="Cambria" pitchFamily="34" charset="-120"/>
              </a:rPr>
              <a:t>PK · UK</a:t>
            </a:r>
            <a:endParaRPr lang="en-US" sz="3000" dirty="0"/>
          </a:p>
        </p:txBody>
      </p:sp>
      <p:sp>
        <p:nvSpPr>
          <p:cNvPr id="14" name="Text 11"/>
          <p:cNvSpPr txBox="1"/>
          <p:nvPr/>
        </p:nvSpPr>
        <p:spPr>
          <a:xfrm>
            <a:off x="9098280" y="4343400"/>
            <a:ext cx="2651760" cy="41148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en cada tabla (código, NIT, usuario…)</a:t>
            </a:r>
            <a:endParaRPr lang="en-US" sz="1300" dirty="0"/>
          </a:p>
        </p:txBody>
      </p:sp>
      <p:sp>
        <p:nvSpPr>
          <p:cNvPr id="15" name="Shape 12"/>
          <p:cNvSpPr/>
          <p:nvPr/>
        </p:nvSpPr>
        <p:spPr>
          <a:xfrm>
            <a:off x="9098280" y="4937760"/>
            <a:ext cx="2560320" cy="1325880"/>
          </a:xfrm>
          <a:prstGeom prst="roundRect">
            <a:avLst>
              <a:gd name="adj" fmla="val 6897"/>
            </a:avLst>
          </a:prstGeom>
          <a:solidFill>
            <a:srgbClr val="EEF3F9"/>
          </a:solidFill>
          <a:ln w="12700">
            <a:solidFill>
              <a:srgbClr val="EEF3F9"/>
            </a:solidFill>
            <a:prstDash val="solid"/>
          </a:ln>
        </p:spPr>
      </p:sp>
      <p:sp>
        <p:nvSpPr>
          <p:cNvPr id="16" name="Text 13"/>
          <p:cNvSpPr txBox="1"/>
          <p:nvPr/>
        </p:nvSpPr>
        <p:spPr>
          <a:xfrm>
            <a:off x="9235440" y="5001768"/>
            <a:ext cx="2377440" cy="1188720"/>
          </a:xfrm>
          <a:prstGeom prst="rect">
            <a:avLst/>
          </a:prstGeom>
          <a:noFill/>
          <a:ln/>
        </p:spPr>
        <p:txBody>
          <a:bodyPr wrap="square" lIns="0" tIns="0" rIns="0" bIns="0" rtlCol="0" anchor="t"/>
          <a:lstStyle/>
          <a:p>
            <a:pPr indent="0" marL="0">
              <a:buNone/>
            </a:pPr>
            <a:r>
              <a:rPr lang="en-US" sz="1150" b="1" dirty="0">
                <a:solidFill>
                  <a:srgbClr val="0B2545"/>
                </a:solidFill>
                <a:latin typeface="Calibri" pitchFamily="34" charset="0"/>
                <a:ea typeface="Calibri" pitchFamily="34" charset="-122"/>
                <a:cs typeface="Calibri" pitchFamily="34" charset="-120"/>
              </a:rPr>
              <a:t>Reglas de borrado</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CASCADE: detalle de factura/compra</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SET NULL: categoría del producto</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RESTRICT: producto ya comprado</a:t>
            </a:r>
            <a:endParaRPr lang="en-US" sz="1150" dirty="0"/>
          </a:p>
        </p:txBody>
      </p:sp>
      <p:sp>
        <p:nvSpPr>
          <p:cNvPr id="17" name="Text 14"/>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18"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Formulario principal MDI y menú</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JDesktopPane con ventanas internas (JInternalFrame)</a:t>
            </a:r>
            <a:endParaRPr lang="en-US" sz="1500" dirty="0"/>
          </a:p>
        </p:txBody>
      </p:sp>
      <p:sp>
        <p:nvSpPr>
          <p:cNvPr id="4" name="Shape 2"/>
          <p:cNvSpPr/>
          <p:nvPr/>
        </p:nvSpPr>
        <p:spPr>
          <a:xfrm>
            <a:off x="10195560" y="347472"/>
            <a:ext cx="822960" cy="822960"/>
          </a:xfrm>
          <a:prstGeom prst="ellipse">
            <a:avLst/>
          </a:prstGeom>
          <a:solidFill>
            <a:srgbClr val="C62828"/>
          </a:solidFill>
          <a:ln w="12700">
            <a:solidFill>
              <a:srgbClr val="C62828"/>
            </a:solidFill>
            <a:prstDash val="solid"/>
          </a:ln>
        </p:spPr>
      </p:sp>
      <p:sp>
        <p:nvSpPr>
          <p:cNvPr id="5" name="Text 3"/>
          <p:cNvSpPr txBox="1"/>
          <p:nvPr/>
        </p:nvSpPr>
        <p:spPr>
          <a:xfrm>
            <a:off x="10195560" y="34747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6" name="Text 4"/>
          <p:cNvSpPr txBox="1"/>
          <p:nvPr/>
        </p:nvSpPr>
        <p:spPr>
          <a:xfrm>
            <a:off x="11064240" y="384048"/>
            <a:ext cx="1005840" cy="7772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Criterio 3</a:t>
            </a:r>
            <a:endParaRPr lang="en-US" sz="1100" dirty="0"/>
          </a:p>
          <a:p>
            <a:pPr indent="0" marL="0">
              <a:buNone/>
            </a:pPr>
            <a:r>
              <a:rPr lang="en-US" sz="1600" b="1" dirty="0">
                <a:solidFill>
                  <a:srgbClr val="0B2545"/>
                </a:solidFill>
                <a:latin typeface="Calibri" pitchFamily="34" charset="0"/>
                <a:ea typeface="Calibri" pitchFamily="34" charset="-122"/>
                <a:cs typeface="Calibri" pitchFamily="34" charset="-120"/>
              </a:rPr>
              <a:t>0.75 pts</a:t>
            </a:r>
            <a:endParaRPr lang="en-US" sz="1100" dirty="0"/>
          </a:p>
        </p:txBody>
      </p:sp>
      <p:pic>
        <p:nvPicPr>
          <p:cNvPr id="7" name="Image 0" descr="C:\Users\Josue Zetino\AppData\Local\Temp\claude\C--Users-Josue-Zetino-Documents-4to-semestre-progra-2\7ccdd11b-dc21-4f34-84fe-794d7b2c2056\scratchpad\pres\img\01-principal-resumen.png">    </p:cNvPr>
          <p:cNvPicPr>
            <a:picLocks noChangeAspect="1"/>
          </p:cNvPicPr>
          <p:nvPr/>
        </p:nvPicPr>
        <p:blipFill>
          <a:blip r:embed="rId1"/>
          <a:stretch>
            <a:fillRect/>
          </a:stretch>
        </p:blipFill>
        <p:spPr>
          <a:xfrm>
            <a:off x="548640" y="1887235"/>
            <a:ext cx="6949440" cy="3906490"/>
          </a:xfrm>
          <a:prstGeom prst="rect">
            <a:avLst/>
          </a:prstGeom>
          <a:effectLst>
            <a:outerShdw sx="100000" sy="100000" kx="0" ky="0" algn="bl" rotWithShape="0" blurRad="101600" dist="25400" dir="5400000">
              <a:srgbClr val="000000">
                <a:alpha val="18000"/>
              </a:srgbClr>
            </a:outerShdw>
          </a:effectLst>
        </p:spPr>
      </p:pic>
      <p:sp>
        <p:nvSpPr>
          <p:cNvPr id="8" name="Shape 5"/>
          <p:cNvSpPr/>
          <p:nvPr/>
        </p:nvSpPr>
        <p:spPr>
          <a:xfrm>
            <a:off x="548640" y="1887235"/>
            <a:ext cx="6949440" cy="3906490"/>
          </a:xfrm>
          <a:prstGeom prst="rect">
            <a:avLst/>
          </a:prstGeom>
          <a:ln w="12700">
            <a:solidFill>
              <a:srgbClr val="D5DEEA"/>
            </a:solidFill>
            <a:prstDash val="solid"/>
          </a:ln>
        </p:spPr>
      </p:sp>
      <p:sp>
        <p:nvSpPr>
          <p:cNvPr id="9" name="Text 6"/>
          <p:cNvSpPr txBox="1"/>
          <p:nvPr/>
        </p:nvSpPr>
        <p:spPr>
          <a:xfrm>
            <a:off x="7818120" y="1600200"/>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Archivo</a:t>
            </a:r>
            <a:endParaRPr lang="en-US" sz="1350" dirty="0"/>
          </a:p>
        </p:txBody>
      </p:sp>
      <p:sp>
        <p:nvSpPr>
          <p:cNvPr id="10" name="Text 7"/>
          <p:cNvSpPr txBox="1"/>
          <p:nvPr/>
        </p:nvSpPr>
        <p:spPr>
          <a:xfrm>
            <a:off x="9235440" y="1600200"/>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Nueva factura, facturas, contraseña, sesión</a:t>
            </a:r>
            <a:endParaRPr lang="en-US" sz="1150" dirty="0"/>
          </a:p>
        </p:txBody>
      </p:sp>
      <p:sp>
        <p:nvSpPr>
          <p:cNvPr id="11" name="Text 8"/>
          <p:cNvSpPr txBox="1"/>
          <p:nvPr/>
        </p:nvSpPr>
        <p:spPr>
          <a:xfrm>
            <a:off x="7818120" y="2075688"/>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Catálogos</a:t>
            </a:r>
            <a:endParaRPr lang="en-US" sz="1350" dirty="0"/>
          </a:p>
        </p:txBody>
      </p:sp>
      <p:sp>
        <p:nvSpPr>
          <p:cNvPr id="12" name="Text 9"/>
          <p:cNvSpPr txBox="1"/>
          <p:nvPr/>
        </p:nvSpPr>
        <p:spPr>
          <a:xfrm>
            <a:off x="9235440" y="2075688"/>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Productos, empleados, clientes, categorías, proveedores</a:t>
            </a:r>
            <a:endParaRPr lang="en-US" sz="1150" dirty="0"/>
          </a:p>
        </p:txBody>
      </p:sp>
      <p:sp>
        <p:nvSpPr>
          <p:cNvPr id="13" name="Text 10"/>
          <p:cNvSpPr txBox="1"/>
          <p:nvPr/>
        </p:nvSpPr>
        <p:spPr>
          <a:xfrm>
            <a:off x="7818120" y="2551176"/>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Compras</a:t>
            </a:r>
            <a:endParaRPr lang="en-US" sz="1350" dirty="0"/>
          </a:p>
        </p:txBody>
      </p:sp>
      <p:sp>
        <p:nvSpPr>
          <p:cNvPr id="14" name="Text 11"/>
          <p:cNvSpPr txBox="1"/>
          <p:nvPr/>
        </p:nvSpPr>
        <p:spPr>
          <a:xfrm>
            <a:off x="9235440" y="2551176"/>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Nueva compra, ver compras</a:t>
            </a:r>
            <a:endParaRPr lang="en-US" sz="1150" dirty="0"/>
          </a:p>
        </p:txBody>
      </p:sp>
      <p:sp>
        <p:nvSpPr>
          <p:cNvPr id="15" name="Text 12"/>
          <p:cNvSpPr txBox="1"/>
          <p:nvPr/>
        </p:nvSpPr>
        <p:spPr>
          <a:xfrm>
            <a:off x="7818120" y="3026664"/>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Edición</a:t>
            </a:r>
            <a:endParaRPr lang="en-US" sz="1350" dirty="0"/>
          </a:p>
        </p:txBody>
      </p:sp>
      <p:sp>
        <p:nvSpPr>
          <p:cNvPr id="16" name="Text 13"/>
          <p:cNvSpPr txBox="1"/>
          <p:nvPr/>
        </p:nvSpPr>
        <p:spPr>
          <a:xfrm>
            <a:off x="9235440" y="3026664"/>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Limpiar formulario</a:t>
            </a:r>
            <a:endParaRPr lang="en-US" sz="1150" dirty="0"/>
          </a:p>
        </p:txBody>
      </p:sp>
      <p:sp>
        <p:nvSpPr>
          <p:cNvPr id="17" name="Text 14"/>
          <p:cNvSpPr txBox="1"/>
          <p:nvPr/>
        </p:nvSpPr>
        <p:spPr>
          <a:xfrm>
            <a:off x="7818120" y="3502152"/>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Ventana</a:t>
            </a:r>
            <a:endParaRPr lang="en-US" sz="1350" dirty="0"/>
          </a:p>
        </p:txBody>
      </p:sp>
      <p:sp>
        <p:nvSpPr>
          <p:cNvPr id="18" name="Text 15"/>
          <p:cNvSpPr txBox="1"/>
          <p:nvPr/>
        </p:nvSpPr>
        <p:spPr>
          <a:xfrm>
            <a:off x="9235440" y="3502152"/>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Cascada, mosaico, tema claro/oscuro</a:t>
            </a:r>
            <a:endParaRPr lang="en-US" sz="1150" dirty="0"/>
          </a:p>
        </p:txBody>
      </p:sp>
      <p:sp>
        <p:nvSpPr>
          <p:cNvPr id="19" name="Text 16"/>
          <p:cNvSpPr txBox="1"/>
          <p:nvPr/>
        </p:nvSpPr>
        <p:spPr>
          <a:xfrm>
            <a:off x="7818120" y="3977640"/>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Administración</a:t>
            </a:r>
            <a:endParaRPr lang="en-US" sz="1350" dirty="0"/>
          </a:p>
        </p:txBody>
      </p:sp>
      <p:sp>
        <p:nvSpPr>
          <p:cNvPr id="20" name="Text 17"/>
          <p:cNvSpPr txBox="1"/>
          <p:nvPr/>
        </p:nvSpPr>
        <p:spPr>
          <a:xfrm>
            <a:off x="9235440" y="3977640"/>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Usuarios, respaldar base de datos</a:t>
            </a:r>
            <a:endParaRPr lang="en-US" sz="1150" dirty="0"/>
          </a:p>
        </p:txBody>
      </p:sp>
      <p:sp>
        <p:nvSpPr>
          <p:cNvPr id="21" name="Text 18"/>
          <p:cNvSpPr txBox="1"/>
          <p:nvPr/>
        </p:nvSpPr>
        <p:spPr>
          <a:xfrm>
            <a:off x="7818120" y="4453128"/>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Reportes</a:t>
            </a:r>
            <a:endParaRPr lang="en-US" sz="1350" dirty="0"/>
          </a:p>
        </p:txBody>
      </p:sp>
      <p:sp>
        <p:nvSpPr>
          <p:cNvPr id="22" name="Text 19"/>
          <p:cNvSpPr txBox="1"/>
          <p:nvPr/>
        </p:nvSpPr>
        <p:spPr>
          <a:xfrm>
            <a:off x="9235440" y="4453128"/>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Resumen con gráficos, inventario, ventas…</a:t>
            </a:r>
            <a:endParaRPr lang="en-US" sz="1150" dirty="0"/>
          </a:p>
        </p:txBody>
      </p:sp>
      <p:sp>
        <p:nvSpPr>
          <p:cNvPr id="23" name="Text 20"/>
          <p:cNvSpPr txBox="1"/>
          <p:nvPr/>
        </p:nvSpPr>
        <p:spPr>
          <a:xfrm>
            <a:off x="7818120" y="4928616"/>
            <a:ext cx="1417320" cy="438912"/>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Ayuda</a:t>
            </a:r>
            <a:endParaRPr lang="en-US" sz="1350" dirty="0"/>
          </a:p>
        </p:txBody>
      </p:sp>
      <p:sp>
        <p:nvSpPr>
          <p:cNvPr id="24" name="Text 21"/>
          <p:cNvSpPr txBox="1"/>
          <p:nvPr/>
        </p:nvSpPr>
        <p:spPr>
          <a:xfrm>
            <a:off x="9235440" y="4928616"/>
            <a:ext cx="2514600" cy="438912"/>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Acerca de</a:t>
            </a:r>
            <a:endParaRPr lang="en-US" sz="1150" dirty="0"/>
          </a:p>
        </p:txBody>
      </p:sp>
      <p:sp>
        <p:nvSpPr>
          <p:cNvPr id="25" name="Shape 22"/>
          <p:cNvSpPr/>
          <p:nvPr/>
        </p:nvSpPr>
        <p:spPr>
          <a:xfrm>
            <a:off x="7818120" y="5486400"/>
            <a:ext cx="3840480" cy="658368"/>
          </a:xfrm>
          <a:prstGeom prst="roundRect">
            <a:avLst>
              <a:gd name="adj" fmla="val 13889"/>
            </a:avLst>
          </a:prstGeom>
          <a:solidFill>
            <a:srgbClr val="EEF3F9"/>
          </a:solidFill>
          <a:ln w="12700">
            <a:solidFill>
              <a:srgbClr val="EEF3F9"/>
            </a:solidFill>
            <a:prstDash val="solid"/>
          </a:ln>
        </p:spPr>
      </p:sp>
      <p:pic>
        <p:nvPicPr>
          <p:cNvPr id="26" name="Image 1" descr="preencoded.png">    </p:cNvPr>
          <p:cNvPicPr>
            <a:picLocks noChangeAspect="1"/>
          </p:cNvPicPr>
          <p:nvPr/>
        </p:nvPicPr>
        <p:blipFill>
          <a:blip r:embed="rId2"/>
          <a:stretch>
            <a:fillRect/>
          </a:stretch>
        </p:blipFill>
        <p:spPr>
          <a:xfrm>
            <a:off x="7955280" y="5614416"/>
            <a:ext cx="402336" cy="402336"/>
          </a:xfrm>
          <a:prstGeom prst="rect">
            <a:avLst/>
          </a:prstGeom>
        </p:spPr>
      </p:pic>
      <p:sp>
        <p:nvSpPr>
          <p:cNvPr id="27" name="Text 23"/>
          <p:cNvSpPr txBox="1"/>
          <p:nvPr/>
        </p:nvSpPr>
        <p:spPr>
          <a:xfrm>
            <a:off x="8485632" y="5504688"/>
            <a:ext cx="3108960" cy="621792"/>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El menú depende del rol: el vendedor solo ve facturación y clientes.</a:t>
            </a:r>
            <a:endParaRPr lang="en-US" sz="1200" dirty="0"/>
          </a:p>
        </p:txBody>
      </p:sp>
      <p:sp>
        <p:nvSpPr>
          <p:cNvPr id="28" name="Text 24"/>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29"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Formularios y operaciones</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Registran y consultan datos reales guardados en la base</a:t>
            </a:r>
            <a:endParaRPr lang="en-US" sz="1500" dirty="0"/>
          </a:p>
        </p:txBody>
      </p:sp>
      <p:sp>
        <p:nvSpPr>
          <p:cNvPr id="4" name="Shape 2"/>
          <p:cNvSpPr/>
          <p:nvPr/>
        </p:nvSpPr>
        <p:spPr>
          <a:xfrm>
            <a:off x="10195560" y="347472"/>
            <a:ext cx="822960" cy="822960"/>
          </a:xfrm>
          <a:prstGeom prst="ellipse">
            <a:avLst/>
          </a:prstGeom>
          <a:solidFill>
            <a:srgbClr val="C62828"/>
          </a:solidFill>
          <a:ln w="12700">
            <a:solidFill>
              <a:srgbClr val="C62828"/>
            </a:solidFill>
            <a:prstDash val="solid"/>
          </a:ln>
        </p:spPr>
      </p:sp>
      <p:sp>
        <p:nvSpPr>
          <p:cNvPr id="5" name="Text 3"/>
          <p:cNvSpPr txBox="1"/>
          <p:nvPr/>
        </p:nvSpPr>
        <p:spPr>
          <a:xfrm>
            <a:off x="10195560" y="34747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6" name="Text 4"/>
          <p:cNvSpPr txBox="1"/>
          <p:nvPr/>
        </p:nvSpPr>
        <p:spPr>
          <a:xfrm>
            <a:off x="11064240" y="384048"/>
            <a:ext cx="1005840" cy="7772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Criterio 4</a:t>
            </a:r>
            <a:endParaRPr lang="en-US" sz="1100" dirty="0"/>
          </a:p>
          <a:p>
            <a:pPr indent="0" marL="0">
              <a:buNone/>
            </a:pPr>
            <a:r>
              <a:rPr lang="en-US" sz="1600" b="1" dirty="0">
                <a:solidFill>
                  <a:srgbClr val="0B2545"/>
                </a:solidFill>
                <a:latin typeface="Calibri" pitchFamily="34" charset="0"/>
                <a:ea typeface="Calibri" pitchFamily="34" charset="-122"/>
                <a:cs typeface="Calibri" pitchFamily="34" charset="-120"/>
              </a:rPr>
              <a:t>1.25 pts</a:t>
            </a:r>
            <a:endParaRPr lang="en-US" sz="1100" dirty="0"/>
          </a:p>
        </p:txBody>
      </p:sp>
      <p:pic>
        <p:nvPicPr>
          <p:cNvPr id="7" name="Image 0" descr="C:\Users\Josue Zetino\AppData\Local\Temp\claude\C--Users-Josue-Zetino-Documents-4to-semestre-progra-2\7ccdd11b-dc21-4f34-84fe-794d7b2c2056\scratchpad\pres\img\03-productos.png">    </p:cNvPr>
          <p:cNvPicPr>
            <a:picLocks noChangeAspect="1"/>
          </p:cNvPicPr>
          <p:nvPr/>
        </p:nvPicPr>
        <p:blipFill>
          <a:blip r:embed="rId1"/>
          <a:stretch>
            <a:fillRect/>
          </a:stretch>
        </p:blipFill>
        <p:spPr>
          <a:xfrm>
            <a:off x="927824" y="1554480"/>
            <a:ext cx="2762071" cy="2103120"/>
          </a:xfrm>
          <a:prstGeom prst="rect">
            <a:avLst/>
          </a:prstGeom>
          <a:effectLst>
            <a:outerShdw sx="100000" sy="100000" kx="0" ky="0" algn="bl" rotWithShape="0" blurRad="101600" dist="25400" dir="5400000">
              <a:srgbClr val="000000">
                <a:alpha val="18000"/>
              </a:srgbClr>
            </a:outerShdw>
          </a:effectLst>
        </p:spPr>
      </p:pic>
      <p:sp>
        <p:nvSpPr>
          <p:cNvPr id="8" name="Text 5"/>
          <p:cNvSpPr txBox="1"/>
          <p:nvPr/>
        </p:nvSpPr>
        <p:spPr>
          <a:xfrm>
            <a:off x="548640" y="3657600"/>
            <a:ext cx="3520440" cy="274320"/>
          </a:xfrm>
          <a:prstGeom prst="rect">
            <a:avLst/>
          </a:prstGeom>
          <a:noFill/>
          <a:ln/>
        </p:spPr>
        <p:txBody>
          <a:bodyPr wrap="square" lIns="0" tIns="0" rIns="0" bIns="0"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Productos</a:t>
            </a:r>
            <a:endParaRPr lang="en-US" sz="1200" dirty="0"/>
          </a:p>
        </p:txBody>
      </p:sp>
      <p:pic>
        <p:nvPicPr>
          <p:cNvPr id="9" name="Image 1" descr="C:\Users\Josue Zetino\AppData\Local\Temp\claude\C--Users-Josue-Zetino-Documents-4to-semestre-progra-2\7ccdd11b-dc21-4f34-84fe-794d7b2c2056\scratchpad\pres\img\10-factura-nueva.png">    </p:cNvPr>
          <p:cNvPicPr>
            <a:picLocks noChangeAspect="1"/>
          </p:cNvPicPr>
          <p:nvPr/>
        </p:nvPicPr>
        <p:blipFill>
          <a:blip r:embed="rId2"/>
          <a:stretch>
            <a:fillRect/>
          </a:stretch>
        </p:blipFill>
        <p:spPr>
          <a:xfrm>
            <a:off x="4843227" y="1554480"/>
            <a:ext cx="2429347" cy="2103120"/>
          </a:xfrm>
          <a:prstGeom prst="rect">
            <a:avLst/>
          </a:prstGeom>
          <a:effectLst>
            <a:outerShdw sx="100000" sy="100000" kx="0" ky="0" algn="bl" rotWithShape="0" blurRad="101600" dist="25400" dir="5400000">
              <a:srgbClr val="000000">
                <a:alpha val="18000"/>
              </a:srgbClr>
            </a:outerShdw>
          </a:effectLst>
        </p:spPr>
      </p:pic>
      <p:sp>
        <p:nvSpPr>
          <p:cNvPr id="10" name="Text 6"/>
          <p:cNvSpPr txBox="1"/>
          <p:nvPr/>
        </p:nvSpPr>
        <p:spPr>
          <a:xfrm>
            <a:off x="4297680" y="3657600"/>
            <a:ext cx="3520440" cy="274320"/>
          </a:xfrm>
          <a:prstGeom prst="rect">
            <a:avLst/>
          </a:prstGeom>
          <a:noFill/>
          <a:ln/>
        </p:spPr>
        <p:txBody>
          <a:bodyPr wrap="square" lIns="0" tIns="0" rIns="0" bIns="0"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Factura</a:t>
            </a:r>
            <a:endParaRPr lang="en-US" sz="1200" dirty="0"/>
          </a:p>
        </p:txBody>
      </p:sp>
      <p:pic>
        <p:nvPicPr>
          <p:cNvPr id="11" name="Image 2" descr="C:\Users\Josue Zetino\AppData\Local\Temp\claude\C--Users-Josue-Zetino-Documents-4to-semestre-progra-2\7ccdd11b-dc21-4f34-84fe-794d7b2c2056\scratchpad\pres\img\04-clientes.png">    </p:cNvPr>
          <p:cNvPicPr>
            <a:picLocks noChangeAspect="1"/>
          </p:cNvPicPr>
          <p:nvPr/>
        </p:nvPicPr>
        <p:blipFill>
          <a:blip r:embed="rId3"/>
          <a:stretch>
            <a:fillRect/>
          </a:stretch>
        </p:blipFill>
        <p:spPr>
          <a:xfrm>
            <a:off x="712131" y="4023360"/>
            <a:ext cx="3193458" cy="2103120"/>
          </a:xfrm>
          <a:prstGeom prst="rect">
            <a:avLst/>
          </a:prstGeom>
          <a:effectLst>
            <a:outerShdw sx="100000" sy="100000" kx="0" ky="0" algn="bl" rotWithShape="0" blurRad="101600" dist="25400" dir="5400000">
              <a:srgbClr val="000000">
                <a:alpha val="18000"/>
              </a:srgbClr>
            </a:outerShdw>
          </a:effectLst>
        </p:spPr>
      </p:pic>
      <p:sp>
        <p:nvSpPr>
          <p:cNvPr id="12" name="Text 7"/>
          <p:cNvSpPr txBox="1"/>
          <p:nvPr/>
        </p:nvSpPr>
        <p:spPr>
          <a:xfrm>
            <a:off x="548640" y="6126480"/>
            <a:ext cx="3520440" cy="274320"/>
          </a:xfrm>
          <a:prstGeom prst="rect">
            <a:avLst/>
          </a:prstGeom>
          <a:noFill/>
          <a:ln/>
        </p:spPr>
        <p:txBody>
          <a:bodyPr wrap="square" lIns="0" tIns="0" rIns="0" bIns="0"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Clientes</a:t>
            </a:r>
            <a:endParaRPr lang="en-US" sz="1200" dirty="0"/>
          </a:p>
        </p:txBody>
      </p:sp>
      <p:pic>
        <p:nvPicPr>
          <p:cNvPr id="13" name="Image 3" descr="C:\Users\Josue Zetino\AppData\Local\Temp\claude\C--Users-Josue-Zetino-Documents-4to-semestre-progra-2\7ccdd11b-dc21-4f34-84fe-794d7b2c2056\scratchpad\pres\img\06-compras.png">    </p:cNvPr>
          <p:cNvPicPr>
            <a:picLocks noChangeAspect="1"/>
          </p:cNvPicPr>
          <p:nvPr/>
        </p:nvPicPr>
        <p:blipFill>
          <a:blip r:embed="rId4"/>
          <a:stretch>
            <a:fillRect/>
          </a:stretch>
        </p:blipFill>
        <p:spPr>
          <a:xfrm>
            <a:off x="4480560" y="4023360"/>
            <a:ext cx="3154680" cy="2103120"/>
          </a:xfrm>
          <a:prstGeom prst="rect">
            <a:avLst/>
          </a:prstGeom>
          <a:effectLst>
            <a:outerShdw sx="100000" sy="100000" kx="0" ky="0" algn="bl" rotWithShape="0" blurRad="101600" dist="25400" dir="5400000">
              <a:srgbClr val="000000">
                <a:alpha val="18000"/>
              </a:srgbClr>
            </a:outerShdw>
          </a:effectLst>
        </p:spPr>
      </p:pic>
      <p:sp>
        <p:nvSpPr>
          <p:cNvPr id="14" name="Text 8"/>
          <p:cNvSpPr txBox="1"/>
          <p:nvPr/>
        </p:nvSpPr>
        <p:spPr>
          <a:xfrm>
            <a:off x="4297680" y="6126480"/>
            <a:ext cx="3520440" cy="274320"/>
          </a:xfrm>
          <a:prstGeom prst="rect">
            <a:avLst/>
          </a:prstGeom>
          <a:noFill/>
          <a:ln/>
        </p:spPr>
        <p:txBody>
          <a:bodyPr wrap="square" lIns="0" tIns="0" rIns="0" bIns="0" rtlCol="0" anchor="ctr"/>
          <a:lstStyle/>
          <a:p>
            <a:pPr algn="ctr" indent="0" marL="0">
              <a:buNone/>
            </a:pPr>
            <a:r>
              <a:rPr lang="en-US" sz="1200" b="1" dirty="0">
                <a:solidFill>
                  <a:srgbClr val="5B6472"/>
                </a:solidFill>
                <a:latin typeface="Calibri" pitchFamily="34" charset="0"/>
                <a:ea typeface="Calibri" pitchFamily="34" charset="-122"/>
                <a:cs typeface="Calibri" pitchFamily="34" charset="-120"/>
              </a:rPr>
              <a:t>Compras</a:t>
            </a:r>
            <a:endParaRPr lang="en-US" sz="1200" dirty="0"/>
          </a:p>
        </p:txBody>
      </p:sp>
      <p:sp>
        <p:nvSpPr>
          <p:cNvPr id="15" name="Shape 9"/>
          <p:cNvSpPr/>
          <p:nvPr/>
        </p:nvSpPr>
        <p:spPr>
          <a:xfrm>
            <a:off x="8183880" y="1618488"/>
            <a:ext cx="384048" cy="384048"/>
          </a:xfrm>
          <a:prstGeom prst="ellipse">
            <a:avLst/>
          </a:prstGeom>
          <a:solidFill>
            <a:srgbClr val="1D6FA5"/>
          </a:solidFill>
          <a:ln w="12700">
            <a:solidFill>
              <a:srgbClr val="1D6FA5"/>
            </a:solidFill>
            <a:prstDash val="solid"/>
          </a:ln>
        </p:spPr>
      </p:sp>
      <p:pic>
        <p:nvPicPr>
          <p:cNvPr id="16" name="Image 4" descr="preencoded.png">    </p:cNvPr>
          <p:cNvPicPr>
            <a:picLocks noChangeAspect="1"/>
          </p:cNvPicPr>
          <p:nvPr/>
        </p:nvPicPr>
        <p:blipFill>
          <a:blip r:embed="rId5"/>
          <a:stretch>
            <a:fillRect/>
          </a:stretch>
        </p:blipFill>
        <p:spPr>
          <a:xfrm>
            <a:off x="8275320" y="1709928"/>
            <a:ext cx="201168" cy="201168"/>
          </a:xfrm>
          <a:prstGeom prst="rect">
            <a:avLst/>
          </a:prstGeom>
        </p:spPr>
      </p:pic>
      <p:sp>
        <p:nvSpPr>
          <p:cNvPr id="17" name="Text 10"/>
          <p:cNvSpPr txBox="1"/>
          <p:nvPr/>
        </p:nvSpPr>
        <p:spPr>
          <a:xfrm>
            <a:off x="8732520" y="1572768"/>
            <a:ext cx="3017520" cy="347472"/>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Catálogos (6)</a:t>
            </a:r>
            <a:endParaRPr lang="en-US" sz="1500" dirty="0"/>
          </a:p>
        </p:txBody>
      </p:sp>
      <p:sp>
        <p:nvSpPr>
          <p:cNvPr id="18" name="Text 11"/>
          <p:cNvSpPr txBox="1"/>
          <p:nvPr/>
        </p:nvSpPr>
        <p:spPr>
          <a:xfrm>
            <a:off x="8732520" y="1920240"/>
            <a:ext cx="301752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Guardar, actualizar, eliminar, buscar y reporte HTML</a:t>
            </a:r>
            <a:endParaRPr lang="en-US" sz="1200" dirty="0"/>
          </a:p>
        </p:txBody>
      </p:sp>
      <p:sp>
        <p:nvSpPr>
          <p:cNvPr id="19" name="Shape 12"/>
          <p:cNvSpPr/>
          <p:nvPr/>
        </p:nvSpPr>
        <p:spPr>
          <a:xfrm>
            <a:off x="8183880" y="2532888"/>
            <a:ext cx="384048" cy="384048"/>
          </a:xfrm>
          <a:prstGeom prst="ellipse">
            <a:avLst/>
          </a:prstGeom>
          <a:solidFill>
            <a:srgbClr val="1D6FA5"/>
          </a:solidFill>
          <a:ln w="12700">
            <a:solidFill>
              <a:srgbClr val="1D6FA5"/>
            </a:solidFill>
            <a:prstDash val="solid"/>
          </a:ln>
        </p:spPr>
      </p:sp>
      <p:pic>
        <p:nvPicPr>
          <p:cNvPr id="20" name="Image 5" descr="preencoded.png">    </p:cNvPr>
          <p:cNvPicPr>
            <a:picLocks noChangeAspect="1"/>
          </p:cNvPicPr>
          <p:nvPr/>
        </p:nvPicPr>
        <p:blipFill>
          <a:blip r:embed="rId6"/>
          <a:stretch>
            <a:fillRect/>
          </a:stretch>
        </p:blipFill>
        <p:spPr>
          <a:xfrm>
            <a:off x="8275320" y="2624328"/>
            <a:ext cx="201168" cy="201168"/>
          </a:xfrm>
          <a:prstGeom prst="rect">
            <a:avLst/>
          </a:prstGeom>
        </p:spPr>
      </p:pic>
      <p:sp>
        <p:nvSpPr>
          <p:cNvPr id="21" name="Text 13"/>
          <p:cNvSpPr txBox="1"/>
          <p:nvPr/>
        </p:nvSpPr>
        <p:spPr>
          <a:xfrm>
            <a:off x="8732520" y="2487168"/>
            <a:ext cx="3017520" cy="347472"/>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Factura</a:t>
            </a:r>
            <a:endParaRPr lang="en-US" sz="1500" dirty="0"/>
          </a:p>
        </p:txBody>
      </p:sp>
      <p:sp>
        <p:nvSpPr>
          <p:cNvPr id="22" name="Text 14"/>
          <p:cNvSpPr txBox="1"/>
          <p:nvPr/>
        </p:nvSpPr>
        <p:spPr>
          <a:xfrm>
            <a:off x="8732520" y="2834640"/>
            <a:ext cx="301752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Encabezado + detalle; descuenta existencia; ticket</a:t>
            </a:r>
            <a:endParaRPr lang="en-US" sz="1200" dirty="0"/>
          </a:p>
        </p:txBody>
      </p:sp>
      <p:sp>
        <p:nvSpPr>
          <p:cNvPr id="23" name="Shape 15"/>
          <p:cNvSpPr/>
          <p:nvPr/>
        </p:nvSpPr>
        <p:spPr>
          <a:xfrm>
            <a:off x="8183880" y="3447288"/>
            <a:ext cx="384048" cy="384048"/>
          </a:xfrm>
          <a:prstGeom prst="ellipse">
            <a:avLst/>
          </a:prstGeom>
          <a:solidFill>
            <a:srgbClr val="1D6FA5"/>
          </a:solidFill>
          <a:ln w="12700">
            <a:solidFill>
              <a:srgbClr val="1D6FA5"/>
            </a:solidFill>
            <a:prstDash val="solid"/>
          </a:ln>
        </p:spPr>
      </p:sp>
      <p:pic>
        <p:nvPicPr>
          <p:cNvPr id="24" name="Image 6" descr="preencoded.png">    </p:cNvPr>
          <p:cNvPicPr>
            <a:picLocks noChangeAspect="1"/>
          </p:cNvPicPr>
          <p:nvPr/>
        </p:nvPicPr>
        <p:blipFill>
          <a:blip r:embed="rId7"/>
          <a:stretch>
            <a:fillRect/>
          </a:stretch>
        </p:blipFill>
        <p:spPr>
          <a:xfrm>
            <a:off x="8275320" y="3538728"/>
            <a:ext cx="201168" cy="201168"/>
          </a:xfrm>
          <a:prstGeom prst="rect">
            <a:avLst/>
          </a:prstGeom>
        </p:spPr>
      </p:pic>
      <p:sp>
        <p:nvSpPr>
          <p:cNvPr id="25" name="Text 16"/>
          <p:cNvSpPr txBox="1"/>
          <p:nvPr/>
        </p:nvSpPr>
        <p:spPr>
          <a:xfrm>
            <a:off x="8732520" y="3401568"/>
            <a:ext cx="3017520" cy="347472"/>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Compra</a:t>
            </a:r>
            <a:endParaRPr lang="en-US" sz="1500" dirty="0"/>
          </a:p>
        </p:txBody>
      </p:sp>
      <p:sp>
        <p:nvSpPr>
          <p:cNvPr id="26" name="Text 17"/>
          <p:cNvSpPr txBox="1"/>
          <p:nvPr/>
        </p:nvSpPr>
        <p:spPr>
          <a:xfrm>
            <a:off x="8732520" y="3749040"/>
            <a:ext cx="301752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Detalle por proveedor; suma existencia; último costo</a:t>
            </a:r>
            <a:endParaRPr lang="en-US" sz="1200" dirty="0"/>
          </a:p>
        </p:txBody>
      </p:sp>
      <p:sp>
        <p:nvSpPr>
          <p:cNvPr id="27" name="Shape 18"/>
          <p:cNvSpPr/>
          <p:nvPr/>
        </p:nvSpPr>
        <p:spPr>
          <a:xfrm>
            <a:off x="8183880" y="4361688"/>
            <a:ext cx="384048" cy="384048"/>
          </a:xfrm>
          <a:prstGeom prst="ellipse">
            <a:avLst/>
          </a:prstGeom>
          <a:solidFill>
            <a:srgbClr val="1D6FA5"/>
          </a:solidFill>
          <a:ln w="12700">
            <a:solidFill>
              <a:srgbClr val="1D6FA5"/>
            </a:solidFill>
            <a:prstDash val="solid"/>
          </a:ln>
        </p:spPr>
      </p:sp>
      <p:pic>
        <p:nvPicPr>
          <p:cNvPr id="28" name="Image 7" descr="preencoded.png">    </p:cNvPr>
          <p:cNvPicPr>
            <a:picLocks noChangeAspect="1"/>
          </p:cNvPicPr>
          <p:nvPr/>
        </p:nvPicPr>
        <p:blipFill>
          <a:blip r:embed="rId8"/>
          <a:stretch>
            <a:fillRect/>
          </a:stretch>
        </p:blipFill>
        <p:spPr>
          <a:xfrm>
            <a:off x="8275320" y="4453128"/>
            <a:ext cx="201168" cy="201168"/>
          </a:xfrm>
          <a:prstGeom prst="rect">
            <a:avLst/>
          </a:prstGeom>
        </p:spPr>
      </p:pic>
      <p:sp>
        <p:nvSpPr>
          <p:cNvPr id="29" name="Text 19"/>
          <p:cNvSpPr txBox="1"/>
          <p:nvPr/>
        </p:nvSpPr>
        <p:spPr>
          <a:xfrm>
            <a:off x="8732520" y="4315968"/>
            <a:ext cx="3017520" cy="347472"/>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Listas</a:t>
            </a:r>
            <a:endParaRPr lang="en-US" sz="1500" dirty="0"/>
          </a:p>
        </p:txBody>
      </p:sp>
      <p:sp>
        <p:nvSpPr>
          <p:cNvPr id="30" name="Text 20"/>
          <p:cNvSpPr txBox="1"/>
          <p:nvPr/>
        </p:nvSpPr>
        <p:spPr>
          <a:xfrm>
            <a:off x="8732520" y="4663440"/>
            <a:ext cx="301752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Consultar, ver detalle, anular y reporte</a:t>
            </a:r>
            <a:endParaRPr lang="en-US" sz="1200" dirty="0"/>
          </a:p>
        </p:txBody>
      </p:sp>
      <p:sp>
        <p:nvSpPr>
          <p:cNvPr id="31" name="Shape 21"/>
          <p:cNvSpPr/>
          <p:nvPr/>
        </p:nvSpPr>
        <p:spPr>
          <a:xfrm>
            <a:off x="8183880" y="5276088"/>
            <a:ext cx="384048" cy="384048"/>
          </a:xfrm>
          <a:prstGeom prst="ellipse">
            <a:avLst/>
          </a:prstGeom>
          <a:solidFill>
            <a:srgbClr val="1D6FA5"/>
          </a:solidFill>
          <a:ln w="12700">
            <a:solidFill>
              <a:srgbClr val="1D6FA5"/>
            </a:solidFill>
            <a:prstDash val="solid"/>
          </a:ln>
        </p:spPr>
      </p:sp>
      <p:pic>
        <p:nvPicPr>
          <p:cNvPr id="32" name="Image 8" descr="preencoded.png">    </p:cNvPr>
          <p:cNvPicPr>
            <a:picLocks noChangeAspect="1"/>
          </p:cNvPicPr>
          <p:nvPr/>
        </p:nvPicPr>
        <p:blipFill>
          <a:blip r:embed="rId9"/>
          <a:stretch>
            <a:fillRect/>
          </a:stretch>
        </p:blipFill>
        <p:spPr>
          <a:xfrm>
            <a:off x="8275320" y="5367528"/>
            <a:ext cx="201168" cy="201168"/>
          </a:xfrm>
          <a:prstGeom prst="rect">
            <a:avLst/>
          </a:prstGeom>
        </p:spPr>
      </p:pic>
      <p:sp>
        <p:nvSpPr>
          <p:cNvPr id="33" name="Text 22"/>
          <p:cNvSpPr txBox="1"/>
          <p:nvPr/>
        </p:nvSpPr>
        <p:spPr>
          <a:xfrm>
            <a:off x="8732520" y="5230368"/>
            <a:ext cx="3017520" cy="347472"/>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Login</a:t>
            </a:r>
            <a:endParaRPr lang="en-US" sz="1500" dirty="0"/>
          </a:p>
        </p:txBody>
      </p:sp>
      <p:sp>
        <p:nvSpPr>
          <p:cNvPr id="34" name="Text 23"/>
          <p:cNvSpPr txBox="1"/>
          <p:nvPr/>
        </p:nvSpPr>
        <p:spPr>
          <a:xfrm>
            <a:off x="8732520" y="5577840"/>
            <a:ext cx="301752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Usuarios con rol; administrador en el primer uso</a:t>
            </a:r>
            <a:endParaRPr lang="en-US" sz="1200" dirty="0"/>
          </a:p>
        </p:txBody>
      </p:sp>
      <p:sp>
        <p:nvSpPr>
          <p:cNvPr id="35" name="Text 24"/>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36"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Flujo funcional entre módulos</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Lo que se registra en un formulario se usa en los siguientes</a:t>
            </a:r>
            <a:endParaRPr lang="en-US" sz="1500" dirty="0"/>
          </a:p>
        </p:txBody>
      </p:sp>
      <p:sp>
        <p:nvSpPr>
          <p:cNvPr id="4" name="Shape 2"/>
          <p:cNvSpPr/>
          <p:nvPr/>
        </p:nvSpPr>
        <p:spPr>
          <a:xfrm>
            <a:off x="10195560" y="347472"/>
            <a:ext cx="822960" cy="822960"/>
          </a:xfrm>
          <a:prstGeom prst="ellipse">
            <a:avLst/>
          </a:prstGeom>
          <a:solidFill>
            <a:srgbClr val="C62828"/>
          </a:solidFill>
          <a:ln w="12700">
            <a:solidFill>
              <a:srgbClr val="C62828"/>
            </a:solidFill>
            <a:prstDash val="solid"/>
          </a:ln>
        </p:spPr>
      </p:sp>
      <p:sp>
        <p:nvSpPr>
          <p:cNvPr id="5" name="Text 3"/>
          <p:cNvSpPr txBox="1"/>
          <p:nvPr/>
        </p:nvSpPr>
        <p:spPr>
          <a:xfrm>
            <a:off x="10195560" y="34747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5</a:t>
            </a:r>
            <a:endParaRPr lang="en-US" sz="3000" dirty="0"/>
          </a:p>
        </p:txBody>
      </p:sp>
      <p:sp>
        <p:nvSpPr>
          <p:cNvPr id="6" name="Text 4"/>
          <p:cNvSpPr txBox="1"/>
          <p:nvPr/>
        </p:nvSpPr>
        <p:spPr>
          <a:xfrm>
            <a:off x="11064240" y="384048"/>
            <a:ext cx="1005840" cy="7772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Criterio 5</a:t>
            </a:r>
            <a:endParaRPr lang="en-US" sz="1100" dirty="0"/>
          </a:p>
          <a:p>
            <a:pPr indent="0" marL="0">
              <a:buNone/>
            </a:pPr>
            <a:r>
              <a:rPr lang="en-US" sz="1600" b="1" dirty="0">
                <a:solidFill>
                  <a:srgbClr val="0B2545"/>
                </a:solidFill>
                <a:latin typeface="Calibri" pitchFamily="34" charset="0"/>
                <a:ea typeface="Calibri" pitchFamily="34" charset="-122"/>
                <a:cs typeface="Calibri" pitchFamily="34" charset="-120"/>
              </a:rPr>
              <a:t>1.00 pts</a:t>
            </a:r>
            <a:endParaRPr lang="en-US" sz="1100" dirty="0"/>
          </a:p>
        </p:txBody>
      </p:sp>
      <p:sp>
        <p:nvSpPr>
          <p:cNvPr id="7" name="Shape 5"/>
          <p:cNvSpPr/>
          <p:nvPr/>
        </p:nvSpPr>
        <p:spPr>
          <a:xfrm>
            <a:off x="1005840" y="1691640"/>
            <a:ext cx="868680" cy="868680"/>
          </a:xfrm>
          <a:prstGeom prst="ellipse">
            <a:avLst/>
          </a:prstGeom>
          <a:solidFill>
            <a:srgbClr val="0B2545"/>
          </a:solidFill>
          <a:ln w="12700">
            <a:solidFill>
              <a:srgbClr val="0B2545"/>
            </a:solidFill>
            <a:prstDash val="solid"/>
          </a:ln>
        </p:spPr>
      </p:sp>
      <p:pic>
        <p:nvPicPr>
          <p:cNvPr id="8" name="Image 0" descr="preencoded.png">    </p:cNvPr>
          <p:cNvPicPr>
            <a:picLocks noChangeAspect="1"/>
          </p:cNvPicPr>
          <p:nvPr/>
        </p:nvPicPr>
        <p:blipFill>
          <a:blip r:embed="rId1"/>
          <a:stretch>
            <a:fillRect/>
          </a:stretch>
        </p:blipFill>
        <p:spPr>
          <a:xfrm>
            <a:off x="1207008" y="1892808"/>
            <a:ext cx="466344" cy="466344"/>
          </a:xfrm>
          <a:prstGeom prst="rect">
            <a:avLst/>
          </a:prstGeom>
        </p:spPr>
      </p:pic>
      <p:pic>
        <p:nvPicPr>
          <p:cNvPr id="9" name="Image 1" descr="preencoded.png">    </p:cNvPr>
          <p:cNvPicPr>
            <a:picLocks noChangeAspect="1"/>
          </p:cNvPicPr>
          <p:nvPr/>
        </p:nvPicPr>
        <p:blipFill>
          <a:blip r:embed="rId2"/>
          <a:stretch>
            <a:fillRect/>
          </a:stretch>
        </p:blipFill>
        <p:spPr>
          <a:xfrm>
            <a:off x="2130552" y="1993392"/>
            <a:ext cx="274320" cy="274320"/>
          </a:xfrm>
          <a:prstGeom prst="rect">
            <a:avLst/>
          </a:prstGeom>
        </p:spPr>
      </p:pic>
      <p:sp>
        <p:nvSpPr>
          <p:cNvPr id="10" name="Text 6"/>
          <p:cNvSpPr txBox="1"/>
          <p:nvPr/>
        </p:nvSpPr>
        <p:spPr>
          <a:xfrm>
            <a:off x="548640" y="2697480"/>
            <a:ext cx="1783080" cy="566928"/>
          </a:xfrm>
          <a:prstGeom prst="rect">
            <a:avLst/>
          </a:prstGeom>
          <a:noFill/>
          <a:ln/>
        </p:spPr>
        <p:txBody>
          <a:bodyPr wrap="square" lIns="0" tIns="0" rIns="0" bIns="0" rtlCol="0" anchor="t"/>
          <a:lstStyle/>
          <a:p>
            <a:pPr algn="ctr" indent="0" marL="0">
              <a:buNone/>
            </a:pPr>
            <a:r>
              <a:rPr lang="en-US" sz="1400" b="1" dirty="0">
                <a:solidFill>
                  <a:srgbClr val="0B2545"/>
                </a:solidFill>
                <a:latin typeface="Calibri" pitchFamily="34" charset="0"/>
                <a:ea typeface="Calibri" pitchFamily="34" charset="-122"/>
                <a:cs typeface="Calibri" pitchFamily="34" charset="-120"/>
              </a:rPr>
              <a:t>Categoría y proveedor</a:t>
            </a:r>
            <a:endParaRPr lang="en-US" sz="1400" dirty="0"/>
          </a:p>
        </p:txBody>
      </p:sp>
      <p:sp>
        <p:nvSpPr>
          <p:cNvPr id="11" name="Text 7"/>
          <p:cNvSpPr txBox="1"/>
          <p:nvPr/>
        </p:nvSpPr>
        <p:spPr>
          <a:xfrm>
            <a:off x="548640" y="3246120"/>
            <a:ext cx="1783080" cy="731520"/>
          </a:xfrm>
          <a:prstGeom prst="rect">
            <a:avLst/>
          </a:prstGeom>
          <a:noFill/>
          <a:ln/>
        </p:spPr>
        <p:txBody>
          <a:bodyPr wrap="square" lIns="0" tIns="0" rIns="0" bIns="0" rtlCol="0" anchor="t"/>
          <a:lstStyle/>
          <a:p>
            <a:pPr algn="ctr" indent="0" marL="0">
              <a:buNone/>
            </a:pPr>
            <a:r>
              <a:rPr lang="en-US" sz="1200" dirty="0">
                <a:solidFill>
                  <a:srgbClr val="5B6472"/>
                </a:solidFill>
                <a:latin typeface="Calibri" pitchFamily="34" charset="0"/>
                <a:ea typeface="Calibri" pitchFamily="34" charset="-122"/>
                <a:cs typeface="Calibri" pitchFamily="34" charset="-120"/>
              </a:rPr>
              <a:t>Se registran en sus catálogos</a:t>
            </a:r>
            <a:endParaRPr lang="en-US" sz="1200" dirty="0"/>
          </a:p>
        </p:txBody>
      </p:sp>
      <p:sp>
        <p:nvSpPr>
          <p:cNvPr id="12" name="Shape 8"/>
          <p:cNvSpPr/>
          <p:nvPr/>
        </p:nvSpPr>
        <p:spPr>
          <a:xfrm>
            <a:off x="2926080" y="1691640"/>
            <a:ext cx="868680" cy="868680"/>
          </a:xfrm>
          <a:prstGeom prst="ellipse">
            <a:avLst/>
          </a:prstGeom>
          <a:solidFill>
            <a:srgbClr val="0B2545"/>
          </a:solidFill>
          <a:ln w="12700">
            <a:solidFill>
              <a:srgbClr val="0B2545"/>
            </a:solidFill>
            <a:prstDash val="solid"/>
          </a:ln>
        </p:spPr>
      </p:sp>
      <p:pic>
        <p:nvPicPr>
          <p:cNvPr id="13" name="Image 2" descr="preencoded.png">    </p:cNvPr>
          <p:cNvPicPr>
            <a:picLocks noChangeAspect="1"/>
          </p:cNvPicPr>
          <p:nvPr/>
        </p:nvPicPr>
        <p:blipFill>
          <a:blip r:embed="rId3"/>
          <a:stretch>
            <a:fillRect/>
          </a:stretch>
        </p:blipFill>
        <p:spPr>
          <a:xfrm>
            <a:off x="3127248" y="1892808"/>
            <a:ext cx="466344" cy="466344"/>
          </a:xfrm>
          <a:prstGeom prst="rect">
            <a:avLst/>
          </a:prstGeom>
        </p:spPr>
      </p:pic>
      <p:pic>
        <p:nvPicPr>
          <p:cNvPr id="14" name="Image 3" descr="preencoded.png">    </p:cNvPr>
          <p:cNvPicPr>
            <a:picLocks noChangeAspect="1"/>
          </p:cNvPicPr>
          <p:nvPr/>
        </p:nvPicPr>
        <p:blipFill>
          <a:blip r:embed="rId4"/>
          <a:stretch>
            <a:fillRect/>
          </a:stretch>
        </p:blipFill>
        <p:spPr>
          <a:xfrm>
            <a:off x="4050792" y="1993392"/>
            <a:ext cx="274320" cy="274320"/>
          </a:xfrm>
          <a:prstGeom prst="rect">
            <a:avLst/>
          </a:prstGeom>
        </p:spPr>
      </p:pic>
      <p:sp>
        <p:nvSpPr>
          <p:cNvPr id="15" name="Text 9"/>
          <p:cNvSpPr txBox="1"/>
          <p:nvPr/>
        </p:nvSpPr>
        <p:spPr>
          <a:xfrm>
            <a:off x="2468880" y="2697480"/>
            <a:ext cx="1783080" cy="566928"/>
          </a:xfrm>
          <a:prstGeom prst="rect">
            <a:avLst/>
          </a:prstGeom>
          <a:noFill/>
          <a:ln/>
        </p:spPr>
        <p:txBody>
          <a:bodyPr wrap="square" lIns="0" tIns="0" rIns="0" bIns="0" rtlCol="0" anchor="t"/>
          <a:lstStyle/>
          <a:p>
            <a:pPr algn="ctr" indent="0" marL="0">
              <a:buNone/>
            </a:pPr>
            <a:r>
              <a:rPr lang="en-US" sz="1400" b="1" dirty="0">
                <a:solidFill>
                  <a:srgbClr val="0B2545"/>
                </a:solidFill>
                <a:latin typeface="Calibri" pitchFamily="34" charset="0"/>
                <a:ea typeface="Calibri" pitchFamily="34" charset="-122"/>
                <a:cs typeface="Calibri" pitchFamily="34" charset="-120"/>
              </a:rPr>
              <a:t>Producto</a:t>
            </a:r>
            <a:endParaRPr lang="en-US" sz="1400" dirty="0"/>
          </a:p>
        </p:txBody>
      </p:sp>
      <p:sp>
        <p:nvSpPr>
          <p:cNvPr id="16" name="Text 10"/>
          <p:cNvSpPr txBox="1"/>
          <p:nvPr/>
        </p:nvSpPr>
        <p:spPr>
          <a:xfrm>
            <a:off x="2468880" y="3246120"/>
            <a:ext cx="1783080" cy="731520"/>
          </a:xfrm>
          <a:prstGeom prst="rect">
            <a:avLst/>
          </a:prstGeom>
          <a:noFill/>
          <a:ln/>
        </p:spPr>
        <p:txBody>
          <a:bodyPr wrap="square" lIns="0" tIns="0" rIns="0" bIns="0" rtlCol="0" anchor="t"/>
          <a:lstStyle/>
          <a:p>
            <a:pPr algn="ctr" indent="0" marL="0">
              <a:buNone/>
            </a:pPr>
            <a:r>
              <a:rPr lang="en-US" sz="1200" dirty="0">
                <a:solidFill>
                  <a:srgbClr val="5B6472"/>
                </a:solidFill>
                <a:latin typeface="Calibri" pitchFamily="34" charset="0"/>
                <a:ea typeface="Calibri" pitchFamily="34" charset="-122"/>
                <a:cs typeface="Calibri" pitchFamily="34" charset="-120"/>
              </a:rPr>
              <a:t>Usa la categoría</a:t>
            </a:r>
            <a:endParaRPr lang="en-US" sz="1200" dirty="0"/>
          </a:p>
        </p:txBody>
      </p:sp>
      <p:sp>
        <p:nvSpPr>
          <p:cNvPr id="17" name="Shape 11"/>
          <p:cNvSpPr/>
          <p:nvPr/>
        </p:nvSpPr>
        <p:spPr>
          <a:xfrm>
            <a:off x="4846320" y="1691640"/>
            <a:ext cx="868680" cy="868680"/>
          </a:xfrm>
          <a:prstGeom prst="ellipse">
            <a:avLst/>
          </a:prstGeom>
          <a:solidFill>
            <a:srgbClr val="1D6FA5"/>
          </a:solidFill>
          <a:ln w="12700">
            <a:solidFill>
              <a:srgbClr val="1D6FA5"/>
            </a:solidFill>
            <a:prstDash val="solid"/>
          </a:ln>
        </p:spPr>
      </p:sp>
      <p:pic>
        <p:nvPicPr>
          <p:cNvPr id="18" name="Image 4" descr="preencoded.png">    </p:cNvPr>
          <p:cNvPicPr>
            <a:picLocks noChangeAspect="1"/>
          </p:cNvPicPr>
          <p:nvPr/>
        </p:nvPicPr>
        <p:blipFill>
          <a:blip r:embed="rId5"/>
          <a:stretch>
            <a:fillRect/>
          </a:stretch>
        </p:blipFill>
        <p:spPr>
          <a:xfrm>
            <a:off x="5047488" y="1892808"/>
            <a:ext cx="466344" cy="466344"/>
          </a:xfrm>
          <a:prstGeom prst="rect">
            <a:avLst/>
          </a:prstGeom>
        </p:spPr>
      </p:pic>
      <p:pic>
        <p:nvPicPr>
          <p:cNvPr id="19" name="Image 5" descr="preencoded.png">    </p:cNvPr>
          <p:cNvPicPr>
            <a:picLocks noChangeAspect="1"/>
          </p:cNvPicPr>
          <p:nvPr/>
        </p:nvPicPr>
        <p:blipFill>
          <a:blip r:embed="rId6"/>
          <a:stretch>
            <a:fillRect/>
          </a:stretch>
        </p:blipFill>
        <p:spPr>
          <a:xfrm>
            <a:off x="5971032" y="1993392"/>
            <a:ext cx="274320" cy="274320"/>
          </a:xfrm>
          <a:prstGeom prst="rect">
            <a:avLst/>
          </a:prstGeom>
        </p:spPr>
      </p:pic>
      <p:sp>
        <p:nvSpPr>
          <p:cNvPr id="20" name="Text 12"/>
          <p:cNvSpPr txBox="1"/>
          <p:nvPr/>
        </p:nvSpPr>
        <p:spPr>
          <a:xfrm>
            <a:off x="4389120" y="2697480"/>
            <a:ext cx="1783080" cy="566928"/>
          </a:xfrm>
          <a:prstGeom prst="rect">
            <a:avLst/>
          </a:prstGeom>
          <a:noFill/>
          <a:ln/>
        </p:spPr>
        <p:txBody>
          <a:bodyPr wrap="square" lIns="0" tIns="0" rIns="0" bIns="0" rtlCol="0" anchor="t"/>
          <a:lstStyle/>
          <a:p>
            <a:pPr algn="ctr" indent="0" marL="0">
              <a:buNone/>
            </a:pPr>
            <a:r>
              <a:rPr lang="en-US" sz="1400" b="1" dirty="0">
                <a:solidFill>
                  <a:srgbClr val="0B2545"/>
                </a:solidFill>
                <a:latin typeface="Calibri" pitchFamily="34" charset="0"/>
                <a:ea typeface="Calibri" pitchFamily="34" charset="-122"/>
                <a:cs typeface="Calibri" pitchFamily="34" charset="-120"/>
              </a:rPr>
              <a:t>Compra</a:t>
            </a:r>
            <a:endParaRPr lang="en-US" sz="1400" dirty="0"/>
          </a:p>
        </p:txBody>
      </p:sp>
      <p:sp>
        <p:nvSpPr>
          <p:cNvPr id="21" name="Text 13"/>
          <p:cNvSpPr txBox="1"/>
          <p:nvPr/>
        </p:nvSpPr>
        <p:spPr>
          <a:xfrm>
            <a:off x="4389120" y="3246120"/>
            <a:ext cx="1783080" cy="731520"/>
          </a:xfrm>
          <a:prstGeom prst="rect">
            <a:avLst/>
          </a:prstGeom>
          <a:noFill/>
          <a:ln/>
        </p:spPr>
        <p:txBody>
          <a:bodyPr wrap="square" lIns="0" tIns="0" rIns="0" bIns="0" rtlCol="0" anchor="t"/>
          <a:lstStyle/>
          <a:p>
            <a:pPr algn="ctr" indent="0" marL="0">
              <a:buNone/>
            </a:pPr>
            <a:r>
              <a:rPr lang="en-US" sz="1200" dirty="0">
                <a:solidFill>
                  <a:srgbClr val="5B6472"/>
                </a:solidFill>
                <a:latin typeface="Calibri" pitchFamily="34" charset="0"/>
                <a:ea typeface="Calibri" pitchFamily="34" charset="-122"/>
                <a:cs typeface="Calibri" pitchFamily="34" charset="-120"/>
              </a:rPr>
              <a:t>Usa proveedor y producto: suma existencia</a:t>
            </a:r>
            <a:endParaRPr lang="en-US" sz="1200" dirty="0"/>
          </a:p>
        </p:txBody>
      </p:sp>
      <p:sp>
        <p:nvSpPr>
          <p:cNvPr id="22" name="Shape 14"/>
          <p:cNvSpPr/>
          <p:nvPr/>
        </p:nvSpPr>
        <p:spPr>
          <a:xfrm>
            <a:off x="6766560" y="1691640"/>
            <a:ext cx="868680" cy="868680"/>
          </a:xfrm>
          <a:prstGeom prst="ellipse">
            <a:avLst/>
          </a:prstGeom>
          <a:solidFill>
            <a:srgbClr val="1D6FA5"/>
          </a:solidFill>
          <a:ln w="12700">
            <a:solidFill>
              <a:srgbClr val="1D6FA5"/>
            </a:solidFill>
            <a:prstDash val="solid"/>
          </a:ln>
        </p:spPr>
      </p:sp>
      <p:pic>
        <p:nvPicPr>
          <p:cNvPr id="23" name="Image 6" descr="preencoded.png">    </p:cNvPr>
          <p:cNvPicPr>
            <a:picLocks noChangeAspect="1"/>
          </p:cNvPicPr>
          <p:nvPr/>
        </p:nvPicPr>
        <p:blipFill>
          <a:blip r:embed="rId7"/>
          <a:stretch>
            <a:fillRect/>
          </a:stretch>
        </p:blipFill>
        <p:spPr>
          <a:xfrm>
            <a:off x="6967728" y="1892808"/>
            <a:ext cx="466344" cy="466344"/>
          </a:xfrm>
          <a:prstGeom prst="rect">
            <a:avLst/>
          </a:prstGeom>
        </p:spPr>
      </p:pic>
      <p:pic>
        <p:nvPicPr>
          <p:cNvPr id="24" name="Image 7" descr="preencoded.png">    </p:cNvPr>
          <p:cNvPicPr>
            <a:picLocks noChangeAspect="1"/>
          </p:cNvPicPr>
          <p:nvPr/>
        </p:nvPicPr>
        <p:blipFill>
          <a:blip r:embed="rId8"/>
          <a:stretch>
            <a:fillRect/>
          </a:stretch>
        </p:blipFill>
        <p:spPr>
          <a:xfrm>
            <a:off x="7891272" y="1993392"/>
            <a:ext cx="274320" cy="274320"/>
          </a:xfrm>
          <a:prstGeom prst="rect">
            <a:avLst/>
          </a:prstGeom>
        </p:spPr>
      </p:pic>
      <p:sp>
        <p:nvSpPr>
          <p:cNvPr id="25" name="Text 15"/>
          <p:cNvSpPr txBox="1"/>
          <p:nvPr/>
        </p:nvSpPr>
        <p:spPr>
          <a:xfrm>
            <a:off x="6309360" y="2697480"/>
            <a:ext cx="1783080" cy="566928"/>
          </a:xfrm>
          <a:prstGeom prst="rect">
            <a:avLst/>
          </a:prstGeom>
          <a:noFill/>
          <a:ln/>
        </p:spPr>
        <p:txBody>
          <a:bodyPr wrap="square" lIns="0" tIns="0" rIns="0" bIns="0" rtlCol="0" anchor="t"/>
          <a:lstStyle/>
          <a:p>
            <a:pPr algn="ctr" indent="0" marL="0">
              <a:buNone/>
            </a:pPr>
            <a:r>
              <a:rPr lang="en-US" sz="1400" b="1" dirty="0">
                <a:solidFill>
                  <a:srgbClr val="0B2545"/>
                </a:solidFill>
                <a:latin typeface="Calibri" pitchFamily="34" charset="0"/>
                <a:ea typeface="Calibri" pitchFamily="34" charset="-122"/>
                <a:cs typeface="Calibri" pitchFamily="34" charset="-120"/>
              </a:rPr>
              <a:t>Factura</a:t>
            </a:r>
            <a:endParaRPr lang="en-US" sz="1400" dirty="0"/>
          </a:p>
        </p:txBody>
      </p:sp>
      <p:sp>
        <p:nvSpPr>
          <p:cNvPr id="26" name="Text 16"/>
          <p:cNvSpPr txBox="1"/>
          <p:nvPr/>
        </p:nvSpPr>
        <p:spPr>
          <a:xfrm>
            <a:off x="6309360" y="3246120"/>
            <a:ext cx="1783080" cy="731520"/>
          </a:xfrm>
          <a:prstGeom prst="rect">
            <a:avLst/>
          </a:prstGeom>
          <a:noFill/>
          <a:ln/>
        </p:spPr>
        <p:txBody>
          <a:bodyPr wrap="square" lIns="0" tIns="0" rIns="0" bIns="0" rtlCol="0" anchor="t"/>
          <a:lstStyle/>
          <a:p>
            <a:pPr algn="ctr" indent="0" marL="0">
              <a:buNone/>
            </a:pPr>
            <a:r>
              <a:rPr lang="en-US" sz="1200" dirty="0">
                <a:solidFill>
                  <a:srgbClr val="5B6472"/>
                </a:solidFill>
                <a:latin typeface="Calibri" pitchFamily="34" charset="0"/>
                <a:ea typeface="Calibri" pitchFamily="34" charset="-122"/>
                <a:cs typeface="Calibri" pitchFamily="34" charset="-120"/>
              </a:rPr>
              <a:t>Usa cliente y producto: resta existencia</a:t>
            </a:r>
            <a:endParaRPr lang="en-US" sz="1200" dirty="0"/>
          </a:p>
        </p:txBody>
      </p:sp>
      <p:sp>
        <p:nvSpPr>
          <p:cNvPr id="27" name="Shape 17"/>
          <p:cNvSpPr/>
          <p:nvPr/>
        </p:nvSpPr>
        <p:spPr>
          <a:xfrm>
            <a:off x="8686800" y="1691640"/>
            <a:ext cx="868680" cy="868680"/>
          </a:xfrm>
          <a:prstGeom prst="ellipse">
            <a:avLst/>
          </a:prstGeom>
          <a:solidFill>
            <a:srgbClr val="C62828"/>
          </a:solidFill>
          <a:ln w="12700">
            <a:solidFill>
              <a:srgbClr val="C62828"/>
            </a:solidFill>
            <a:prstDash val="solid"/>
          </a:ln>
        </p:spPr>
      </p:sp>
      <p:pic>
        <p:nvPicPr>
          <p:cNvPr id="28" name="Image 8" descr="preencoded.png">    </p:cNvPr>
          <p:cNvPicPr>
            <a:picLocks noChangeAspect="1"/>
          </p:cNvPicPr>
          <p:nvPr/>
        </p:nvPicPr>
        <p:blipFill>
          <a:blip r:embed="rId9"/>
          <a:stretch>
            <a:fillRect/>
          </a:stretch>
        </p:blipFill>
        <p:spPr>
          <a:xfrm>
            <a:off x="8887968" y="1892808"/>
            <a:ext cx="466344" cy="466344"/>
          </a:xfrm>
          <a:prstGeom prst="rect">
            <a:avLst/>
          </a:prstGeom>
        </p:spPr>
      </p:pic>
      <p:pic>
        <p:nvPicPr>
          <p:cNvPr id="29" name="Image 9" descr="preencoded.png">    </p:cNvPr>
          <p:cNvPicPr>
            <a:picLocks noChangeAspect="1"/>
          </p:cNvPicPr>
          <p:nvPr/>
        </p:nvPicPr>
        <p:blipFill>
          <a:blip r:embed="rId10"/>
          <a:stretch>
            <a:fillRect/>
          </a:stretch>
        </p:blipFill>
        <p:spPr>
          <a:xfrm>
            <a:off x="9811512" y="1993392"/>
            <a:ext cx="274320" cy="274320"/>
          </a:xfrm>
          <a:prstGeom prst="rect">
            <a:avLst/>
          </a:prstGeom>
        </p:spPr>
      </p:pic>
      <p:sp>
        <p:nvSpPr>
          <p:cNvPr id="30" name="Text 18"/>
          <p:cNvSpPr txBox="1"/>
          <p:nvPr/>
        </p:nvSpPr>
        <p:spPr>
          <a:xfrm>
            <a:off x="8229600" y="2697480"/>
            <a:ext cx="1783080" cy="566928"/>
          </a:xfrm>
          <a:prstGeom prst="rect">
            <a:avLst/>
          </a:prstGeom>
          <a:noFill/>
          <a:ln/>
        </p:spPr>
        <p:txBody>
          <a:bodyPr wrap="square" lIns="0" tIns="0" rIns="0" bIns="0" rtlCol="0" anchor="t"/>
          <a:lstStyle/>
          <a:p>
            <a:pPr algn="ctr" indent="0" marL="0">
              <a:buNone/>
            </a:pPr>
            <a:r>
              <a:rPr lang="en-US" sz="1400" b="1" dirty="0">
                <a:solidFill>
                  <a:srgbClr val="0B2545"/>
                </a:solidFill>
                <a:latin typeface="Calibri" pitchFamily="34" charset="0"/>
                <a:ea typeface="Calibri" pitchFamily="34" charset="-122"/>
                <a:cs typeface="Calibri" pitchFamily="34" charset="-120"/>
              </a:rPr>
              <a:t>Reportes y resumen</a:t>
            </a:r>
            <a:endParaRPr lang="en-US" sz="1400" dirty="0"/>
          </a:p>
        </p:txBody>
      </p:sp>
      <p:sp>
        <p:nvSpPr>
          <p:cNvPr id="31" name="Text 19"/>
          <p:cNvSpPr txBox="1"/>
          <p:nvPr/>
        </p:nvSpPr>
        <p:spPr>
          <a:xfrm>
            <a:off x="8229600" y="3246120"/>
            <a:ext cx="1783080" cy="731520"/>
          </a:xfrm>
          <a:prstGeom prst="rect">
            <a:avLst/>
          </a:prstGeom>
          <a:noFill/>
          <a:ln/>
        </p:spPr>
        <p:txBody>
          <a:bodyPr wrap="square" lIns="0" tIns="0" rIns="0" bIns="0" rtlCol="0" anchor="t"/>
          <a:lstStyle/>
          <a:p>
            <a:pPr algn="ctr" indent="0" marL="0">
              <a:buNone/>
            </a:pPr>
            <a:r>
              <a:rPr lang="en-US" sz="1200" dirty="0">
                <a:solidFill>
                  <a:srgbClr val="5B6472"/>
                </a:solidFill>
                <a:latin typeface="Calibri" pitchFamily="34" charset="0"/>
                <a:ea typeface="Calibri" pitchFamily="34" charset="-122"/>
                <a:cs typeface="Calibri" pitchFamily="34" charset="-120"/>
              </a:rPr>
              <a:t>Leen facturas y compras</a:t>
            </a:r>
            <a:endParaRPr lang="en-US" sz="1200" dirty="0"/>
          </a:p>
        </p:txBody>
      </p:sp>
      <p:sp>
        <p:nvSpPr>
          <p:cNvPr id="32" name="Shape 20"/>
          <p:cNvSpPr/>
          <p:nvPr/>
        </p:nvSpPr>
        <p:spPr>
          <a:xfrm>
            <a:off x="10607040" y="1691640"/>
            <a:ext cx="868680" cy="868680"/>
          </a:xfrm>
          <a:prstGeom prst="ellipse">
            <a:avLst/>
          </a:prstGeom>
          <a:solidFill>
            <a:srgbClr val="C62828"/>
          </a:solidFill>
          <a:ln w="12700">
            <a:solidFill>
              <a:srgbClr val="C62828"/>
            </a:solidFill>
            <a:prstDash val="solid"/>
          </a:ln>
        </p:spPr>
      </p:sp>
      <p:pic>
        <p:nvPicPr>
          <p:cNvPr id="33" name="Image 10" descr="preencoded.png">    </p:cNvPr>
          <p:cNvPicPr>
            <a:picLocks noChangeAspect="1"/>
          </p:cNvPicPr>
          <p:nvPr/>
        </p:nvPicPr>
        <p:blipFill>
          <a:blip r:embed="rId11"/>
          <a:stretch>
            <a:fillRect/>
          </a:stretch>
        </p:blipFill>
        <p:spPr>
          <a:xfrm>
            <a:off x="10808208" y="1892808"/>
            <a:ext cx="466344" cy="466344"/>
          </a:xfrm>
          <a:prstGeom prst="rect">
            <a:avLst/>
          </a:prstGeom>
        </p:spPr>
      </p:pic>
      <p:sp>
        <p:nvSpPr>
          <p:cNvPr id="34" name="Text 21"/>
          <p:cNvSpPr txBox="1"/>
          <p:nvPr/>
        </p:nvSpPr>
        <p:spPr>
          <a:xfrm>
            <a:off x="10149840" y="2697480"/>
            <a:ext cx="1783080" cy="566928"/>
          </a:xfrm>
          <a:prstGeom prst="rect">
            <a:avLst/>
          </a:prstGeom>
          <a:noFill/>
          <a:ln/>
        </p:spPr>
        <p:txBody>
          <a:bodyPr wrap="square" lIns="0" tIns="0" rIns="0" bIns="0" rtlCol="0" anchor="t"/>
          <a:lstStyle/>
          <a:p>
            <a:pPr algn="ctr" indent="0" marL="0">
              <a:buNone/>
            </a:pPr>
            <a:r>
              <a:rPr lang="en-US" sz="1400" b="1" dirty="0">
                <a:solidFill>
                  <a:srgbClr val="0B2545"/>
                </a:solidFill>
                <a:latin typeface="Calibri" pitchFamily="34" charset="0"/>
                <a:ea typeface="Calibri" pitchFamily="34" charset="-122"/>
                <a:cs typeface="Calibri" pitchFamily="34" charset="-120"/>
              </a:rPr>
              <a:t>App móvil</a:t>
            </a:r>
            <a:endParaRPr lang="en-US" sz="1400" dirty="0"/>
          </a:p>
        </p:txBody>
      </p:sp>
      <p:sp>
        <p:nvSpPr>
          <p:cNvPr id="35" name="Text 22"/>
          <p:cNvSpPr txBox="1"/>
          <p:nvPr/>
        </p:nvSpPr>
        <p:spPr>
          <a:xfrm>
            <a:off x="10149840" y="3246120"/>
            <a:ext cx="1783080" cy="731520"/>
          </a:xfrm>
          <a:prstGeom prst="rect">
            <a:avLst/>
          </a:prstGeom>
          <a:noFill/>
          <a:ln/>
        </p:spPr>
        <p:txBody>
          <a:bodyPr wrap="square" lIns="0" tIns="0" rIns="0" bIns="0" rtlCol="0" anchor="t"/>
          <a:lstStyle/>
          <a:p>
            <a:pPr algn="ctr" indent="0" marL="0">
              <a:buNone/>
            </a:pPr>
            <a:r>
              <a:rPr lang="en-US" sz="1200" dirty="0">
                <a:solidFill>
                  <a:srgbClr val="5B6472"/>
                </a:solidFill>
                <a:latin typeface="Calibri" pitchFamily="34" charset="0"/>
                <a:ea typeface="Calibri" pitchFamily="34" charset="-122"/>
                <a:cs typeface="Calibri" pitchFamily="34" charset="-120"/>
              </a:rPr>
              <a:t>Misma base: vende y consulta</a:t>
            </a:r>
            <a:endParaRPr lang="en-US" sz="1200" dirty="0"/>
          </a:p>
        </p:txBody>
      </p:sp>
      <p:sp>
        <p:nvSpPr>
          <p:cNvPr id="36" name="Shape 23"/>
          <p:cNvSpPr/>
          <p:nvPr/>
        </p:nvSpPr>
        <p:spPr>
          <a:xfrm>
            <a:off x="548640" y="4251960"/>
            <a:ext cx="11109960" cy="1920240"/>
          </a:xfrm>
          <a:prstGeom prst="roundRect">
            <a:avLst>
              <a:gd name="adj" fmla="val 5714"/>
            </a:avLst>
          </a:prstGeom>
          <a:solidFill>
            <a:srgbClr val="EEF3F9"/>
          </a:solidFill>
          <a:ln w="12700">
            <a:solidFill>
              <a:srgbClr val="EEF3F9"/>
            </a:solidFill>
            <a:prstDash val="solid"/>
          </a:ln>
        </p:spPr>
      </p:sp>
      <p:sp>
        <p:nvSpPr>
          <p:cNvPr id="37" name="Text 24"/>
          <p:cNvSpPr txBox="1"/>
          <p:nvPr/>
        </p:nvSpPr>
        <p:spPr>
          <a:xfrm>
            <a:off x="822960" y="4389120"/>
            <a:ext cx="7315200" cy="365760"/>
          </a:xfrm>
          <a:prstGeom prst="rect">
            <a:avLst/>
          </a:prstGeom>
          <a:noFill/>
          <a:ln/>
        </p:spPr>
        <p:txBody>
          <a:bodyPr wrap="square" lIns="0" tIns="0" rIns="0" bIns="0" rtlCol="0" anchor="ctr"/>
          <a:lstStyle/>
          <a:p>
            <a:pPr indent="0" marL="0">
              <a:buNone/>
            </a:pPr>
            <a:r>
              <a:rPr lang="en-US" sz="1700" b="1" dirty="0">
                <a:solidFill>
                  <a:srgbClr val="0B2545"/>
                </a:solidFill>
                <a:latin typeface="Cambria" pitchFamily="34" charset="0"/>
                <a:ea typeface="Cambria" pitchFamily="34" charset="-122"/>
                <a:cs typeface="Cambria" pitchFamily="34" charset="-120"/>
              </a:rPr>
              <a:t>Ejemplo con los datos del sistema</a:t>
            </a:r>
            <a:endParaRPr lang="en-US" sz="1700" dirty="0"/>
          </a:p>
        </p:txBody>
      </p:sp>
      <p:sp>
        <p:nvSpPr>
          <p:cNvPr id="38" name="Text 25"/>
          <p:cNvSpPr txBox="1"/>
          <p:nvPr/>
        </p:nvSpPr>
        <p:spPr>
          <a:xfrm>
            <a:off x="822960" y="4846320"/>
            <a:ext cx="1280160" cy="36576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COM-0001</a:t>
            </a:r>
            <a:endParaRPr lang="en-US" sz="1300" dirty="0"/>
          </a:p>
        </p:txBody>
      </p:sp>
      <p:sp>
        <p:nvSpPr>
          <p:cNvPr id="39" name="Text 26"/>
          <p:cNvSpPr txBox="1"/>
          <p:nvPr/>
        </p:nvSpPr>
        <p:spPr>
          <a:xfrm>
            <a:off x="2148840" y="4846320"/>
            <a:ext cx="9326880" cy="3657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Compra a Distribuidora Tinta y Papel: entran lápices, lapiceros y cuadernos al inventario.</a:t>
            </a:r>
            <a:endParaRPr lang="en-US" sz="1300" dirty="0"/>
          </a:p>
        </p:txBody>
      </p:sp>
      <p:sp>
        <p:nvSpPr>
          <p:cNvPr id="40" name="Text 27"/>
          <p:cNvSpPr txBox="1"/>
          <p:nvPr/>
        </p:nvSpPr>
        <p:spPr>
          <a:xfrm>
            <a:off x="822960" y="5257800"/>
            <a:ext cx="1280160" cy="36576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Facturas</a:t>
            </a:r>
            <a:endParaRPr lang="en-US" sz="1300" dirty="0"/>
          </a:p>
        </p:txBody>
      </p:sp>
      <p:sp>
        <p:nvSpPr>
          <p:cNvPr id="41" name="Text 28"/>
          <p:cNvSpPr txBox="1"/>
          <p:nvPr/>
        </p:nvSpPr>
        <p:spPr>
          <a:xfrm>
            <a:off x="2148840" y="5257800"/>
            <a:ext cx="9326880" cy="3657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Cada venta de “Lápiz Faber-Castell No. 2” baja su existencia; en septiembre se vendieron 96.</a:t>
            </a:r>
            <a:endParaRPr lang="en-US" sz="1300" dirty="0"/>
          </a:p>
        </p:txBody>
      </p:sp>
      <p:sp>
        <p:nvSpPr>
          <p:cNvPr id="42" name="Text 29"/>
          <p:cNvSpPr txBox="1"/>
          <p:nvPr/>
        </p:nvSpPr>
        <p:spPr>
          <a:xfrm>
            <a:off x="822960" y="5669280"/>
            <a:ext cx="1280160" cy="36576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Resumen</a:t>
            </a:r>
            <a:endParaRPr lang="en-US" sz="1300" dirty="0"/>
          </a:p>
        </p:txBody>
      </p:sp>
      <p:sp>
        <p:nvSpPr>
          <p:cNvPr id="43" name="Text 30"/>
          <p:cNvSpPr txBox="1"/>
          <p:nvPr/>
        </p:nvSpPr>
        <p:spPr>
          <a:xfrm>
            <a:off x="2148840" y="5669280"/>
            <a:ext cx="9326880" cy="36576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Con esas facturas se arman el gráfico de ventas y la lista de productos por agotarse.</a:t>
            </a:r>
            <a:endParaRPr lang="en-US" sz="1300" dirty="0"/>
          </a:p>
        </p:txBody>
      </p:sp>
      <p:sp>
        <p:nvSpPr>
          <p:cNvPr id="44" name="Text 3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45" name="Text 3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Del registro a la información</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Reportes › Resumen con gráficos: todo sale de las facturas y productos registrados</a:t>
            </a:r>
            <a:endParaRPr lang="en-US" sz="1500" dirty="0"/>
          </a:p>
        </p:txBody>
      </p:sp>
      <p:sp>
        <p:nvSpPr>
          <p:cNvPr id="4" name="Shape 2"/>
          <p:cNvSpPr/>
          <p:nvPr/>
        </p:nvSpPr>
        <p:spPr>
          <a:xfrm>
            <a:off x="10195560" y="347472"/>
            <a:ext cx="822960" cy="822960"/>
          </a:xfrm>
          <a:prstGeom prst="ellipse">
            <a:avLst/>
          </a:prstGeom>
          <a:solidFill>
            <a:srgbClr val="C62828"/>
          </a:solidFill>
          <a:ln w="12700">
            <a:solidFill>
              <a:srgbClr val="C62828"/>
            </a:solidFill>
            <a:prstDash val="solid"/>
          </a:ln>
        </p:spPr>
      </p:sp>
      <p:sp>
        <p:nvSpPr>
          <p:cNvPr id="5" name="Text 3"/>
          <p:cNvSpPr txBox="1"/>
          <p:nvPr/>
        </p:nvSpPr>
        <p:spPr>
          <a:xfrm>
            <a:off x="10195560" y="34747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5</a:t>
            </a:r>
            <a:endParaRPr lang="en-US" sz="3000" dirty="0"/>
          </a:p>
        </p:txBody>
      </p:sp>
      <p:sp>
        <p:nvSpPr>
          <p:cNvPr id="6" name="Text 4"/>
          <p:cNvSpPr txBox="1"/>
          <p:nvPr/>
        </p:nvSpPr>
        <p:spPr>
          <a:xfrm>
            <a:off x="11064240" y="384048"/>
            <a:ext cx="1005840" cy="7772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Criterio 5</a:t>
            </a:r>
            <a:endParaRPr lang="en-US" sz="1100" dirty="0"/>
          </a:p>
          <a:p>
            <a:pPr indent="0" marL="0">
              <a:buNone/>
            </a:pPr>
            <a:r>
              <a:rPr lang="en-US" sz="1600" b="1" dirty="0">
                <a:solidFill>
                  <a:srgbClr val="0B2545"/>
                </a:solidFill>
                <a:latin typeface="Calibri" pitchFamily="34" charset="0"/>
                <a:ea typeface="Calibri" pitchFamily="34" charset="-122"/>
                <a:cs typeface="Calibri" pitchFamily="34" charset="-120"/>
              </a:rPr>
              <a:t>1.00 pts</a:t>
            </a:r>
            <a:endParaRPr lang="en-US" sz="1100" dirty="0"/>
          </a:p>
        </p:txBody>
      </p:sp>
      <p:pic>
        <p:nvPicPr>
          <p:cNvPr id="7" name="Image 0" descr="C:\Users\Josue Zetino\AppData\Local\Temp\claude\C--Users-Josue-Zetino-Documents-4to-semestre-progra-2\7ccdd11b-dc21-4f34-84fe-794d7b2c2056\scratchpad\pres\img\02-resumen.png">    </p:cNvPr>
          <p:cNvPicPr>
            <a:picLocks noChangeAspect="1"/>
          </p:cNvPicPr>
          <p:nvPr/>
        </p:nvPicPr>
        <p:blipFill>
          <a:blip r:embed="rId1"/>
          <a:stretch>
            <a:fillRect/>
          </a:stretch>
        </p:blipFill>
        <p:spPr>
          <a:xfrm>
            <a:off x="548640" y="1790081"/>
            <a:ext cx="7863840" cy="4237958"/>
          </a:xfrm>
          <a:prstGeom prst="rect">
            <a:avLst/>
          </a:prstGeom>
          <a:effectLst>
            <a:outerShdw sx="100000" sy="100000" kx="0" ky="0" algn="bl" rotWithShape="0" blurRad="101600" dist="25400" dir="5400000">
              <a:srgbClr val="000000">
                <a:alpha val="18000"/>
              </a:srgbClr>
            </a:outerShdw>
          </a:effectLst>
        </p:spPr>
      </p:pic>
      <p:sp>
        <p:nvSpPr>
          <p:cNvPr id="8" name="Shape 5"/>
          <p:cNvSpPr/>
          <p:nvPr/>
        </p:nvSpPr>
        <p:spPr>
          <a:xfrm>
            <a:off x="548640" y="1790081"/>
            <a:ext cx="7863840" cy="4237958"/>
          </a:xfrm>
          <a:prstGeom prst="rect">
            <a:avLst/>
          </a:prstGeom>
          <a:ln w="12700">
            <a:solidFill>
              <a:srgbClr val="D5DEEA"/>
            </a:solidFill>
            <a:prstDash val="solid"/>
          </a:ln>
        </p:spPr>
      </p:sp>
      <p:sp>
        <p:nvSpPr>
          <p:cNvPr id="9" name="Text 6"/>
          <p:cNvSpPr txBox="1"/>
          <p:nvPr/>
        </p:nvSpPr>
        <p:spPr>
          <a:xfrm>
            <a:off x="8778240" y="1600200"/>
            <a:ext cx="2926080" cy="502920"/>
          </a:xfrm>
          <a:prstGeom prst="rect">
            <a:avLst/>
          </a:prstGeom>
          <a:noFill/>
          <a:ln/>
        </p:spPr>
        <p:txBody>
          <a:bodyPr wrap="square" lIns="0" tIns="0" rIns="0" bIns="0" rtlCol="0" anchor="ctr"/>
          <a:lstStyle/>
          <a:p>
            <a:pPr indent="0" marL="0">
              <a:buNone/>
            </a:pPr>
            <a:r>
              <a:rPr lang="en-US" sz="2400" b="1" dirty="0">
                <a:solidFill>
                  <a:srgbClr val="C62828"/>
                </a:solidFill>
                <a:latin typeface="Cambria" pitchFamily="34" charset="0"/>
                <a:ea typeface="Cambria" pitchFamily="34" charset="-122"/>
                <a:cs typeface="Cambria" pitchFamily="34" charset="-120"/>
              </a:rPr>
              <a:t>Q 8,363.25</a:t>
            </a:r>
            <a:endParaRPr lang="en-US" sz="2400" dirty="0"/>
          </a:p>
        </p:txBody>
      </p:sp>
      <p:sp>
        <p:nvSpPr>
          <p:cNvPr id="10" name="Text 7"/>
          <p:cNvSpPr txBox="1"/>
          <p:nvPr/>
        </p:nvSpPr>
        <p:spPr>
          <a:xfrm>
            <a:off x="8778240" y="2103120"/>
            <a:ext cx="2926080" cy="5486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vendidos en septiembre, sumados de las facturas</a:t>
            </a:r>
            <a:endParaRPr lang="en-US" sz="1250" dirty="0"/>
          </a:p>
        </p:txBody>
      </p:sp>
      <p:sp>
        <p:nvSpPr>
          <p:cNvPr id="11" name="Text 8"/>
          <p:cNvSpPr txBox="1"/>
          <p:nvPr/>
        </p:nvSpPr>
        <p:spPr>
          <a:xfrm>
            <a:off x="8778240" y="2770632"/>
            <a:ext cx="2926080" cy="502920"/>
          </a:xfrm>
          <a:prstGeom prst="rect">
            <a:avLst/>
          </a:prstGeom>
          <a:noFill/>
          <a:ln/>
        </p:spPr>
        <p:txBody>
          <a:bodyPr wrap="square" lIns="0" tIns="0" rIns="0" bIns="0" rtlCol="0" anchor="ctr"/>
          <a:lstStyle/>
          <a:p>
            <a:pPr indent="0" marL="0">
              <a:buNone/>
            </a:pPr>
            <a:r>
              <a:rPr lang="en-US" sz="2400" b="1" dirty="0">
                <a:solidFill>
                  <a:srgbClr val="1D6FA5"/>
                </a:solidFill>
                <a:latin typeface="Cambria" pitchFamily="34" charset="0"/>
                <a:ea typeface="Cambria" pitchFamily="34" charset="-122"/>
                <a:cs typeface="Cambria" pitchFamily="34" charset="-120"/>
              </a:rPr>
              <a:t>7 días</a:t>
            </a:r>
            <a:endParaRPr lang="en-US" sz="2400" dirty="0"/>
          </a:p>
        </p:txBody>
      </p:sp>
      <p:sp>
        <p:nvSpPr>
          <p:cNvPr id="12" name="Text 9"/>
          <p:cNvSpPr txBox="1"/>
          <p:nvPr/>
        </p:nvSpPr>
        <p:spPr>
          <a:xfrm>
            <a:off x="8778240" y="3273552"/>
            <a:ext cx="2926080" cy="5486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de ventas en gráfico de barras dibujado con Graphics2D</a:t>
            </a:r>
            <a:endParaRPr lang="en-US" sz="1250" dirty="0"/>
          </a:p>
        </p:txBody>
      </p:sp>
      <p:sp>
        <p:nvSpPr>
          <p:cNvPr id="13" name="Text 10"/>
          <p:cNvSpPr txBox="1"/>
          <p:nvPr/>
        </p:nvSpPr>
        <p:spPr>
          <a:xfrm>
            <a:off x="8778240" y="3941064"/>
            <a:ext cx="2926080" cy="502920"/>
          </a:xfrm>
          <a:prstGeom prst="rect">
            <a:avLst/>
          </a:prstGeom>
          <a:noFill/>
          <a:ln/>
        </p:spPr>
        <p:txBody>
          <a:bodyPr wrap="square" lIns="0" tIns="0" rIns="0" bIns="0" rtlCol="0" anchor="ctr"/>
          <a:lstStyle/>
          <a:p>
            <a:pPr indent="0" marL="0">
              <a:buNone/>
            </a:pPr>
            <a:r>
              <a:rPr lang="en-US" sz="2400" b="1" dirty="0">
                <a:solidFill>
                  <a:srgbClr val="C62828"/>
                </a:solidFill>
                <a:latin typeface="Cambria" pitchFamily="34" charset="0"/>
                <a:ea typeface="Cambria" pitchFamily="34" charset="-122"/>
                <a:cs typeface="Cambria" pitchFamily="34" charset="-120"/>
              </a:rPr>
              <a:t>Top 5</a:t>
            </a:r>
            <a:endParaRPr lang="en-US" sz="2400" dirty="0"/>
          </a:p>
        </p:txBody>
      </p:sp>
      <p:sp>
        <p:nvSpPr>
          <p:cNvPr id="14" name="Text 11"/>
          <p:cNvSpPr txBox="1"/>
          <p:nvPr/>
        </p:nvSpPr>
        <p:spPr>
          <a:xfrm>
            <a:off x="8778240" y="4443984"/>
            <a:ext cx="2926080" cy="5486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productos más vendidos del mes</a:t>
            </a:r>
            <a:endParaRPr lang="en-US" sz="1250" dirty="0"/>
          </a:p>
        </p:txBody>
      </p:sp>
      <p:sp>
        <p:nvSpPr>
          <p:cNvPr id="15" name="Text 12"/>
          <p:cNvSpPr txBox="1"/>
          <p:nvPr/>
        </p:nvSpPr>
        <p:spPr>
          <a:xfrm>
            <a:off x="8778240" y="5111496"/>
            <a:ext cx="2926080" cy="502920"/>
          </a:xfrm>
          <a:prstGeom prst="rect">
            <a:avLst/>
          </a:prstGeom>
          <a:noFill/>
          <a:ln/>
        </p:spPr>
        <p:txBody>
          <a:bodyPr wrap="square" lIns="0" tIns="0" rIns="0" bIns="0" rtlCol="0" anchor="ctr"/>
          <a:lstStyle/>
          <a:p>
            <a:pPr indent="0" marL="0">
              <a:buNone/>
            </a:pPr>
            <a:r>
              <a:rPr lang="en-US" sz="2400" b="1" dirty="0">
                <a:solidFill>
                  <a:srgbClr val="1D6FA5"/>
                </a:solidFill>
                <a:latin typeface="Cambria" pitchFamily="34" charset="0"/>
                <a:ea typeface="Cambria" pitchFamily="34" charset="-122"/>
                <a:cs typeface="Cambria" pitchFamily="34" charset="-120"/>
              </a:rPr>
              <a:t>7</a:t>
            </a:r>
            <a:endParaRPr lang="en-US" sz="2400" dirty="0"/>
          </a:p>
        </p:txBody>
      </p:sp>
      <p:sp>
        <p:nvSpPr>
          <p:cNvPr id="16" name="Text 13"/>
          <p:cNvSpPr txBox="1"/>
          <p:nvPr/>
        </p:nvSpPr>
        <p:spPr>
          <a:xfrm>
            <a:off x="8778240" y="5614416"/>
            <a:ext cx="2926080" cy="54864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productos con existencia de 5 o menos</a:t>
            </a:r>
            <a:endParaRPr lang="en-US" sz="1250" dirty="0"/>
          </a:p>
        </p:txBody>
      </p:sp>
      <p:sp>
        <p:nvSpPr>
          <p:cNvPr id="17" name="Text 14"/>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18"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App móvil Android</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Conectada a la misma base de datos que el escritorio</a:t>
            </a:r>
            <a:endParaRPr lang="en-US" sz="1500" dirty="0"/>
          </a:p>
        </p:txBody>
      </p:sp>
      <p:sp>
        <p:nvSpPr>
          <p:cNvPr id="4" name="Shape 2"/>
          <p:cNvSpPr/>
          <p:nvPr/>
        </p:nvSpPr>
        <p:spPr>
          <a:xfrm>
            <a:off x="548640" y="1600200"/>
            <a:ext cx="3383280" cy="1234440"/>
          </a:xfrm>
          <a:prstGeom prst="roundRect">
            <a:avLst>
              <a:gd name="adj" fmla="val 7407"/>
            </a:avLst>
          </a:prstGeom>
          <a:solidFill>
            <a:srgbClr val="EEF3F9"/>
          </a:solidFill>
          <a:ln w="12700">
            <a:solidFill>
              <a:srgbClr val="EEF3F9"/>
            </a:solidFill>
            <a:prstDash val="solid"/>
          </a:ln>
        </p:spPr>
      </p:sp>
      <p:sp>
        <p:nvSpPr>
          <p:cNvPr id="5" name="Shape 3"/>
          <p:cNvSpPr/>
          <p:nvPr/>
        </p:nvSpPr>
        <p:spPr>
          <a:xfrm>
            <a:off x="749808" y="1874520"/>
            <a:ext cx="658368" cy="658368"/>
          </a:xfrm>
          <a:prstGeom prst="ellipse">
            <a:avLst/>
          </a:prstGeom>
          <a:solidFill>
            <a:srgbClr val="C62828"/>
          </a:solidFill>
          <a:ln w="12700">
            <a:solidFill>
              <a:srgbClr val="C62828"/>
            </a:solidFill>
            <a:prstDash val="solid"/>
          </a:ln>
        </p:spPr>
      </p:sp>
      <p:pic>
        <p:nvPicPr>
          <p:cNvPr id="6" name="Image 0" descr="preencoded.png">    </p:cNvPr>
          <p:cNvPicPr>
            <a:picLocks noChangeAspect="1"/>
          </p:cNvPicPr>
          <p:nvPr/>
        </p:nvPicPr>
        <p:blipFill>
          <a:blip r:embed="rId1"/>
          <a:stretch>
            <a:fillRect/>
          </a:stretch>
        </p:blipFill>
        <p:spPr>
          <a:xfrm>
            <a:off x="896112" y="2020824"/>
            <a:ext cx="365760" cy="365760"/>
          </a:xfrm>
          <a:prstGeom prst="rect">
            <a:avLst/>
          </a:prstGeom>
        </p:spPr>
      </p:pic>
      <p:sp>
        <p:nvSpPr>
          <p:cNvPr id="7" name="Text 4"/>
          <p:cNvSpPr txBox="1"/>
          <p:nvPr/>
        </p:nvSpPr>
        <p:spPr>
          <a:xfrm>
            <a:off x="1572768" y="1801368"/>
            <a:ext cx="2286000" cy="384048"/>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Inicio de sesión</a:t>
            </a:r>
            <a:endParaRPr lang="en-US" sz="1500" dirty="0"/>
          </a:p>
        </p:txBody>
      </p:sp>
      <p:sp>
        <p:nvSpPr>
          <p:cNvPr id="8" name="Text 5"/>
          <p:cNvSpPr txBox="1"/>
          <p:nvPr/>
        </p:nvSpPr>
        <p:spPr>
          <a:xfrm>
            <a:off x="1572768" y="2185416"/>
            <a:ext cx="228600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Token temporal de 8 horas</a:t>
            </a:r>
            <a:endParaRPr lang="en-US" sz="1200" dirty="0"/>
          </a:p>
        </p:txBody>
      </p:sp>
      <p:sp>
        <p:nvSpPr>
          <p:cNvPr id="9" name="Shape 6"/>
          <p:cNvSpPr/>
          <p:nvPr/>
        </p:nvSpPr>
        <p:spPr>
          <a:xfrm>
            <a:off x="4160520" y="1600200"/>
            <a:ext cx="3383280" cy="1234440"/>
          </a:xfrm>
          <a:prstGeom prst="roundRect">
            <a:avLst>
              <a:gd name="adj" fmla="val 7407"/>
            </a:avLst>
          </a:prstGeom>
          <a:solidFill>
            <a:srgbClr val="EEF3F9"/>
          </a:solidFill>
          <a:ln w="12700">
            <a:solidFill>
              <a:srgbClr val="EEF3F9"/>
            </a:solidFill>
            <a:prstDash val="solid"/>
          </a:ln>
        </p:spPr>
      </p:sp>
      <p:sp>
        <p:nvSpPr>
          <p:cNvPr id="10" name="Shape 7"/>
          <p:cNvSpPr/>
          <p:nvPr/>
        </p:nvSpPr>
        <p:spPr>
          <a:xfrm>
            <a:off x="4361688" y="1874520"/>
            <a:ext cx="658368" cy="658368"/>
          </a:xfrm>
          <a:prstGeom prst="ellipse">
            <a:avLst/>
          </a:prstGeom>
          <a:solidFill>
            <a:srgbClr val="C62828"/>
          </a:solidFill>
          <a:ln w="12700">
            <a:solidFill>
              <a:srgbClr val="C62828"/>
            </a:solidFill>
            <a:prstDash val="solid"/>
          </a:ln>
        </p:spPr>
      </p:sp>
      <p:pic>
        <p:nvPicPr>
          <p:cNvPr id="11" name="Image 1" descr="preencoded.png">    </p:cNvPr>
          <p:cNvPicPr>
            <a:picLocks noChangeAspect="1"/>
          </p:cNvPicPr>
          <p:nvPr/>
        </p:nvPicPr>
        <p:blipFill>
          <a:blip r:embed="rId2"/>
          <a:stretch>
            <a:fillRect/>
          </a:stretch>
        </p:blipFill>
        <p:spPr>
          <a:xfrm>
            <a:off x="4507992" y="2020824"/>
            <a:ext cx="365760" cy="365760"/>
          </a:xfrm>
          <a:prstGeom prst="rect">
            <a:avLst/>
          </a:prstGeom>
        </p:spPr>
      </p:pic>
      <p:sp>
        <p:nvSpPr>
          <p:cNvPr id="12" name="Text 8"/>
          <p:cNvSpPr txBox="1"/>
          <p:nvPr/>
        </p:nvSpPr>
        <p:spPr>
          <a:xfrm>
            <a:off x="5184648" y="1801368"/>
            <a:ext cx="2286000" cy="384048"/>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Productos y clientes</a:t>
            </a:r>
            <a:endParaRPr lang="en-US" sz="1500" dirty="0"/>
          </a:p>
        </p:txBody>
      </p:sp>
      <p:sp>
        <p:nvSpPr>
          <p:cNvPr id="13" name="Text 9"/>
          <p:cNvSpPr txBox="1"/>
          <p:nvPr/>
        </p:nvSpPr>
        <p:spPr>
          <a:xfrm>
            <a:off x="5184648" y="2185416"/>
            <a:ext cx="228600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Búsqueda y registro de clientes</a:t>
            </a:r>
            <a:endParaRPr lang="en-US" sz="1200" dirty="0"/>
          </a:p>
        </p:txBody>
      </p:sp>
      <p:sp>
        <p:nvSpPr>
          <p:cNvPr id="14" name="Shape 10"/>
          <p:cNvSpPr/>
          <p:nvPr/>
        </p:nvSpPr>
        <p:spPr>
          <a:xfrm>
            <a:off x="548640" y="3063240"/>
            <a:ext cx="3383280" cy="1234440"/>
          </a:xfrm>
          <a:prstGeom prst="roundRect">
            <a:avLst>
              <a:gd name="adj" fmla="val 7407"/>
            </a:avLst>
          </a:prstGeom>
          <a:solidFill>
            <a:srgbClr val="EEF3F9"/>
          </a:solidFill>
          <a:ln w="12700">
            <a:solidFill>
              <a:srgbClr val="EEF3F9"/>
            </a:solidFill>
            <a:prstDash val="solid"/>
          </a:ln>
        </p:spPr>
      </p:sp>
      <p:sp>
        <p:nvSpPr>
          <p:cNvPr id="15" name="Shape 11"/>
          <p:cNvSpPr/>
          <p:nvPr/>
        </p:nvSpPr>
        <p:spPr>
          <a:xfrm>
            <a:off x="749808" y="3337560"/>
            <a:ext cx="658368" cy="658368"/>
          </a:xfrm>
          <a:prstGeom prst="ellipse">
            <a:avLst/>
          </a:prstGeom>
          <a:solidFill>
            <a:srgbClr val="C62828"/>
          </a:solidFill>
          <a:ln w="12700">
            <a:solidFill>
              <a:srgbClr val="C62828"/>
            </a:solidFill>
            <a:prstDash val="solid"/>
          </a:ln>
        </p:spPr>
      </p:sp>
      <p:pic>
        <p:nvPicPr>
          <p:cNvPr id="16" name="Image 2" descr="preencoded.png">    </p:cNvPr>
          <p:cNvPicPr>
            <a:picLocks noChangeAspect="1"/>
          </p:cNvPicPr>
          <p:nvPr/>
        </p:nvPicPr>
        <p:blipFill>
          <a:blip r:embed="rId3"/>
          <a:stretch>
            <a:fillRect/>
          </a:stretch>
        </p:blipFill>
        <p:spPr>
          <a:xfrm>
            <a:off x="896112" y="3483864"/>
            <a:ext cx="365760" cy="365760"/>
          </a:xfrm>
          <a:prstGeom prst="rect">
            <a:avLst/>
          </a:prstGeom>
        </p:spPr>
      </p:pic>
      <p:sp>
        <p:nvSpPr>
          <p:cNvPr id="17" name="Text 12"/>
          <p:cNvSpPr txBox="1"/>
          <p:nvPr/>
        </p:nvSpPr>
        <p:spPr>
          <a:xfrm>
            <a:off x="1572768" y="3264408"/>
            <a:ext cx="2286000" cy="384048"/>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Nueva venta</a:t>
            </a:r>
            <a:endParaRPr lang="en-US" sz="1500" dirty="0"/>
          </a:p>
        </p:txBody>
      </p:sp>
      <p:sp>
        <p:nvSpPr>
          <p:cNvPr id="18" name="Text 13"/>
          <p:cNvSpPr txBox="1"/>
          <p:nvPr/>
        </p:nvSpPr>
        <p:spPr>
          <a:xfrm>
            <a:off x="1572768" y="3648456"/>
            <a:ext cx="228600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Factura desde el celular; valida existencia</a:t>
            </a:r>
            <a:endParaRPr lang="en-US" sz="1200" dirty="0"/>
          </a:p>
        </p:txBody>
      </p:sp>
      <p:sp>
        <p:nvSpPr>
          <p:cNvPr id="19" name="Shape 14"/>
          <p:cNvSpPr/>
          <p:nvPr/>
        </p:nvSpPr>
        <p:spPr>
          <a:xfrm>
            <a:off x="4160520" y="3063240"/>
            <a:ext cx="3383280" cy="1234440"/>
          </a:xfrm>
          <a:prstGeom prst="roundRect">
            <a:avLst>
              <a:gd name="adj" fmla="val 7407"/>
            </a:avLst>
          </a:prstGeom>
          <a:solidFill>
            <a:srgbClr val="EEF3F9"/>
          </a:solidFill>
          <a:ln w="12700">
            <a:solidFill>
              <a:srgbClr val="EEF3F9"/>
            </a:solidFill>
            <a:prstDash val="solid"/>
          </a:ln>
        </p:spPr>
      </p:sp>
      <p:sp>
        <p:nvSpPr>
          <p:cNvPr id="20" name="Shape 15"/>
          <p:cNvSpPr/>
          <p:nvPr/>
        </p:nvSpPr>
        <p:spPr>
          <a:xfrm>
            <a:off x="4361688" y="3337560"/>
            <a:ext cx="658368" cy="658368"/>
          </a:xfrm>
          <a:prstGeom prst="ellipse">
            <a:avLst/>
          </a:prstGeom>
          <a:solidFill>
            <a:srgbClr val="C62828"/>
          </a:solidFill>
          <a:ln w="12700">
            <a:solidFill>
              <a:srgbClr val="C62828"/>
            </a:solidFill>
            <a:prstDash val="solid"/>
          </a:ln>
        </p:spPr>
      </p:sp>
      <p:pic>
        <p:nvPicPr>
          <p:cNvPr id="21" name="Image 3" descr="preencoded.png">    </p:cNvPr>
          <p:cNvPicPr>
            <a:picLocks noChangeAspect="1"/>
          </p:cNvPicPr>
          <p:nvPr/>
        </p:nvPicPr>
        <p:blipFill>
          <a:blip r:embed="rId4"/>
          <a:stretch>
            <a:fillRect/>
          </a:stretch>
        </p:blipFill>
        <p:spPr>
          <a:xfrm>
            <a:off x="4507992" y="3483864"/>
            <a:ext cx="365760" cy="365760"/>
          </a:xfrm>
          <a:prstGeom prst="rect">
            <a:avLst/>
          </a:prstGeom>
        </p:spPr>
      </p:pic>
      <p:sp>
        <p:nvSpPr>
          <p:cNvPr id="22" name="Text 16"/>
          <p:cNvSpPr txBox="1"/>
          <p:nvPr/>
        </p:nvSpPr>
        <p:spPr>
          <a:xfrm>
            <a:off x="5184648" y="3264408"/>
            <a:ext cx="2286000" cy="384048"/>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Historial de ventas</a:t>
            </a:r>
            <a:endParaRPr lang="en-US" sz="1500" dirty="0"/>
          </a:p>
        </p:txBody>
      </p:sp>
      <p:sp>
        <p:nvSpPr>
          <p:cNvPr id="23" name="Text 17"/>
          <p:cNvSpPr txBox="1"/>
          <p:nvPr/>
        </p:nvSpPr>
        <p:spPr>
          <a:xfrm>
            <a:off x="5184648" y="3648456"/>
            <a:ext cx="228600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Detalle de cada factura</a:t>
            </a:r>
            <a:endParaRPr lang="en-US" sz="1200" dirty="0"/>
          </a:p>
        </p:txBody>
      </p:sp>
      <p:sp>
        <p:nvSpPr>
          <p:cNvPr id="24" name="Shape 18"/>
          <p:cNvSpPr/>
          <p:nvPr/>
        </p:nvSpPr>
        <p:spPr>
          <a:xfrm>
            <a:off x="548640" y="4526280"/>
            <a:ext cx="3383280" cy="1234440"/>
          </a:xfrm>
          <a:prstGeom prst="roundRect">
            <a:avLst>
              <a:gd name="adj" fmla="val 7407"/>
            </a:avLst>
          </a:prstGeom>
          <a:solidFill>
            <a:srgbClr val="EEF3F9"/>
          </a:solidFill>
          <a:ln w="12700">
            <a:solidFill>
              <a:srgbClr val="EEF3F9"/>
            </a:solidFill>
            <a:prstDash val="solid"/>
          </a:ln>
        </p:spPr>
      </p:sp>
      <p:sp>
        <p:nvSpPr>
          <p:cNvPr id="25" name="Shape 19"/>
          <p:cNvSpPr/>
          <p:nvPr/>
        </p:nvSpPr>
        <p:spPr>
          <a:xfrm>
            <a:off x="749808" y="4800600"/>
            <a:ext cx="658368" cy="658368"/>
          </a:xfrm>
          <a:prstGeom prst="ellipse">
            <a:avLst/>
          </a:prstGeom>
          <a:solidFill>
            <a:srgbClr val="C62828"/>
          </a:solidFill>
          <a:ln w="12700">
            <a:solidFill>
              <a:srgbClr val="C62828"/>
            </a:solidFill>
            <a:prstDash val="solid"/>
          </a:ln>
        </p:spPr>
      </p:sp>
      <p:pic>
        <p:nvPicPr>
          <p:cNvPr id="26" name="Image 4" descr="preencoded.png">    </p:cNvPr>
          <p:cNvPicPr>
            <a:picLocks noChangeAspect="1"/>
          </p:cNvPicPr>
          <p:nvPr/>
        </p:nvPicPr>
        <p:blipFill>
          <a:blip r:embed="rId5"/>
          <a:stretch>
            <a:fillRect/>
          </a:stretch>
        </p:blipFill>
        <p:spPr>
          <a:xfrm>
            <a:off x="896112" y="4946904"/>
            <a:ext cx="365760" cy="365760"/>
          </a:xfrm>
          <a:prstGeom prst="rect">
            <a:avLst/>
          </a:prstGeom>
        </p:spPr>
      </p:pic>
      <p:sp>
        <p:nvSpPr>
          <p:cNvPr id="27" name="Text 20"/>
          <p:cNvSpPr txBox="1"/>
          <p:nvPr/>
        </p:nvSpPr>
        <p:spPr>
          <a:xfrm>
            <a:off x="1572768" y="4727448"/>
            <a:ext cx="2286000" cy="384048"/>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Resumen con gráficos</a:t>
            </a:r>
            <a:endParaRPr lang="en-US" sz="1500" dirty="0"/>
          </a:p>
        </p:txBody>
      </p:sp>
      <p:sp>
        <p:nvSpPr>
          <p:cNvPr id="28" name="Text 21"/>
          <p:cNvSpPr txBox="1"/>
          <p:nvPr/>
        </p:nvSpPr>
        <p:spPr>
          <a:xfrm>
            <a:off x="1572768" y="5111496"/>
            <a:ext cx="228600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Barras y dona dibujadas con Canvas</a:t>
            </a:r>
            <a:endParaRPr lang="en-US" sz="1200" dirty="0"/>
          </a:p>
        </p:txBody>
      </p:sp>
      <p:sp>
        <p:nvSpPr>
          <p:cNvPr id="29" name="Shape 22"/>
          <p:cNvSpPr/>
          <p:nvPr/>
        </p:nvSpPr>
        <p:spPr>
          <a:xfrm>
            <a:off x="4160520" y="4526280"/>
            <a:ext cx="3383280" cy="1234440"/>
          </a:xfrm>
          <a:prstGeom prst="roundRect">
            <a:avLst>
              <a:gd name="adj" fmla="val 7407"/>
            </a:avLst>
          </a:prstGeom>
          <a:solidFill>
            <a:srgbClr val="EEF3F9"/>
          </a:solidFill>
          <a:ln w="12700">
            <a:solidFill>
              <a:srgbClr val="EEF3F9"/>
            </a:solidFill>
            <a:prstDash val="solid"/>
          </a:ln>
        </p:spPr>
      </p:sp>
      <p:sp>
        <p:nvSpPr>
          <p:cNvPr id="30" name="Shape 23"/>
          <p:cNvSpPr/>
          <p:nvPr/>
        </p:nvSpPr>
        <p:spPr>
          <a:xfrm>
            <a:off x="4361688" y="4800600"/>
            <a:ext cx="658368" cy="658368"/>
          </a:xfrm>
          <a:prstGeom prst="ellipse">
            <a:avLst/>
          </a:prstGeom>
          <a:solidFill>
            <a:srgbClr val="C62828"/>
          </a:solidFill>
          <a:ln w="12700">
            <a:solidFill>
              <a:srgbClr val="C62828"/>
            </a:solidFill>
            <a:prstDash val="solid"/>
          </a:ln>
        </p:spPr>
      </p:sp>
      <p:pic>
        <p:nvPicPr>
          <p:cNvPr id="31" name="Image 5" descr="preencoded.png">    </p:cNvPr>
          <p:cNvPicPr>
            <a:picLocks noChangeAspect="1"/>
          </p:cNvPicPr>
          <p:nvPr/>
        </p:nvPicPr>
        <p:blipFill>
          <a:blip r:embed="rId6"/>
          <a:stretch>
            <a:fillRect/>
          </a:stretch>
        </p:blipFill>
        <p:spPr>
          <a:xfrm>
            <a:off x="4507992" y="4946904"/>
            <a:ext cx="365760" cy="365760"/>
          </a:xfrm>
          <a:prstGeom prst="rect">
            <a:avLst/>
          </a:prstGeom>
        </p:spPr>
      </p:pic>
      <p:sp>
        <p:nvSpPr>
          <p:cNvPr id="32" name="Text 24"/>
          <p:cNvSpPr txBox="1"/>
          <p:nvPr/>
        </p:nvSpPr>
        <p:spPr>
          <a:xfrm>
            <a:off x="5184648" y="4727448"/>
            <a:ext cx="2286000" cy="384048"/>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Sin conexión</a:t>
            </a:r>
            <a:endParaRPr lang="en-US" sz="1500" dirty="0"/>
          </a:p>
        </p:txBody>
      </p:sp>
      <p:sp>
        <p:nvSpPr>
          <p:cNvPr id="33" name="Text 25"/>
          <p:cNvSpPr txBox="1"/>
          <p:nvPr/>
        </p:nvSpPr>
        <p:spPr>
          <a:xfrm>
            <a:off x="5184648" y="5111496"/>
            <a:ext cx="2286000" cy="5029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Catálogo guardado en el teléfono</a:t>
            </a:r>
            <a:endParaRPr lang="en-US" sz="1200" dirty="0"/>
          </a:p>
        </p:txBody>
      </p:sp>
      <p:sp>
        <p:nvSpPr>
          <p:cNvPr id="34" name="Shape 26"/>
          <p:cNvSpPr/>
          <p:nvPr/>
        </p:nvSpPr>
        <p:spPr>
          <a:xfrm>
            <a:off x="8229600" y="1600200"/>
            <a:ext cx="3429000" cy="4160520"/>
          </a:xfrm>
          <a:prstGeom prst="roundRect">
            <a:avLst>
              <a:gd name="adj" fmla="val 3733"/>
            </a:avLst>
          </a:prstGeom>
          <a:solidFill>
            <a:srgbClr val="0B2545"/>
          </a:solidFill>
          <a:ln w="12700">
            <a:solidFill>
              <a:srgbClr val="0B2545"/>
            </a:solidFill>
            <a:prstDash val="solid"/>
          </a:ln>
        </p:spPr>
      </p:sp>
      <p:sp>
        <p:nvSpPr>
          <p:cNvPr id="35" name="Shape 27"/>
          <p:cNvSpPr/>
          <p:nvPr/>
        </p:nvSpPr>
        <p:spPr>
          <a:xfrm>
            <a:off x="8549640" y="1874520"/>
            <a:ext cx="822960" cy="822960"/>
          </a:xfrm>
          <a:prstGeom prst="ellipse">
            <a:avLst/>
          </a:prstGeom>
          <a:solidFill>
            <a:srgbClr val="1D6FA5"/>
          </a:solidFill>
          <a:ln w="12700">
            <a:solidFill>
              <a:srgbClr val="1D6FA5"/>
            </a:solidFill>
            <a:prstDash val="solid"/>
          </a:ln>
        </p:spPr>
      </p:sp>
      <p:pic>
        <p:nvPicPr>
          <p:cNvPr id="36" name="Image 6" descr="preencoded.png">    </p:cNvPr>
          <p:cNvPicPr>
            <a:picLocks noChangeAspect="1"/>
          </p:cNvPicPr>
          <p:nvPr/>
        </p:nvPicPr>
        <p:blipFill>
          <a:blip r:embed="rId7"/>
          <a:stretch>
            <a:fillRect/>
          </a:stretch>
        </p:blipFill>
        <p:spPr>
          <a:xfrm>
            <a:off x="8732520" y="2057400"/>
            <a:ext cx="457200" cy="457200"/>
          </a:xfrm>
          <a:prstGeom prst="rect">
            <a:avLst/>
          </a:prstGeom>
        </p:spPr>
      </p:pic>
      <p:sp>
        <p:nvSpPr>
          <p:cNvPr id="37" name="Text 28"/>
          <p:cNvSpPr txBox="1"/>
          <p:nvPr/>
        </p:nvSpPr>
        <p:spPr>
          <a:xfrm>
            <a:off x="9509760" y="1874520"/>
            <a:ext cx="2057400" cy="8229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App Android</a:t>
            </a:r>
            <a:endParaRPr lang="en-US" sz="1400" dirty="0"/>
          </a:p>
        </p:txBody>
      </p:sp>
      <p:sp>
        <p:nvSpPr>
          <p:cNvPr id="38" name="Shape 29"/>
          <p:cNvSpPr/>
          <p:nvPr/>
        </p:nvSpPr>
        <p:spPr>
          <a:xfrm>
            <a:off x="8549640" y="3154680"/>
            <a:ext cx="822960" cy="822960"/>
          </a:xfrm>
          <a:prstGeom prst="ellipse">
            <a:avLst/>
          </a:prstGeom>
          <a:solidFill>
            <a:srgbClr val="C9A227"/>
          </a:solidFill>
          <a:ln w="12700">
            <a:solidFill>
              <a:srgbClr val="C9A227"/>
            </a:solidFill>
            <a:prstDash val="solid"/>
          </a:ln>
        </p:spPr>
      </p:sp>
      <p:pic>
        <p:nvPicPr>
          <p:cNvPr id="39" name="Image 7" descr="preencoded.png">    </p:cNvPr>
          <p:cNvPicPr>
            <a:picLocks noChangeAspect="1"/>
          </p:cNvPicPr>
          <p:nvPr/>
        </p:nvPicPr>
        <p:blipFill>
          <a:blip r:embed="rId8"/>
          <a:stretch>
            <a:fillRect/>
          </a:stretch>
        </p:blipFill>
        <p:spPr>
          <a:xfrm>
            <a:off x="8732520" y="3337560"/>
            <a:ext cx="457200" cy="457200"/>
          </a:xfrm>
          <a:prstGeom prst="rect">
            <a:avLst/>
          </a:prstGeom>
        </p:spPr>
      </p:pic>
      <p:sp>
        <p:nvSpPr>
          <p:cNvPr id="40" name="Text 30"/>
          <p:cNvSpPr txBox="1"/>
          <p:nvPr/>
        </p:nvSpPr>
        <p:spPr>
          <a:xfrm>
            <a:off x="9509760" y="3154680"/>
            <a:ext cx="2057400" cy="8229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PostgreSQL · Supabase</a:t>
            </a:r>
            <a:endParaRPr lang="en-US" sz="1400" dirty="0"/>
          </a:p>
        </p:txBody>
      </p:sp>
      <p:sp>
        <p:nvSpPr>
          <p:cNvPr id="41" name="Shape 31"/>
          <p:cNvSpPr/>
          <p:nvPr/>
        </p:nvSpPr>
        <p:spPr>
          <a:xfrm>
            <a:off x="8549640" y="4434840"/>
            <a:ext cx="822960" cy="822960"/>
          </a:xfrm>
          <a:prstGeom prst="ellipse">
            <a:avLst/>
          </a:prstGeom>
          <a:solidFill>
            <a:srgbClr val="1D6FA5"/>
          </a:solidFill>
          <a:ln w="12700">
            <a:solidFill>
              <a:srgbClr val="1D6FA5"/>
            </a:solidFill>
            <a:prstDash val="solid"/>
          </a:ln>
        </p:spPr>
      </p:sp>
      <p:pic>
        <p:nvPicPr>
          <p:cNvPr id="42" name="Image 8" descr="preencoded.png">    </p:cNvPr>
          <p:cNvPicPr>
            <a:picLocks noChangeAspect="1"/>
          </p:cNvPicPr>
          <p:nvPr/>
        </p:nvPicPr>
        <p:blipFill>
          <a:blip r:embed="rId9"/>
          <a:stretch>
            <a:fillRect/>
          </a:stretch>
        </p:blipFill>
        <p:spPr>
          <a:xfrm>
            <a:off x="8732520" y="4617720"/>
            <a:ext cx="457200" cy="457200"/>
          </a:xfrm>
          <a:prstGeom prst="rect">
            <a:avLst/>
          </a:prstGeom>
        </p:spPr>
      </p:pic>
      <p:sp>
        <p:nvSpPr>
          <p:cNvPr id="43" name="Text 32"/>
          <p:cNvSpPr txBox="1"/>
          <p:nvPr/>
        </p:nvSpPr>
        <p:spPr>
          <a:xfrm>
            <a:off x="9509760" y="4434840"/>
            <a:ext cx="2057400" cy="8229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Escritorio Java</a:t>
            </a:r>
            <a:endParaRPr lang="en-US" sz="1400" dirty="0"/>
          </a:p>
        </p:txBody>
      </p:sp>
      <p:sp>
        <p:nvSpPr>
          <p:cNvPr id="44" name="Shape 33"/>
          <p:cNvSpPr/>
          <p:nvPr/>
        </p:nvSpPr>
        <p:spPr>
          <a:xfrm>
            <a:off x="8961120" y="2724912"/>
            <a:ext cx="0" cy="402336"/>
          </a:xfrm>
          <a:prstGeom prst="line">
            <a:avLst/>
          </a:prstGeom>
          <a:noFill/>
          <a:ln w="25400">
            <a:solidFill>
              <a:srgbClr val="9FB3CC"/>
            </a:solidFill>
            <a:prstDash val="solid"/>
            <a:headEnd type="triangle"/>
            <a:tailEnd type="triangle"/>
          </a:ln>
        </p:spPr>
      </p:sp>
      <p:sp>
        <p:nvSpPr>
          <p:cNvPr id="45" name="Shape 34"/>
          <p:cNvSpPr/>
          <p:nvPr/>
        </p:nvSpPr>
        <p:spPr>
          <a:xfrm>
            <a:off x="8961120" y="4005072"/>
            <a:ext cx="0" cy="402336"/>
          </a:xfrm>
          <a:prstGeom prst="line">
            <a:avLst/>
          </a:prstGeom>
          <a:noFill/>
          <a:ln w="25400">
            <a:solidFill>
              <a:srgbClr val="9FB3CC"/>
            </a:solidFill>
            <a:prstDash val="solid"/>
            <a:headEnd type="triangle"/>
            <a:tailEnd type="triangle"/>
          </a:ln>
        </p:spPr>
      </p:sp>
      <p:sp>
        <p:nvSpPr>
          <p:cNvPr id="46" name="Text 35"/>
          <p:cNvSpPr txBox="1"/>
          <p:nvPr/>
        </p:nvSpPr>
        <p:spPr>
          <a:xfrm>
            <a:off x="548640" y="5989320"/>
            <a:ext cx="10972800" cy="32004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Tema claro de 06:00 a 18:00 y oscuro de 18:00 a 06:00, en ambas aplicaciones.</a:t>
            </a:r>
            <a:endParaRPr lang="en-US" sz="1300" dirty="0"/>
          </a:p>
        </p:txBody>
      </p:sp>
      <p:sp>
        <p:nvSpPr>
          <p:cNvPr id="47" name="Text 3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48" name="Text 3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Seguridad y buenas prácticas</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Código seguro, como pide la guía del curso</a:t>
            </a:r>
            <a:endParaRPr lang="en-US" sz="1500" dirty="0"/>
          </a:p>
        </p:txBody>
      </p:sp>
      <p:sp>
        <p:nvSpPr>
          <p:cNvPr id="4" name="Shape 2"/>
          <p:cNvSpPr/>
          <p:nvPr/>
        </p:nvSpPr>
        <p:spPr>
          <a:xfrm>
            <a:off x="548640" y="1600200"/>
            <a:ext cx="3520440" cy="2011680"/>
          </a:xfrm>
          <a:prstGeom prst="roundRect">
            <a:avLst>
              <a:gd name="adj" fmla="val 4545"/>
            </a:avLst>
          </a:prstGeom>
          <a:solidFill>
            <a:srgbClr val="FFFFFF"/>
          </a:solidFill>
          <a:ln w="12700">
            <a:solidFill>
              <a:srgbClr val="D5DEEA"/>
            </a:solidFill>
            <a:prstDash val="solid"/>
          </a:ln>
          <a:effectLst>
            <a:outerShdw sx="100000" sy="100000" kx="0" ky="0" algn="bl" rotWithShape="0" blurRad="101600" dist="25400" dir="5400000">
              <a:srgbClr val="000000">
                <a:alpha val="18000"/>
              </a:srgbClr>
            </a:outerShdw>
          </a:effectLst>
        </p:spPr>
      </p:sp>
      <p:sp>
        <p:nvSpPr>
          <p:cNvPr id="5" name="Shape 3"/>
          <p:cNvSpPr/>
          <p:nvPr/>
        </p:nvSpPr>
        <p:spPr>
          <a:xfrm>
            <a:off x="822960" y="1874520"/>
            <a:ext cx="640080" cy="640080"/>
          </a:xfrm>
          <a:prstGeom prst="ellipse">
            <a:avLst/>
          </a:prstGeom>
          <a:solidFill>
            <a:srgbClr val="0B2545"/>
          </a:solidFill>
          <a:ln w="12700">
            <a:solidFill>
              <a:srgbClr val="0B2545"/>
            </a:solidFill>
            <a:prstDash val="solid"/>
          </a:ln>
        </p:spPr>
      </p:sp>
      <p:pic>
        <p:nvPicPr>
          <p:cNvPr id="6" name="Image 0" descr="preencoded.png">    </p:cNvPr>
          <p:cNvPicPr>
            <a:picLocks noChangeAspect="1"/>
          </p:cNvPicPr>
          <p:nvPr/>
        </p:nvPicPr>
        <p:blipFill>
          <a:blip r:embed="rId1"/>
          <a:stretch>
            <a:fillRect/>
          </a:stretch>
        </p:blipFill>
        <p:spPr>
          <a:xfrm>
            <a:off x="978408" y="2029968"/>
            <a:ext cx="329184" cy="329184"/>
          </a:xfrm>
          <a:prstGeom prst="rect">
            <a:avLst/>
          </a:prstGeom>
        </p:spPr>
      </p:pic>
      <p:sp>
        <p:nvSpPr>
          <p:cNvPr id="7" name="Text 4"/>
          <p:cNvSpPr txBox="1"/>
          <p:nvPr/>
        </p:nvSpPr>
        <p:spPr>
          <a:xfrm>
            <a:off x="822960" y="2606040"/>
            <a:ext cx="301752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Contraseñas con bcrypt</a:t>
            </a:r>
            <a:endParaRPr lang="en-US" sz="1600" dirty="0"/>
          </a:p>
        </p:txBody>
      </p:sp>
      <p:sp>
        <p:nvSpPr>
          <p:cNvPr id="8" name="Text 5"/>
          <p:cNvSpPr txBox="1"/>
          <p:nvPr/>
        </p:nvSpPr>
        <p:spPr>
          <a:xfrm>
            <a:off x="822960" y="2971800"/>
            <a:ext cx="3017520" cy="566928"/>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Nunca se guarda la contraseña, solo su hash con sal.</a:t>
            </a:r>
            <a:endParaRPr lang="en-US" sz="1250" dirty="0"/>
          </a:p>
        </p:txBody>
      </p:sp>
      <p:sp>
        <p:nvSpPr>
          <p:cNvPr id="9" name="Shape 6"/>
          <p:cNvSpPr/>
          <p:nvPr/>
        </p:nvSpPr>
        <p:spPr>
          <a:xfrm>
            <a:off x="4297680" y="1600200"/>
            <a:ext cx="3520440" cy="2011680"/>
          </a:xfrm>
          <a:prstGeom prst="roundRect">
            <a:avLst>
              <a:gd name="adj" fmla="val 4545"/>
            </a:avLst>
          </a:prstGeom>
          <a:solidFill>
            <a:srgbClr val="FFFFFF"/>
          </a:solidFill>
          <a:ln w="12700">
            <a:solidFill>
              <a:srgbClr val="D5DEEA"/>
            </a:solidFill>
            <a:prstDash val="solid"/>
          </a:ln>
          <a:effectLst>
            <a:outerShdw sx="100000" sy="100000" kx="0" ky="0" algn="bl" rotWithShape="0" blurRad="101600" dist="25400" dir="5400000">
              <a:srgbClr val="000000">
                <a:alpha val="18000"/>
              </a:srgbClr>
            </a:outerShdw>
          </a:effectLst>
        </p:spPr>
      </p:sp>
      <p:sp>
        <p:nvSpPr>
          <p:cNvPr id="10" name="Shape 7"/>
          <p:cNvSpPr/>
          <p:nvPr/>
        </p:nvSpPr>
        <p:spPr>
          <a:xfrm>
            <a:off x="4572000" y="1874520"/>
            <a:ext cx="640080" cy="640080"/>
          </a:xfrm>
          <a:prstGeom prst="ellipse">
            <a:avLst/>
          </a:prstGeom>
          <a:solidFill>
            <a:srgbClr val="1D6FA5"/>
          </a:solidFill>
          <a:ln w="12700">
            <a:solidFill>
              <a:srgbClr val="1D6FA5"/>
            </a:solidFill>
            <a:prstDash val="solid"/>
          </a:ln>
        </p:spPr>
      </p:sp>
      <p:pic>
        <p:nvPicPr>
          <p:cNvPr id="11" name="Image 1" descr="preencoded.png">    </p:cNvPr>
          <p:cNvPicPr>
            <a:picLocks noChangeAspect="1"/>
          </p:cNvPicPr>
          <p:nvPr/>
        </p:nvPicPr>
        <p:blipFill>
          <a:blip r:embed="rId2"/>
          <a:stretch>
            <a:fillRect/>
          </a:stretch>
        </p:blipFill>
        <p:spPr>
          <a:xfrm>
            <a:off x="4727448" y="2029968"/>
            <a:ext cx="329184" cy="329184"/>
          </a:xfrm>
          <a:prstGeom prst="rect">
            <a:avLst/>
          </a:prstGeom>
        </p:spPr>
      </p:pic>
      <p:sp>
        <p:nvSpPr>
          <p:cNvPr id="12" name="Text 8"/>
          <p:cNvSpPr txBox="1"/>
          <p:nvPr/>
        </p:nvSpPr>
        <p:spPr>
          <a:xfrm>
            <a:off x="4572000" y="2606040"/>
            <a:ext cx="301752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Roles e intentos</a:t>
            </a:r>
            <a:endParaRPr lang="en-US" sz="1600" dirty="0"/>
          </a:p>
        </p:txBody>
      </p:sp>
      <p:sp>
        <p:nvSpPr>
          <p:cNvPr id="13" name="Text 9"/>
          <p:cNvSpPr txBox="1"/>
          <p:nvPr/>
        </p:nvSpPr>
        <p:spPr>
          <a:xfrm>
            <a:off x="4572000" y="2971800"/>
            <a:ext cx="3017520" cy="566928"/>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Administrador y vendedor; tras 3 intentos fallidos el programa se cierra.</a:t>
            </a:r>
            <a:endParaRPr lang="en-US" sz="1250" dirty="0"/>
          </a:p>
        </p:txBody>
      </p:sp>
      <p:sp>
        <p:nvSpPr>
          <p:cNvPr id="14" name="Shape 10"/>
          <p:cNvSpPr/>
          <p:nvPr/>
        </p:nvSpPr>
        <p:spPr>
          <a:xfrm>
            <a:off x="8046720" y="1600200"/>
            <a:ext cx="3520440" cy="2011680"/>
          </a:xfrm>
          <a:prstGeom prst="roundRect">
            <a:avLst>
              <a:gd name="adj" fmla="val 4545"/>
            </a:avLst>
          </a:prstGeom>
          <a:solidFill>
            <a:srgbClr val="FFFFFF"/>
          </a:solidFill>
          <a:ln w="12700">
            <a:solidFill>
              <a:srgbClr val="D5DEEA"/>
            </a:solidFill>
            <a:prstDash val="solid"/>
          </a:ln>
          <a:effectLst>
            <a:outerShdw sx="100000" sy="100000" kx="0" ky="0" algn="bl" rotWithShape="0" blurRad="101600" dist="25400" dir="5400000">
              <a:srgbClr val="000000">
                <a:alpha val="18000"/>
              </a:srgbClr>
            </a:outerShdw>
          </a:effectLst>
        </p:spPr>
      </p:sp>
      <p:sp>
        <p:nvSpPr>
          <p:cNvPr id="15" name="Shape 11"/>
          <p:cNvSpPr/>
          <p:nvPr/>
        </p:nvSpPr>
        <p:spPr>
          <a:xfrm>
            <a:off x="8321040" y="1874520"/>
            <a:ext cx="640080" cy="640080"/>
          </a:xfrm>
          <a:prstGeom prst="ellipse">
            <a:avLst/>
          </a:prstGeom>
          <a:solidFill>
            <a:srgbClr val="0B2545"/>
          </a:solidFill>
          <a:ln w="12700">
            <a:solidFill>
              <a:srgbClr val="0B2545"/>
            </a:solidFill>
            <a:prstDash val="solid"/>
          </a:ln>
        </p:spPr>
      </p:sp>
      <p:pic>
        <p:nvPicPr>
          <p:cNvPr id="16" name="Image 2" descr="preencoded.png">    </p:cNvPr>
          <p:cNvPicPr>
            <a:picLocks noChangeAspect="1"/>
          </p:cNvPicPr>
          <p:nvPr/>
        </p:nvPicPr>
        <p:blipFill>
          <a:blip r:embed="rId3"/>
          <a:stretch>
            <a:fillRect/>
          </a:stretch>
        </p:blipFill>
        <p:spPr>
          <a:xfrm>
            <a:off x="8476488" y="2029968"/>
            <a:ext cx="329184" cy="329184"/>
          </a:xfrm>
          <a:prstGeom prst="rect">
            <a:avLst/>
          </a:prstGeom>
        </p:spPr>
      </p:pic>
      <p:sp>
        <p:nvSpPr>
          <p:cNvPr id="17" name="Text 12"/>
          <p:cNvSpPr txBox="1"/>
          <p:nvPr/>
        </p:nvSpPr>
        <p:spPr>
          <a:xfrm>
            <a:off x="8321040" y="2606040"/>
            <a:ext cx="301752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Sin inyección SQL</a:t>
            </a:r>
            <a:endParaRPr lang="en-US" sz="1600" dirty="0"/>
          </a:p>
        </p:txBody>
      </p:sp>
      <p:sp>
        <p:nvSpPr>
          <p:cNvPr id="18" name="Text 13"/>
          <p:cNvSpPr txBox="1"/>
          <p:nvPr/>
        </p:nvSpPr>
        <p:spPr>
          <a:xfrm>
            <a:off x="8321040" y="2971800"/>
            <a:ext cx="3017520" cy="566928"/>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Todas las consultas usan PreparedStatement con parámetros.</a:t>
            </a:r>
            <a:endParaRPr lang="en-US" sz="1250" dirty="0"/>
          </a:p>
        </p:txBody>
      </p:sp>
      <p:sp>
        <p:nvSpPr>
          <p:cNvPr id="19" name="Shape 14"/>
          <p:cNvSpPr/>
          <p:nvPr/>
        </p:nvSpPr>
        <p:spPr>
          <a:xfrm>
            <a:off x="548640" y="3886200"/>
            <a:ext cx="3520440" cy="2011680"/>
          </a:xfrm>
          <a:prstGeom prst="roundRect">
            <a:avLst>
              <a:gd name="adj" fmla="val 4545"/>
            </a:avLst>
          </a:prstGeom>
          <a:solidFill>
            <a:srgbClr val="FFFFFF"/>
          </a:solidFill>
          <a:ln w="12700">
            <a:solidFill>
              <a:srgbClr val="D5DEEA"/>
            </a:solidFill>
            <a:prstDash val="solid"/>
          </a:ln>
          <a:effectLst>
            <a:outerShdw sx="100000" sy="100000" kx="0" ky="0" algn="bl" rotWithShape="0" blurRad="101600" dist="25400" dir="5400000">
              <a:srgbClr val="000000">
                <a:alpha val="18000"/>
              </a:srgbClr>
            </a:outerShdw>
          </a:effectLst>
        </p:spPr>
      </p:sp>
      <p:sp>
        <p:nvSpPr>
          <p:cNvPr id="20" name="Shape 15"/>
          <p:cNvSpPr/>
          <p:nvPr/>
        </p:nvSpPr>
        <p:spPr>
          <a:xfrm>
            <a:off x="822960" y="4160520"/>
            <a:ext cx="640080" cy="640080"/>
          </a:xfrm>
          <a:prstGeom prst="ellipse">
            <a:avLst/>
          </a:prstGeom>
          <a:solidFill>
            <a:srgbClr val="1D6FA5"/>
          </a:solidFill>
          <a:ln w="12700">
            <a:solidFill>
              <a:srgbClr val="1D6FA5"/>
            </a:solidFill>
            <a:prstDash val="solid"/>
          </a:ln>
        </p:spPr>
      </p:sp>
      <p:pic>
        <p:nvPicPr>
          <p:cNvPr id="21" name="Image 3" descr="preencoded.png">    </p:cNvPr>
          <p:cNvPicPr>
            <a:picLocks noChangeAspect="1"/>
          </p:cNvPicPr>
          <p:nvPr/>
        </p:nvPicPr>
        <p:blipFill>
          <a:blip r:embed="rId4"/>
          <a:stretch>
            <a:fillRect/>
          </a:stretch>
        </p:blipFill>
        <p:spPr>
          <a:xfrm>
            <a:off x="978408" y="4315968"/>
            <a:ext cx="329184" cy="329184"/>
          </a:xfrm>
          <a:prstGeom prst="rect">
            <a:avLst/>
          </a:prstGeom>
        </p:spPr>
      </p:pic>
      <p:sp>
        <p:nvSpPr>
          <p:cNvPr id="22" name="Text 16"/>
          <p:cNvSpPr txBox="1"/>
          <p:nvPr/>
        </p:nvSpPr>
        <p:spPr>
          <a:xfrm>
            <a:off x="822960" y="4892040"/>
            <a:ext cx="301752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Transacciones</a:t>
            </a:r>
            <a:endParaRPr lang="en-US" sz="1600" dirty="0"/>
          </a:p>
        </p:txBody>
      </p:sp>
      <p:sp>
        <p:nvSpPr>
          <p:cNvPr id="23" name="Text 17"/>
          <p:cNvSpPr txBox="1"/>
          <p:nvPr/>
        </p:nvSpPr>
        <p:spPr>
          <a:xfrm>
            <a:off x="822960" y="5257800"/>
            <a:ext cx="3017520" cy="566928"/>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Factura, detalle y existencia se guardan juntos o no se guarda nada.</a:t>
            </a:r>
            <a:endParaRPr lang="en-US" sz="1250" dirty="0"/>
          </a:p>
        </p:txBody>
      </p:sp>
      <p:sp>
        <p:nvSpPr>
          <p:cNvPr id="24" name="Shape 18"/>
          <p:cNvSpPr/>
          <p:nvPr/>
        </p:nvSpPr>
        <p:spPr>
          <a:xfrm>
            <a:off x="4297680" y="3886200"/>
            <a:ext cx="3520440" cy="2011680"/>
          </a:xfrm>
          <a:prstGeom prst="roundRect">
            <a:avLst>
              <a:gd name="adj" fmla="val 4545"/>
            </a:avLst>
          </a:prstGeom>
          <a:solidFill>
            <a:srgbClr val="FFFFFF"/>
          </a:solidFill>
          <a:ln w="12700">
            <a:solidFill>
              <a:srgbClr val="D5DEEA"/>
            </a:solidFill>
            <a:prstDash val="solid"/>
          </a:ln>
          <a:effectLst>
            <a:outerShdw sx="100000" sy="100000" kx="0" ky="0" algn="bl" rotWithShape="0" blurRad="101600" dist="25400" dir="5400000">
              <a:srgbClr val="000000">
                <a:alpha val="18000"/>
              </a:srgbClr>
            </a:outerShdw>
          </a:effectLst>
        </p:spPr>
      </p:sp>
      <p:sp>
        <p:nvSpPr>
          <p:cNvPr id="25" name="Shape 19"/>
          <p:cNvSpPr/>
          <p:nvPr/>
        </p:nvSpPr>
        <p:spPr>
          <a:xfrm>
            <a:off x="4572000" y="4160520"/>
            <a:ext cx="640080" cy="640080"/>
          </a:xfrm>
          <a:prstGeom prst="ellipse">
            <a:avLst/>
          </a:prstGeom>
          <a:solidFill>
            <a:srgbClr val="0B2545"/>
          </a:solidFill>
          <a:ln w="12700">
            <a:solidFill>
              <a:srgbClr val="0B2545"/>
            </a:solidFill>
            <a:prstDash val="solid"/>
          </a:ln>
        </p:spPr>
      </p:sp>
      <p:pic>
        <p:nvPicPr>
          <p:cNvPr id="26" name="Image 4" descr="preencoded.png">    </p:cNvPr>
          <p:cNvPicPr>
            <a:picLocks noChangeAspect="1"/>
          </p:cNvPicPr>
          <p:nvPr/>
        </p:nvPicPr>
        <p:blipFill>
          <a:blip r:embed="rId5"/>
          <a:stretch>
            <a:fillRect/>
          </a:stretch>
        </p:blipFill>
        <p:spPr>
          <a:xfrm>
            <a:off x="4727448" y="4315968"/>
            <a:ext cx="329184" cy="329184"/>
          </a:xfrm>
          <a:prstGeom prst="rect">
            <a:avLst/>
          </a:prstGeom>
        </p:spPr>
      </p:pic>
      <p:sp>
        <p:nvSpPr>
          <p:cNvPr id="27" name="Text 20"/>
          <p:cNvSpPr txBox="1"/>
          <p:nvPr/>
        </p:nvSpPr>
        <p:spPr>
          <a:xfrm>
            <a:off x="4572000" y="4892040"/>
            <a:ext cx="301752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Base protegida</a:t>
            </a:r>
            <a:endParaRPr lang="en-US" sz="1600" dirty="0"/>
          </a:p>
        </p:txBody>
      </p:sp>
      <p:sp>
        <p:nvSpPr>
          <p:cNvPr id="28" name="Text 21"/>
          <p:cNvSpPr txBox="1"/>
          <p:nvPr/>
        </p:nvSpPr>
        <p:spPr>
          <a:xfrm>
            <a:off x="4572000" y="5257800"/>
            <a:ext cx="3017520" cy="566928"/>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RLS activo: la app móvil solo usa funciones que validan su token.</a:t>
            </a:r>
            <a:endParaRPr lang="en-US" sz="1250" dirty="0"/>
          </a:p>
        </p:txBody>
      </p:sp>
      <p:sp>
        <p:nvSpPr>
          <p:cNvPr id="29" name="Shape 22"/>
          <p:cNvSpPr/>
          <p:nvPr/>
        </p:nvSpPr>
        <p:spPr>
          <a:xfrm>
            <a:off x="8046720" y="3886200"/>
            <a:ext cx="3520440" cy="2011680"/>
          </a:xfrm>
          <a:prstGeom prst="roundRect">
            <a:avLst>
              <a:gd name="adj" fmla="val 4545"/>
            </a:avLst>
          </a:prstGeom>
          <a:solidFill>
            <a:srgbClr val="FFFFFF"/>
          </a:solidFill>
          <a:ln w="12700">
            <a:solidFill>
              <a:srgbClr val="D5DEEA"/>
            </a:solidFill>
            <a:prstDash val="solid"/>
          </a:ln>
          <a:effectLst>
            <a:outerShdw sx="100000" sy="100000" kx="0" ky="0" algn="bl" rotWithShape="0" blurRad="101600" dist="25400" dir="5400000">
              <a:srgbClr val="000000">
                <a:alpha val="18000"/>
              </a:srgbClr>
            </a:outerShdw>
          </a:effectLst>
        </p:spPr>
      </p:sp>
      <p:sp>
        <p:nvSpPr>
          <p:cNvPr id="30" name="Shape 23"/>
          <p:cNvSpPr/>
          <p:nvPr/>
        </p:nvSpPr>
        <p:spPr>
          <a:xfrm>
            <a:off x="8321040" y="4160520"/>
            <a:ext cx="640080" cy="640080"/>
          </a:xfrm>
          <a:prstGeom prst="ellipse">
            <a:avLst/>
          </a:prstGeom>
          <a:solidFill>
            <a:srgbClr val="1D6FA5"/>
          </a:solidFill>
          <a:ln w="12700">
            <a:solidFill>
              <a:srgbClr val="1D6FA5"/>
            </a:solidFill>
            <a:prstDash val="solid"/>
          </a:ln>
        </p:spPr>
      </p:sp>
      <p:pic>
        <p:nvPicPr>
          <p:cNvPr id="31" name="Image 5" descr="preencoded.png">    </p:cNvPr>
          <p:cNvPicPr>
            <a:picLocks noChangeAspect="1"/>
          </p:cNvPicPr>
          <p:nvPr/>
        </p:nvPicPr>
        <p:blipFill>
          <a:blip r:embed="rId6"/>
          <a:stretch>
            <a:fillRect/>
          </a:stretch>
        </p:blipFill>
        <p:spPr>
          <a:xfrm>
            <a:off x="8476488" y="4315968"/>
            <a:ext cx="329184" cy="329184"/>
          </a:xfrm>
          <a:prstGeom prst="rect">
            <a:avLst/>
          </a:prstGeom>
        </p:spPr>
      </p:pic>
      <p:sp>
        <p:nvSpPr>
          <p:cNvPr id="32" name="Text 24"/>
          <p:cNvSpPr txBox="1"/>
          <p:nvPr/>
        </p:nvSpPr>
        <p:spPr>
          <a:xfrm>
            <a:off x="8321040" y="4892040"/>
            <a:ext cx="301752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Respaldo</a:t>
            </a:r>
            <a:endParaRPr lang="en-US" sz="1600" dirty="0"/>
          </a:p>
        </p:txBody>
      </p:sp>
      <p:sp>
        <p:nvSpPr>
          <p:cNvPr id="33" name="Text 25"/>
          <p:cNvSpPr txBox="1"/>
          <p:nvPr/>
        </p:nvSpPr>
        <p:spPr>
          <a:xfrm>
            <a:off x="8321040" y="5257800"/>
            <a:ext cx="3017520" cy="566928"/>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Administración › Respaldar base de datos genera una copia.</a:t>
            </a:r>
            <a:endParaRPr lang="en-US" sz="1250" dirty="0"/>
          </a:p>
        </p:txBody>
      </p:sp>
      <p:sp>
        <p:nvSpPr>
          <p:cNvPr id="34" name="Text 2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35" name="Text 2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Coherencia entre diseño e implementación</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Cada entidad se sigue desde el diagrama hasta el formulario</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1463040"/>
                <a:gridCol w="2514600"/>
                <a:gridCol w="2377440"/>
                <a:gridCol w="1828800"/>
                <a:gridCol w="292608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Entidad</a:t>
                      </a:r>
                      <a:endParaRPr lang="en-US" sz="14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Tabla (ER)</a:t>
                      </a:r>
                      <a:endParaRPr lang="en-US" sz="14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Clase (modelo)</a:t>
                      </a:r>
                      <a:endParaRPr lang="en-US" sz="14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Acceso a datos</a:t>
                      </a:r>
                      <a:endParaRPr lang="en-US" sz="14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Formulario</a:t>
                      </a:r>
                      <a:endParaRPr lang="en-US" sz="14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0B2545"/>
                    </a:solidFill>
                  </a:tcPr>
                </a:tc>
              </a:tr>
              <a:tr h="475488">
                <a:tc>
                  <a:txBody>
                    <a:bodyPr/>
                    <a:lstStyle/>
                    <a:p>
                      <a:pPr indent="0" marL="0">
                        <a:buNone/>
                      </a:pPr>
                      <a:r>
                        <a:rPr lang="en-US" sz="1300" b="1" dirty="0">
                          <a:solidFill>
                            <a:srgbClr val="0B2545"/>
                          </a:solidFill>
                          <a:latin typeface="Calibri" pitchFamily="34" charset="0"/>
                          <a:ea typeface="Calibri" pitchFamily="34" charset="-122"/>
                          <a:cs typeface="Calibri" pitchFamily="34" charset="-120"/>
                        </a:rPr>
                        <a:t>Producto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productos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Producto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ProductoDAO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FrmProductos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r>
              <a:tr h="475488">
                <a:tc>
                  <a:txBody>
                    <a:bodyPr/>
                    <a:lstStyle/>
                    <a:p>
                      <a:pPr indent="0" marL="0">
                        <a:buNone/>
                      </a:pPr>
                      <a:r>
                        <a:rPr lang="en-US" sz="1300" b="1" dirty="0">
                          <a:solidFill>
                            <a:srgbClr val="0B2545"/>
                          </a:solidFill>
                          <a:latin typeface="Calibri" pitchFamily="34" charset="0"/>
                          <a:ea typeface="Calibri" pitchFamily="34" charset="-122"/>
                          <a:cs typeface="Calibri" pitchFamily="34" charset="-120"/>
                        </a:rPr>
                        <a:t>Cliente</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clientes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Cliente (Persona)</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ClienteDAO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FrmClientes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0B2545"/>
                          </a:solidFill>
                          <a:latin typeface="Calibri" pitchFamily="34" charset="0"/>
                          <a:ea typeface="Calibri" pitchFamily="34" charset="-122"/>
                          <a:cs typeface="Calibri" pitchFamily="34" charset="-120"/>
                        </a:rPr>
                        <a:t>Factura</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facturas + factura_detalles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Factura, FacturaDetalle</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FacturaDAO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FrmFactura, FrmListaFacturas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r>
              <a:tr h="475488">
                <a:tc>
                  <a:txBody>
                    <a:bodyPr/>
                    <a:lstStyle/>
                    <a:p>
                      <a:pPr indent="0" marL="0">
                        <a:buNone/>
                      </a:pPr>
                      <a:r>
                        <a:rPr lang="en-US" sz="1300" b="1" dirty="0">
                          <a:solidFill>
                            <a:srgbClr val="0B2545"/>
                          </a:solidFill>
                          <a:latin typeface="Calibri" pitchFamily="34" charset="0"/>
                          <a:ea typeface="Calibri" pitchFamily="34" charset="-122"/>
                          <a:cs typeface="Calibri" pitchFamily="34" charset="-120"/>
                        </a:rPr>
                        <a:t>Compra</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compras + compra_detalles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Compra, CompraDetalle</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CompraDAO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FrmCompra, FrmListaCompras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0B2545"/>
                          </a:solidFill>
                          <a:latin typeface="Calibri" pitchFamily="34" charset="0"/>
                          <a:ea typeface="Calibri" pitchFamily="34" charset="-122"/>
                          <a:cs typeface="Calibri" pitchFamily="34" charset="-120"/>
                        </a:rPr>
                        <a:t>Categoría</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categorias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Categoria</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CategoriaDAO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FrmCategorias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r>
              <a:tr h="475488">
                <a:tc>
                  <a:txBody>
                    <a:bodyPr/>
                    <a:lstStyle/>
                    <a:p>
                      <a:pPr indent="0" marL="0">
                        <a:buNone/>
                      </a:pPr>
                      <a:r>
                        <a:rPr lang="en-US" sz="1300" b="1" dirty="0">
                          <a:solidFill>
                            <a:srgbClr val="0B2545"/>
                          </a:solidFill>
                          <a:latin typeface="Calibri" pitchFamily="34" charset="0"/>
                          <a:ea typeface="Calibri" pitchFamily="34" charset="-122"/>
                          <a:cs typeface="Calibri" pitchFamily="34" charset="-120"/>
                        </a:rPr>
                        <a:t>Proveedor</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proveedores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Proveedor (Persona)</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ProveedorDAO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FrmProveedores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0B2545"/>
                          </a:solidFill>
                          <a:latin typeface="Calibri" pitchFamily="34" charset="0"/>
                          <a:ea typeface="Calibri" pitchFamily="34" charset="-122"/>
                          <a:cs typeface="Calibri" pitchFamily="34" charset="-120"/>
                        </a:rPr>
                        <a:t>Usuario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usuarios</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Usuario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UsuarioDAO</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FrmUsuarios, DlgLogin</a:t>
                      </a:r>
                      <a:endParaRPr lang="en-US" sz="1300" dirty="0">
                        <a:latin typeface="Calibri" charset="0"/>
                        <a:ea typeface="Calibri" charset="0"/>
                        <a:cs typeface="Calibri" charset="0"/>
                      </a:endParaRPr>
                    </a:p>
                  </a:txBody>
                  <a:tcPr marL="91440" marR="91440" marT="36576" marB="36576" anchor="ctr">
                    <a:lnL w="9525" cap="flat" cmpd="sng" algn="ctr">
                      <a:solidFill>
                        <a:srgbClr val="D5DEEA"/>
                      </a:solidFill>
                      <a:prstDash val="solid"/>
                      <a:round/>
                      <a:headEnd type="none" w="med" len="med"/>
                      <a:tailEnd type="none" w="med" len="med"/>
                    </a:lnL>
                    <a:lnR w="9525" cap="flat" cmpd="sng" algn="ctr">
                      <a:solidFill>
                        <a:srgbClr val="D5DEEA"/>
                      </a:solidFill>
                      <a:prstDash val="solid"/>
                      <a:round/>
                      <a:headEnd type="none" w="med" len="med"/>
                      <a:tailEnd type="none" w="med" len="med"/>
                    </a:lnR>
                    <a:lnT w="9525" cap="flat" cmpd="sng" algn="ctr">
                      <a:solidFill>
                        <a:srgbClr val="D5DEEA"/>
                      </a:solidFill>
                      <a:prstDash val="solid"/>
                      <a:round/>
                      <a:headEnd type="none" w="med" len="med"/>
                      <a:tailEnd type="none" w="med" len="med"/>
                    </a:lnT>
                    <a:lnB w="9525" cap="flat" cmpd="sng" algn="ctr">
                      <a:solidFill>
                        <a:srgbClr val="D5DEEA"/>
                      </a:solidFill>
                      <a:prstDash val="solid"/>
                      <a:round/>
                      <a:headEnd type="none" w="med" len="med"/>
                      <a:tailEnd type="none" w="med" len="med"/>
                    </a:lnB>
                    <a:solidFill>
                      <a:srgbClr val="EEF3F9"/>
                    </a:solidFill>
                  </a:tcPr>
                </a:tc>
              </a:tr>
            </a:tbl>
          </a:graphicData>
        </a:graphic>
      </p:graphicFrame>
      <p:sp>
        <p:nvSpPr>
          <p:cNvPr id="5" name="Text 2"/>
          <p:cNvSpPr txBox="1"/>
          <p:nvPr/>
        </p:nvSpPr>
        <p:spPr>
          <a:xfrm>
            <a:off x="548640" y="5577840"/>
            <a:ext cx="11109960" cy="45720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Empleado sigue el mismo esquema; los 10 elementos de la base aparecen en los dos diagramas y en el código.</a:t>
            </a:r>
            <a:endParaRPr lang="en-US" sz="1300" dirty="0"/>
          </a:p>
        </p:txBody>
      </p:sp>
      <p:sp>
        <p:nvSpPr>
          <p:cNvPr id="6"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7" name="Text 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Demostración en vivo</a:t>
            </a:r>
            <a:endParaRPr lang="en-US" sz="3600" dirty="0"/>
          </a:p>
        </p:txBody>
      </p:sp>
      <p:sp>
        <p:nvSpPr>
          <p:cNvPr id="3" name="Text 1"/>
          <p:cNvSpPr txBox="1"/>
          <p:nvPr/>
        </p:nvSpPr>
        <p:spPr>
          <a:xfrm>
            <a:off x="548640" y="1051560"/>
            <a:ext cx="8229600" cy="365760"/>
          </a:xfrm>
          <a:prstGeom prst="rect">
            <a:avLst/>
          </a:prstGeom>
          <a:noFill/>
          <a:ln/>
        </p:spPr>
        <p:txBody>
          <a:bodyPr wrap="square" lIns="0" tIns="0" rIns="0" bIns="0" rtlCol="0" anchor="ctr"/>
          <a:lstStyle/>
          <a:p>
            <a:pPr indent="0" marL="0">
              <a:buNone/>
            </a:pPr>
            <a:r>
              <a:rPr lang="en-US" sz="1500" dirty="0">
                <a:solidFill>
                  <a:srgbClr val="C7D3E3"/>
                </a:solidFill>
                <a:latin typeface="Calibri" pitchFamily="34" charset="0"/>
                <a:ea typeface="Calibri" pitchFamily="34" charset="-122"/>
                <a:cs typeface="Calibri" pitchFamily="34" charset="-120"/>
              </a:rPr>
              <a:t>Recorrido que cubre los puntos de la ficha de evaluación</a:t>
            </a:r>
            <a:endParaRPr lang="en-US" sz="1500" dirty="0"/>
          </a:p>
        </p:txBody>
      </p:sp>
      <p:sp>
        <p:nvSpPr>
          <p:cNvPr id="4" name="Shape 2"/>
          <p:cNvSpPr/>
          <p:nvPr/>
        </p:nvSpPr>
        <p:spPr>
          <a:xfrm>
            <a:off x="548640" y="1828800"/>
            <a:ext cx="731520" cy="731520"/>
          </a:xfrm>
          <a:prstGeom prst="ellipse">
            <a:avLst/>
          </a:prstGeom>
          <a:solidFill>
            <a:srgbClr val="1D6FA5"/>
          </a:solidFill>
          <a:ln w="12700">
            <a:solidFill>
              <a:srgbClr val="1D6FA5"/>
            </a:solidFill>
            <a:prstDash val="solid"/>
          </a:ln>
        </p:spPr>
      </p:sp>
      <p:sp>
        <p:nvSpPr>
          <p:cNvPr id="5" name="Text 3"/>
          <p:cNvSpPr txBox="1"/>
          <p:nvPr/>
        </p:nvSpPr>
        <p:spPr>
          <a:xfrm>
            <a:off x="548640" y="1828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6" name="Text 4"/>
          <p:cNvSpPr txBox="1"/>
          <p:nvPr/>
        </p:nvSpPr>
        <p:spPr>
          <a:xfrm>
            <a:off x="1508760" y="1847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Iniciar sesión</a:t>
            </a:r>
            <a:endParaRPr lang="en-US" sz="1900" dirty="0"/>
          </a:p>
        </p:txBody>
      </p:sp>
      <p:sp>
        <p:nvSpPr>
          <p:cNvPr id="7" name="Text 5"/>
          <p:cNvSpPr txBox="1"/>
          <p:nvPr/>
        </p:nvSpPr>
        <p:spPr>
          <a:xfrm>
            <a:off x="1508760" y="2240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Ejecuta · conexión a la base</a:t>
            </a:r>
            <a:endParaRPr lang="en-US" sz="1400" dirty="0"/>
          </a:p>
        </p:txBody>
      </p:sp>
      <p:sp>
        <p:nvSpPr>
          <p:cNvPr id="8" name="Shape 6"/>
          <p:cNvSpPr/>
          <p:nvPr/>
        </p:nvSpPr>
        <p:spPr>
          <a:xfrm>
            <a:off x="548640" y="2971800"/>
            <a:ext cx="731520" cy="731520"/>
          </a:xfrm>
          <a:prstGeom prst="ellipse">
            <a:avLst/>
          </a:prstGeom>
          <a:solidFill>
            <a:srgbClr val="1D6FA5"/>
          </a:solidFill>
          <a:ln w="12700">
            <a:solidFill>
              <a:srgbClr val="1D6FA5"/>
            </a:solidFill>
            <a:prstDash val="solid"/>
          </a:ln>
        </p:spPr>
      </p:sp>
      <p:sp>
        <p:nvSpPr>
          <p:cNvPr id="9" name="Text 7"/>
          <p:cNvSpPr txBox="1"/>
          <p:nvPr/>
        </p:nvSpPr>
        <p:spPr>
          <a:xfrm>
            <a:off x="548640" y="2971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ext 8"/>
          <p:cNvSpPr txBox="1"/>
          <p:nvPr/>
        </p:nvSpPr>
        <p:spPr>
          <a:xfrm>
            <a:off x="1508760" y="2990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Recorrer el menú MDI</a:t>
            </a:r>
            <a:endParaRPr lang="en-US" sz="1900" dirty="0"/>
          </a:p>
        </p:txBody>
      </p:sp>
      <p:sp>
        <p:nvSpPr>
          <p:cNvPr id="11" name="Text 9"/>
          <p:cNvSpPr txBox="1"/>
          <p:nvPr/>
        </p:nvSpPr>
        <p:spPr>
          <a:xfrm>
            <a:off x="1508760" y="3383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Navegación funcional</a:t>
            </a:r>
            <a:endParaRPr lang="en-US" sz="1400" dirty="0"/>
          </a:p>
        </p:txBody>
      </p:sp>
      <p:sp>
        <p:nvSpPr>
          <p:cNvPr id="12" name="Shape 10"/>
          <p:cNvSpPr/>
          <p:nvPr/>
        </p:nvSpPr>
        <p:spPr>
          <a:xfrm>
            <a:off x="548640" y="4114800"/>
            <a:ext cx="731520" cy="731520"/>
          </a:xfrm>
          <a:prstGeom prst="ellipse">
            <a:avLst/>
          </a:prstGeom>
          <a:solidFill>
            <a:srgbClr val="1D6FA5"/>
          </a:solidFill>
          <a:ln w="12700">
            <a:solidFill>
              <a:srgbClr val="1D6FA5"/>
            </a:solidFill>
            <a:prstDash val="solid"/>
          </a:ln>
        </p:spPr>
      </p:sp>
      <p:sp>
        <p:nvSpPr>
          <p:cNvPr id="13" name="Text 11"/>
          <p:cNvSpPr txBox="1"/>
          <p:nvPr/>
        </p:nvSpPr>
        <p:spPr>
          <a:xfrm>
            <a:off x="548640" y="4114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4" name="Text 12"/>
          <p:cNvSpPr txBox="1"/>
          <p:nvPr/>
        </p:nvSpPr>
        <p:spPr>
          <a:xfrm>
            <a:off x="1508760" y="4133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Registrar un producto</a:t>
            </a:r>
            <a:endParaRPr lang="en-US" sz="1900" dirty="0"/>
          </a:p>
        </p:txBody>
      </p:sp>
      <p:sp>
        <p:nvSpPr>
          <p:cNvPr id="15" name="Text 13"/>
          <p:cNvSpPr txBox="1"/>
          <p:nvPr/>
        </p:nvSpPr>
        <p:spPr>
          <a:xfrm>
            <a:off x="1508760" y="4526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Registra información</a:t>
            </a:r>
            <a:endParaRPr lang="en-US" sz="1400" dirty="0"/>
          </a:p>
        </p:txBody>
      </p:sp>
      <p:sp>
        <p:nvSpPr>
          <p:cNvPr id="16" name="Shape 14"/>
          <p:cNvSpPr/>
          <p:nvPr/>
        </p:nvSpPr>
        <p:spPr>
          <a:xfrm>
            <a:off x="548640" y="5257800"/>
            <a:ext cx="731520" cy="731520"/>
          </a:xfrm>
          <a:prstGeom prst="ellipse">
            <a:avLst/>
          </a:prstGeom>
          <a:solidFill>
            <a:srgbClr val="1D6FA5"/>
          </a:solidFill>
          <a:ln w="12700">
            <a:solidFill>
              <a:srgbClr val="1D6FA5"/>
            </a:solidFill>
            <a:prstDash val="solid"/>
          </a:ln>
        </p:spPr>
      </p:sp>
      <p:sp>
        <p:nvSpPr>
          <p:cNvPr id="17" name="Text 15"/>
          <p:cNvSpPr txBox="1"/>
          <p:nvPr/>
        </p:nvSpPr>
        <p:spPr>
          <a:xfrm>
            <a:off x="548640" y="5257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18" name="Text 16"/>
          <p:cNvSpPr txBox="1"/>
          <p:nvPr/>
        </p:nvSpPr>
        <p:spPr>
          <a:xfrm>
            <a:off x="1508760" y="5276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Registrar una compra</a:t>
            </a:r>
            <a:endParaRPr lang="en-US" sz="1900" dirty="0"/>
          </a:p>
        </p:txBody>
      </p:sp>
      <p:sp>
        <p:nvSpPr>
          <p:cNvPr id="19" name="Text 17"/>
          <p:cNvSpPr txBox="1"/>
          <p:nvPr/>
        </p:nvSpPr>
        <p:spPr>
          <a:xfrm>
            <a:off x="1508760" y="5669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La existencia sube</a:t>
            </a:r>
            <a:endParaRPr lang="en-US" sz="1400" dirty="0"/>
          </a:p>
        </p:txBody>
      </p:sp>
      <p:sp>
        <p:nvSpPr>
          <p:cNvPr id="20" name="Shape 18"/>
          <p:cNvSpPr/>
          <p:nvPr/>
        </p:nvSpPr>
        <p:spPr>
          <a:xfrm>
            <a:off x="6217920" y="1828800"/>
            <a:ext cx="731520" cy="731520"/>
          </a:xfrm>
          <a:prstGeom prst="ellipse">
            <a:avLst/>
          </a:prstGeom>
          <a:solidFill>
            <a:srgbClr val="C62828"/>
          </a:solidFill>
          <a:ln w="12700">
            <a:solidFill>
              <a:srgbClr val="C62828"/>
            </a:solidFill>
            <a:prstDash val="solid"/>
          </a:ln>
        </p:spPr>
      </p:sp>
      <p:sp>
        <p:nvSpPr>
          <p:cNvPr id="21" name="Text 19"/>
          <p:cNvSpPr txBox="1"/>
          <p:nvPr/>
        </p:nvSpPr>
        <p:spPr>
          <a:xfrm>
            <a:off x="6217920" y="1828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22" name="Text 20"/>
          <p:cNvSpPr txBox="1"/>
          <p:nvPr/>
        </p:nvSpPr>
        <p:spPr>
          <a:xfrm>
            <a:off x="7178040" y="1847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Facturar ese producto</a:t>
            </a:r>
            <a:endParaRPr lang="en-US" sz="1900" dirty="0"/>
          </a:p>
        </p:txBody>
      </p:sp>
      <p:sp>
        <p:nvSpPr>
          <p:cNvPr id="23" name="Text 21"/>
          <p:cNvSpPr txBox="1"/>
          <p:nvPr/>
        </p:nvSpPr>
        <p:spPr>
          <a:xfrm>
            <a:off x="7178040" y="2240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La existencia baja</a:t>
            </a:r>
            <a:endParaRPr lang="en-US" sz="1400" dirty="0"/>
          </a:p>
        </p:txBody>
      </p:sp>
      <p:sp>
        <p:nvSpPr>
          <p:cNvPr id="24" name="Shape 22"/>
          <p:cNvSpPr/>
          <p:nvPr/>
        </p:nvSpPr>
        <p:spPr>
          <a:xfrm>
            <a:off x="6217920" y="2971800"/>
            <a:ext cx="731520" cy="731520"/>
          </a:xfrm>
          <a:prstGeom prst="ellipse">
            <a:avLst/>
          </a:prstGeom>
          <a:solidFill>
            <a:srgbClr val="C62828"/>
          </a:solidFill>
          <a:ln w="12700">
            <a:solidFill>
              <a:srgbClr val="C62828"/>
            </a:solidFill>
            <a:prstDash val="solid"/>
          </a:ln>
        </p:spPr>
      </p:sp>
      <p:sp>
        <p:nvSpPr>
          <p:cNvPr id="25" name="Text 23"/>
          <p:cNvSpPr txBox="1"/>
          <p:nvPr/>
        </p:nvSpPr>
        <p:spPr>
          <a:xfrm>
            <a:off x="6217920" y="2971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6" name="Text 24"/>
          <p:cNvSpPr txBox="1"/>
          <p:nvPr/>
        </p:nvSpPr>
        <p:spPr>
          <a:xfrm>
            <a:off x="7178040" y="2990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Abrir reportes y resumen</a:t>
            </a:r>
            <a:endParaRPr lang="en-US" sz="1900" dirty="0"/>
          </a:p>
        </p:txBody>
      </p:sp>
      <p:sp>
        <p:nvSpPr>
          <p:cNvPr id="27" name="Text 25"/>
          <p:cNvSpPr txBox="1"/>
          <p:nvPr/>
        </p:nvSpPr>
        <p:spPr>
          <a:xfrm>
            <a:off x="7178040" y="3383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Consulta lo registrado</a:t>
            </a:r>
            <a:endParaRPr lang="en-US" sz="1400" dirty="0"/>
          </a:p>
        </p:txBody>
      </p:sp>
      <p:sp>
        <p:nvSpPr>
          <p:cNvPr id="28" name="Shape 26"/>
          <p:cNvSpPr/>
          <p:nvPr/>
        </p:nvSpPr>
        <p:spPr>
          <a:xfrm>
            <a:off x="6217920" y="4114800"/>
            <a:ext cx="731520" cy="731520"/>
          </a:xfrm>
          <a:prstGeom prst="ellipse">
            <a:avLst/>
          </a:prstGeom>
          <a:solidFill>
            <a:srgbClr val="C62828"/>
          </a:solidFill>
          <a:ln w="12700">
            <a:solidFill>
              <a:srgbClr val="C62828"/>
            </a:solidFill>
            <a:prstDash val="solid"/>
          </a:ln>
        </p:spPr>
      </p:sp>
      <p:sp>
        <p:nvSpPr>
          <p:cNvPr id="29" name="Text 27"/>
          <p:cNvSpPr txBox="1"/>
          <p:nvPr/>
        </p:nvSpPr>
        <p:spPr>
          <a:xfrm>
            <a:off x="6217920" y="4114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p:txBody>
      </p:sp>
      <p:sp>
        <p:nvSpPr>
          <p:cNvPr id="30" name="Text 28"/>
          <p:cNvSpPr txBox="1"/>
          <p:nvPr/>
        </p:nvSpPr>
        <p:spPr>
          <a:xfrm>
            <a:off x="7178040" y="4133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Vender desde el celular</a:t>
            </a:r>
            <a:endParaRPr lang="en-US" sz="1900" dirty="0"/>
          </a:p>
        </p:txBody>
      </p:sp>
      <p:sp>
        <p:nvSpPr>
          <p:cNvPr id="31" name="Text 29"/>
          <p:cNvSpPr txBox="1"/>
          <p:nvPr/>
        </p:nvSpPr>
        <p:spPr>
          <a:xfrm>
            <a:off x="7178040" y="4526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Aparece en el escritorio</a:t>
            </a:r>
            <a:endParaRPr lang="en-US" sz="1400" dirty="0"/>
          </a:p>
        </p:txBody>
      </p:sp>
      <p:sp>
        <p:nvSpPr>
          <p:cNvPr id="32" name="Shape 30"/>
          <p:cNvSpPr/>
          <p:nvPr/>
        </p:nvSpPr>
        <p:spPr>
          <a:xfrm>
            <a:off x="6217920" y="5257800"/>
            <a:ext cx="731520" cy="731520"/>
          </a:xfrm>
          <a:prstGeom prst="ellipse">
            <a:avLst/>
          </a:prstGeom>
          <a:solidFill>
            <a:srgbClr val="C62828"/>
          </a:solidFill>
          <a:ln w="12700">
            <a:solidFill>
              <a:srgbClr val="C62828"/>
            </a:solidFill>
            <a:prstDash val="solid"/>
          </a:ln>
        </p:spPr>
      </p:sp>
      <p:sp>
        <p:nvSpPr>
          <p:cNvPr id="33" name="Text 31"/>
          <p:cNvSpPr txBox="1"/>
          <p:nvPr/>
        </p:nvSpPr>
        <p:spPr>
          <a:xfrm>
            <a:off x="6217920" y="52578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p:txBody>
      </p:sp>
      <p:sp>
        <p:nvSpPr>
          <p:cNvPr id="34" name="Text 32"/>
          <p:cNvSpPr txBox="1"/>
          <p:nvPr/>
        </p:nvSpPr>
        <p:spPr>
          <a:xfrm>
            <a:off x="7178040" y="5276088"/>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Entrar como vendedor</a:t>
            </a:r>
            <a:endParaRPr lang="en-US" sz="1900" dirty="0"/>
          </a:p>
        </p:txBody>
      </p:sp>
      <p:sp>
        <p:nvSpPr>
          <p:cNvPr id="35" name="Text 33"/>
          <p:cNvSpPr txBox="1"/>
          <p:nvPr/>
        </p:nvSpPr>
        <p:spPr>
          <a:xfrm>
            <a:off x="7178040" y="5669280"/>
            <a:ext cx="4480560" cy="320040"/>
          </a:xfrm>
          <a:prstGeom prst="rect">
            <a:avLst/>
          </a:prstGeom>
          <a:noFill/>
          <a:ln/>
        </p:spPr>
        <p:txBody>
          <a:bodyPr wrap="square" lIns="0" tIns="0" rIns="0" bIns="0" rtlCol="0" anchor="ctr"/>
          <a:lstStyle/>
          <a:p>
            <a:pPr indent="0" marL="0">
              <a:buNone/>
            </a:pPr>
            <a:r>
              <a:rPr lang="en-US" sz="1400" dirty="0">
                <a:solidFill>
                  <a:srgbClr val="C9A227"/>
                </a:solidFill>
                <a:latin typeface="Calibri" pitchFamily="34" charset="0"/>
                <a:ea typeface="Calibri" pitchFamily="34" charset="-122"/>
                <a:cs typeface="Calibri" pitchFamily="34" charset="-120"/>
              </a:rPr>
              <a:t>El menú cambia por rol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595360" cy="68580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Organización del trabajo</a:t>
            </a:r>
            <a:endParaRPr lang="en-US" sz="3200" dirty="0"/>
          </a:p>
        </p:txBody>
      </p:sp>
      <p:sp>
        <p:nvSpPr>
          <p:cNvPr id="3" name="Text 1"/>
          <p:cNvSpPr txBox="1"/>
          <p:nvPr/>
        </p:nvSpPr>
        <p:spPr>
          <a:xfrm>
            <a:off x="548640" y="987552"/>
            <a:ext cx="8595360" cy="365760"/>
          </a:xfrm>
          <a:prstGeom prst="rect">
            <a:avLst/>
          </a:prstGeom>
          <a:noFill/>
          <a:ln/>
        </p:spPr>
        <p:txBody>
          <a:bodyPr wrap="square" lIns="0" tIns="0" rIns="0" bIns="0" rtlCol="0" anchor="ctr"/>
          <a:lstStyle/>
          <a:p>
            <a:pPr indent="0" marL="0">
              <a:buNone/>
            </a:pPr>
            <a:r>
              <a:rPr lang="en-US" sz="1500" dirty="0">
                <a:solidFill>
                  <a:srgbClr val="5B6472"/>
                </a:solidFill>
                <a:latin typeface="Calibri" pitchFamily="34" charset="0"/>
                <a:ea typeface="Calibri" pitchFamily="34" charset="-122"/>
                <a:cs typeface="Calibri" pitchFamily="34" charset="-120"/>
              </a:rPr>
              <a:t>Avance por etapas, con control de versiones en GitHub</a:t>
            </a:r>
            <a:endParaRPr lang="en-US" sz="1500" dirty="0"/>
          </a:p>
        </p:txBody>
      </p:sp>
      <p:sp>
        <p:nvSpPr>
          <p:cNvPr id="4" name="Shape 2"/>
          <p:cNvSpPr/>
          <p:nvPr/>
        </p:nvSpPr>
        <p:spPr>
          <a:xfrm>
            <a:off x="10195560" y="347472"/>
            <a:ext cx="822960" cy="822960"/>
          </a:xfrm>
          <a:prstGeom prst="ellipse">
            <a:avLst/>
          </a:prstGeom>
          <a:solidFill>
            <a:srgbClr val="C62828"/>
          </a:solidFill>
          <a:ln w="12700">
            <a:solidFill>
              <a:srgbClr val="C62828"/>
            </a:solidFill>
            <a:prstDash val="solid"/>
          </a:ln>
        </p:spPr>
      </p:sp>
      <p:sp>
        <p:nvSpPr>
          <p:cNvPr id="5" name="Text 3"/>
          <p:cNvSpPr txBox="1"/>
          <p:nvPr/>
        </p:nvSpPr>
        <p:spPr>
          <a:xfrm>
            <a:off x="10195560" y="347472"/>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6</a:t>
            </a:r>
            <a:endParaRPr lang="en-US" sz="3000" dirty="0"/>
          </a:p>
        </p:txBody>
      </p:sp>
      <p:sp>
        <p:nvSpPr>
          <p:cNvPr id="6" name="Text 4"/>
          <p:cNvSpPr txBox="1"/>
          <p:nvPr/>
        </p:nvSpPr>
        <p:spPr>
          <a:xfrm>
            <a:off x="11064240" y="384048"/>
            <a:ext cx="1005840" cy="7772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Criterio 6</a:t>
            </a:r>
            <a:endParaRPr lang="en-US" sz="1100" dirty="0"/>
          </a:p>
          <a:p>
            <a:pPr indent="0" marL="0">
              <a:buNone/>
            </a:pPr>
            <a:r>
              <a:rPr lang="en-US" sz="1600" b="1" dirty="0">
                <a:solidFill>
                  <a:srgbClr val="0B2545"/>
                </a:solidFill>
                <a:latin typeface="Calibri" pitchFamily="34" charset="0"/>
                <a:ea typeface="Calibri" pitchFamily="34" charset="-122"/>
                <a:cs typeface="Calibri" pitchFamily="34" charset="-120"/>
              </a:rPr>
              <a:t>0.50 pts</a:t>
            </a:r>
            <a:endParaRPr lang="en-US" sz="1100" dirty="0"/>
          </a:p>
        </p:txBody>
      </p:sp>
      <p:sp>
        <p:nvSpPr>
          <p:cNvPr id="7" name="Shape 5"/>
          <p:cNvSpPr/>
          <p:nvPr/>
        </p:nvSpPr>
        <p:spPr>
          <a:xfrm>
            <a:off x="822960" y="2331720"/>
            <a:ext cx="10607040" cy="0"/>
          </a:xfrm>
          <a:prstGeom prst="line">
            <a:avLst/>
          </a:prstGeom>
          <a:noFill/>
          <a:ln w="38100">
            <a:solidFill>
              <a:srgbClr val="D5DEEA"/>
            </a:solidFill>
            <a:prstDash val="solid"/>
          </a:ln>
        </p:spPr>
      </p:sp>
      <p:sp>
        <p:nvSpPr>
          <p:cNvPr id="8" name="Shape 6"/>
          <p:cNvSpPr/>
          <p:nvPr/>
        </p:nvSpPr>
        <p:spPr>
          <a:xfrm>
            <a:off x="658368" y="2103120"/>
            <a:ext cx="457200" cy="457200"/>
          </a:xfrm>
          <a:prstGeom prst="ellipse">
            <a:avLst/>
          </a:prstGeom>
          <a:solidFill>
            <a:srgbClr val="1D6FA5"/>
          </a:solidFill>
          <a:ln w="25400">
            <a:solidFill>
              <a:srgbClr val="FFFFFF"/>
            </a:solidFill>
            <a:prstDash val="solid"/>
          </a:ln>
        </p:spPr>
      </p:sp>
      <p:sp>
        <p:nvSpPr>
          <p:cNvPr id="9" name="Text 7"/>
          <p:cNvSpPr txBox="1"/>
          <p:nvPr/>
        </p:nvSpPr>
        <p:spPr>
          <a:xfrm>
            <a:off x="457200"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Factura</a:t>
            </a:r>
            <a:endParaRPr lang="en-US" sz="1350" dirty="0"/>
          </a:p>
        </p:txBody>
      </p:sp>
      <p:sp>
        <p:nvSpPr>
          <p:cNvPr id="10" name="Text 8"/>
          <p:cNvSpPr txBox="1"/>
          <p:nvPr/>
        </p:nvSpPr>
        <p:spPr>
          <a:xfrm>
            <a:off x="457200"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Formulario de facturación y lista</a:t>
            </a:r>
            <a:endParaRPr lang="en-US" sz="1100" dirty="0"/>
          </a:p>
        </p:txBody>
      </p:sp>
      <p:sp>
        <p:nvSpPr>
          <p:cNvPr id="11" name="Shape 9"/>
          <p:cNvSpPr/>
          <p:nvPr/>
        </p:nvSpPr>
        <p:spPr>
          <a:xfrm>
            <a:off x="2057400" y="2103120"/>
            <a:ext cx="457200" cy="457200"/>
          </a:xfrm>
          <a:prstGeom prst="ellipse">
            <a:avLst/>
          </a:prstGeom>
          <a:solidFill>
            <a:srgbClr val="1D6FA5"/>
          </a:solidFill>
          <a:ln w="25400">
            <a:solidFill>
              <a:srgbClr val="FFFFFF"/>
            </a:solidFill>
            <a:prstDash val="solid"/>
          </a:ln>
        </p:spPr>
      </p:sp>
      <p:sp>
        <p:nvSpPr>
          <p:cNvPr id="12" name="Text 10"/>
          <p:cNvSpPr txBox="1"/>
          <p:nvPr/>
        </p:nvSpPr>
        <p:spPr>
          <a:xfrm>
            <a:off x="1856232"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MDI</a:t>
            </a:r>
            <a:endParaRPr lang="en-US" sz="1350" dirty="0"/>
          </a:p>
        </p:txBody>
      </p:sp>
      <p:sp>
        <p:nvSpPr>
          <p:cNvPr id="13" name="Text 11"/>
          <p:cNvSpPr txBox="1"/>
          <p:nvPr/>
        </p:nvSpPr>
        <p:spPr>
          <a:xfrm>
            <a:off x="1856232"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Formulario contenedor y menú</a:t>
            </a:r>
            <a:endParaRPr lang="en-US" sz="1100" dirty="0"/>
          </a:p>
        </p:txBody>
      </p:sp>
      <p:sp>
        <p:nvSpPr>
          <p:cNvPr id="14" name="Shape 12"/>
          <p:cNvSpPr/>
          <p:nvPr/>
        </p:nvSpPr>
        <p:spPr>
          <a:xfrm>
            <a:off x="3456432" y="2103120"/>
            <a:ext cx="457200" cy="457200"/>
          </a:xfrm>
          <a:prstGeom prst="ellipse">
            <a:avLst/>
          </a:prstGeom>
          <a:solidFill>
            <a:srgbClr val="1D6FA5"/>
          </a:solidFill>
          <a:ln w="25400">
            <a:solidFill>
              <a:srgbClr val="FFFFFF"/>
            </a:solidFill>
            <a:prstDash val="solid"/>
          </a:ln>
        </p:spPr>
      </p:sp>
      <p:sp>
        <p:nvSpPr>
          <p:cNvPr id="15" name="Text 13"/>
          <p:cNvSpPr txBox="1"/>
          <p:nvPr/>
        </p:nvSpPr>
        <p:spPr>
          <a:xfrm>
            <a:off x="3255264"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Base de datos</a:t>
            </a:r>
            <a:endParaRPr lang="en-US" sz="1350" dirty="0"/>
          </a:p>
        </p:txBody>
      </p:sp>
      <p:sp>
        <p:nvSpPr>
          <p:cNvPr id="16" name="Text 14"/>
          <p:cNvSpPr txBox="1"/>
          <p:nvPr/>
        </p:nvSpPr>
        <p:spPr>
          <a:xfrm>
            <a:off x="3255264"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JDBC y DAO</a:t>
            </a:r>
            <a:endParaRPr lang="en-US" sz="1100" dirty="0"/>
          </a:p>
        </p:txBody>
      </p:sp>
      <p:sp>
        <p:nvSpPr>
          <p:cNvPr id="17" name="Shape 15"/>
          <p:cNvSpPr/>
          <p:nvPr/>
        </p:nvSpPr>
        <p:spPr>
          <a:xfrm>
            <a:off x="4855464" y="2103120"/>
            <a:ext cx="457200" cy="457200"/>
          </a:xfrm>
          <a:prstGeom prst="ellipse">
            <a:avLst/>
          </a:prstGeom>
          <a:solidFill>
            <a:srgbClr val="1D6FA5"/>
          </a:solidFill>
          <a:ln w="25400">
            <a:solidFill>
              <a:srgbClr val="FFFFFF"/>
            </a:solidFill>
            <a:prstDash val="solid"/>
          </a:ln>
        </p:spPr>
      </p:sp>
      <p:sp>
        <p:nvSpPr>
          <p:cNvPr id="18" name="Text 16"/>
          <p:cNvSpPr txBox="1"/>
          <p:nvPr/>
        </p:nvSpPr>
        <p:spPr>
          <a:xfrm>
            <a:off x="4654296"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GitHub</a:t>
            </a:r>
            <a:endParaRPr lang="en-US" sz="1350" dirty="0"/>
          </a:p>
        </p:txBody>
      </p:sp>
      <p:sp>
        <p:nvSpPr>
          <p:cNvPr id="19" name="Text 17"/>
          <p:cNvSpPr txBox="1"/>
          <p:nvPr/>
        </p:nvSpPr>
        <p:spPr>
          <a:xfrm>
            <a:off x="4654296"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Control de versiones</a:t>
            </a:r>
            <a:endParaRPr lang="en-US" sz="1100" dirty="0"/>
          </a:p>
        </p:txBody>
      </p:sp>
      <p:sp>
        <p:nvSpPr>
          <p:cNvPr id="20" name="Shape 18"/>
          <p:cNvSpPr/>
          <p:nvPr/>
        </p:nvSpPr>
        <p:spPr>
          <a:xfrm>
            <a:off x="6254496" y="2103120"/>
            <a:ext cx="457200" cy="457200"/>
          </a:xfrm>
          <a:prstGeom prst="ellipse">
            <a:avLst/>
          </a:prstGeom>
          <a:solidFill>
            <a:srgbClr val="1D6FA5"/>
          </a:solidFill>
          <a:ln w="25400">
            <a:solidFill>
              <a:srgbClr val="FFFFFF"/>
            </a:solidFill>
            <a:prstDash val="solid"/>
          </a:ln>
        </p:spPr>
      </p:sp>
      <p:sp>
        <p:nvSpPr>
          <p:cNvPr id="21" name="Text 19"/>
          <p:cNvSpPr txBox="1"/>
          <p:nvPr/>
        </p:nvSpPr>
        <p:spPr>
          <a:xfrm>
            <a:off x="6053328"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Diagramas</a:t>
            </a:r>
            <a:endParaRPr lang="en-US" sz="1350" dirty="0"/>
          </a:p>
        </p:txBody>
      </p:sp>
      <p:sp>
        <p:nvSpPr>
          <p:cNvPr id="22" name="Text 20"/>
          <p:cNvSpPr txBox="1"/>
          <p:nvPr/>
        </p:nvSpPr>
        <p:spPr>
          <a:xfrm>
            <a:off x="6053328"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Clases y entidad-relación</a:t>
            </a:r>
            <a:endParaRPr lang="en-US" sz="1100" dirty="0"/>
          </a:p>
        </p:txBody>
      </p:sp>
      <p:sp>
        <p:nvSpPr>
          <p:cNvPr id="23" name="Shape 21"/>
          <p:cNvSpPr/>
          <p:nvPr/>
        </p:nvSpPr>
        <p:spPr>
          <a:xfrm>
            <a:off x="7653528" y="2103120"/>
            <a:ext cx="457200" cy="457200"/>
          </a:xfrm>
          <a:prstGeom prst="ellipse">
            <a:avLst/>
          </a:prstGeom>
          <a:solidFill>
            <a:srgbClr val="1D6FA5"/>
          </a:solidFill>
          <a:ln w="25400">
            <a:solidFill>
              <a:srgbClr val="FFFFFF"/>
            </a:solidFill>
            <a:prstDash val="solid"/>
          </a:ln>
        </p:spPr>
      </p:sp>
      <p:sp>
        <p:nvSpPr>
          <p:cNvPr id="24" name="Text 22"/>
          <p:cNvSpPr txBox="1"/>
          <p:nvPr/>
        </p:nvSpPr>
        <p:spPr>
          <a:xfrm>
            <a:off x="7452360"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10 entidades</a:t>
            </a:r>
            <a:endParaRPr lang="en-US" sz="1350" dirty="0"/>
          </a:p>
        </p:txBody>
      </p:sp>
      <p:sp>
        <p:nvSpPr>
          <p:cNvPr id="25" name="Text 23"/>
          <p:cNvSpPr txBox="1"/>
          <p:nvPr/>
        </p:nvSpPr>
        <p:spPr>
          <a:xfrm>
            <a:off x="7452360"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Login, compras, reportes</a:t>
            </a:r>
            <a:endParaRPr lang="en-US" sz="1100" dirty="0"/>
          </a:p>
        </p:txBody>
      </p:sp>
      <p:sp>
        <p:nvSpPr>
          <p:cNvPr id="26" name="Shape 24"/>
          <p:cNvSpPr/>
          <p:nvPr/>
        </p:nvSpPr>
        <p:spPr>
          <a:xfrm>
            <a:off x="9052560" y="2103120"/>
            <a:ext cx="457200" cy="457200"/>
          </a:xfrm>
          <a:prstGeom prst="ellipse">
            <a:avLst/>
          </a:prstGeom>
          <a:solidFill>
            <a:srgbClr val="C62828"/>
          </a:solidFill>
          <a:ln w="25400">
            <a:solidFill>
              <a:srgbClr val="FFFFFF"/>
            </a:solidFill>
            <a:prstDash val="solid"/>
          </a:ln>
        </p:spPr>
      </p:sp>
      <p:sp>
        <p:nvSpPr>
          <p:cNvPr id="27" name="Text 25"/>
          <p:cNvSpPr txBox="1"/>
          <p:nvPr/>
        </p:nvSpPr>
        <p:spPr>
          <a:xfrm>
            <a:off x="8851392"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Nube + móvil</a:t>
            </a:r>
            <a:endParaRPr lang="en-US" sz="1350" dirty="0"/>
          </a:p>
        </p:txBody>
      </p:sp>
      <p:sp>
        <p:nvSpPr>
          <p:cNvPr id="28" name="Text 26"/>
          <p:cNvSpPr txBox="1"/>
          <p:nvPr/>
        </p:nvSpPr>
        <p:spPr>
          <a:xfrm>
            <a:off x="8851392"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Supabase y app Android</a:t>
            </a:r>
            <a:endParaRPr lang="en-US" sz="1100" dirty="0"/>
          </a:p>
        </p:txBody>
      </p:sp>
      <p:sp>
        <p:nvSpPr>
          <p:cNvPr id="29" name="Shape 27"/>
          <p:cNvSpPr/>
          <p:nvPr/>
        </p:nvSpPr>
        <p:spPr>
          <a:xfrm>
            <a:off x="10451592" y="2103120"/>
            <a:ext cx="457200" cy="457200"/>
          </a:xfrm>
          <a:prstGeom prst="ellipse">
            <a:avLst/>
          </a:prstGeom>
          <a:solidFill>
            <a:srgbClr val="C62828"/>
          </a:solidFill>
          <a:ln w="25400">
            <a:solidFill>
              <a:srgbClr val="FFFFFF"/>
            </a:solidFill>
            <a:prstDash val="solid"/>
          </a:ln>
        </p:spPr>
      </p:sp>
      <p:sp>
        <p:nvSpPr>
          <p:cNvPr id="30" name="Text 28"/>
          <p:cNvSpPr txBox="1"/>
          <p:nvPr/>
        </p:nvSpPr>
        <p:spPr>
          <a:xfrm>
            <a:off x="10250424" y="2697480"/>
            <a:ext cx="1371600" cy="365760"/>
          </a:xfrm>
          <a:prstGeom prst="rect">
            <a:avLst/>
          </a:prstGeom>
          <a:noFill/>
          <a:ln/>
        </p:spPr>
        <p:txBody>
          <a:bodyPr wrap="square" lIns="0" tIns="0" rIns="0" bIns="0" rtlCol="0" anchor="ctr"/>
          <a:lstStyle/>
          <a:p>
            <a:pPr indent="0" marL="0">
              <a:buNone/>
            </a:pPr>
            <a:r>
              <a:rPr lang="en-US" sz="1350" b="1" dirty="0">
                <a:solidFill>
                  <a:srgbClr val="0B2545"/>
                </a:solidFill>
                <a:latin typeface="Calibri" pitchFamily="34" charset="0"/>
                <a:ea typeface="Calibri" pitchFamily="34" charset="-122"/>
                <a:cs typeface="Calibri" pitchFamily="34" charset="-120"/>
              </a:rPr>
              <a:t>Mejoras</a:t>
            </a:r>
            <a:endParaRPr lang="en-US" sz="1350" dirty="0"/>
          </a:p>
        </p:txBody>
      </p:sp>
      <p:sp>
        <p:nvSpPr>
          <p:cNvPr id="31" name="Text 29"/>
          <p:cNvSpPr txBox="1"/>
          <p:nvPr/>
        </p:nvSpPr>
        <p:spPr>
          <a:xfrm>
            <a:off x="10250424" y="3063240"/>
            <a:ext cx="1325880" cy="6858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Gráficos y temas</a:t>
            </a:r>
            <a:endParaRPr lang="en-US" sz="1100" dirty="0"/>
          </a:p>
        </p:txBody>
      </p:sp>
      <p:sp>
        <p:nvSpPr>
          <p:cNvPr id="32" name="Shape 30"/>
          <p:cNvSpPr/>
          <p:nvPr/>
        </p:nvSpPr>
        <p:spPr>
          <a:xfrm>
            <a:off x="548640" y="4206240"/>
            <a:ext cx="3520440" cy="1463040"/>
          </a:xfrm>
          <a:prstGeom prst="roundRect">
            <a:avLst>
              <a:gd name="adj" fmla="val 6250"/>
            </a:avLst>
          </a:prstGeom>
          <a:solidFill>
            <a:srgbClr val="EEF3F9"/>
          </a:solidFill>
          <a:ln w="12700">
            <a:solidFill>
              <a:srgbClr val="EEF3F9"/>
            </a:solidFill>
            <a:prstDash val="solid"/>
          </a:ln>
        </p:spPr>
      </p:sp>
      <p:sp>
        <p:nvSpPr>
          <p:cNvPr id="33" name="Shape 31"/>
          <p:cNvSpPr/>
          <p:nvPr/>
        </p:nvSpPr>
        <p:spPr>
          <a:xfrm>
            <a:off x="822960" y="4526280"/>
            <a:ext cx="731520" cy="731520"/>
          </a:xfrm>
          <a:prstGeom prst="ellipse">
            <a:avLst/>
          </a:prstGeom>
          <a:solidFill>
            <a:srgbClr val="0B2545"/>
          </a:solidFill>
          <a:ln w="12700">
            <a:solidFill>
              <a:srgbClr val="0B2545"/>
            </a:solidFill>
            <a:prstDash val="solid"/>
          </a:ln>
        </p:spPr>
      </p:sp>
      <p:pic>
        <p:nvPicPr>
          <p:cNvPr id="34" name="Image 0" descr="preencoded.png">    </p:cNvPr>
          <p:cNvPicPr>
            <a:picLocks noChangeAspect="1"/>
          </p:cNvPicPr>
          <p:nvPr/>
        </p:nvPicPr>
        <p:blipFill>
          <a:blip r:embed="rId1"/>
          <a:stretch>
            <a:fillRect/>
          </a:stretch>
        </p:blipFill>
        <p:spPr>
          <a:xfrm>
            <a:off x="1005840" y="4709160"/>
            <a:ext cx="365760" cy="365760"/>
          </a:xfrm>
          <a:prstGeom prst="rect">
            <a:avLst/>
          </a:prstGeom>
        </p:spPr>
      </p:pic>
      <p:sp>
        <p:nvSpPr>
          <p:cNvPr id="35" name="Text 32"/>
          <p:cNvSpPr txBox="1"/>
          <p:nvPr/>
        </p:nvSpPr>
        <p:spPr>
          <a:xfrm>
            <a:off x="1737360" y="4480560"/>
            <a:ext cx="2240280" cy="41148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Repositorio público</a:t>
            </a:r>
            <a:endParaRPr lang="en-US" sz="1500" dirty="0"/>
          </a:p>
        </p:txBody>
      </p:sp>
      <p:sp>
        <p:nvSpPr>
          <p:cNvPr id="36" name="Text 33"/>
          <p:cNvSpPr txBox="1"/>
          <p:nvPr/>
        </p:nvSpPr>
        <p:spPr>
          <a:xfrm>
            <a:off x="1737360" y="4892040"/>
            <a:ext cx="2240280" cy="54864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github.com/jzetinob/sistema-ventas</a:t>
            </a:r>
            <a:endParaRPr lang="en-US" sz="1200" dirty="0"/>
          </a:p>
        </p:txBody>
      </p:sp>
      <p:sp>
        <p:nvSpPr>
          <p:cNvPr id="37" name="Shape 34"/>
          <p:cNvSpPr/>
          <p:nvPr/>
        </p:nvSpPr>
        <p:spPr>
          <a:xfrm>
            <a:off x="4297680" y="4206240"/>
            <a:ext cx="3520440" cy="1463040"/>
          </a:xfrm>
          <a:prstGeom prst="roundRect">
            <a:avLst>
              <a:gd name="adj" fmla="val 6250"/>
            </a:avLst>
          </a:prstGeom>
          <a:solidFill>
            <a:srgbClr val="EEF3F9"/>
          </a:solidFill>
          <a:ln w="12700">
            <a:solidFill>
              <a:srgbClr val="EEF3F9"/>
            </a:solidFill>
            <a:prstDash val="solid"/>
          </a:ln>
        </p:spPr>
      </p:sp>
      <p:sp>
        <p:nvSpPr>
          <p:cNvPr id="38" name="Shape 35"/>
          <p:cNvSpPr/>
          <p:nvPr/>
        </p:nvSpPr>
        <p:spPr>
          <a:xfrm>
            <a:off x="4572000" y="4526280"/>
            <a:ext cx="731520" cy="731520"/>
          </a:xfrm>
          <a:prstGeom prst="ellipse">
            <a:avLst/>
          </a:prstGeom>
          <a:solidFill>
            <a:srgbClr val="0B2545"/>
          </a:solidFill>
          <a:ln w="12700">
            <a:solidFill>
              <a:srgbClr val="0B2545"/>
            </a:solidFill>
            <a:prstDash val="solid"/>
          </a:ln>
        </p:spPr>
      </p:sp>
      <p:pic>
        <p:nvPicPr>
          <p:cNvPr id="39" name="Image 1" descr="preencoded.png">    </p:cNvPr>
          <p:cNvPicPr>
            <a:picLocks noChangeAspect="1"/>
          </p:cNvPicPr>
          <p:nvPr/>
        </p:nvPicPr>
        <p:blipFill>
          <a:blip r:embed="rId2"/>
          <a:stretch>
            <a:fillRect/>
          </a:stretch>
        </p:blipFill>
        <p:spPr>
          <a:xfrm>
            <a:off x="4754880" y="4709160"/>
            <a:ext cx="365760" cy="365760"/>
          </a:xfrm>
          <a:prstGeom prst="rect">
            <a:avLst/>
          </a:prstGeom>
        </p:spPr>
      </p:pic>
      <p:sp>
        <p:nvSpPr>
          <p:cNvPr id="40" name="Text 36"/>
          <p:cNvSpPr txBox="1"/>
          <p:nvPr/>
        </p:nvSpPr>
        <p:spPr>
          <a:xfrm>
            <a:off x="5486400" y="4480560"/>
            <a:ext cx="2240280" cy="41148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Manuales</a:t>
            </a:r>
            <a:endParaRPr lang="en-US" sz="1500" dirty="0"/>
          </a:p>
        </p:txBody>
      </p:sp>
      <p:sp>
        <p:nvSpPr>
          <p:cNvPr id="41" name="Text 37"/>
          <p:cNvSpPr txBox="1"/>
          <p:nvPr/>
        </p:nvSpPr>
        <p:spPr>
          <a:xfrm>
            <a:off x="5486400" y="4892040"/>
            <a:ext cx="2240280" cy="54864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Usuario y técnico en PDF</a:t>
            </a:r>
            <a:endParaRPr lang="en-US" sz="1200" dirty="0"/>
          </a:p>
        </p:txBody>
      </p:sp>
      <p:sp>
        <p:nvSpPr>
          <p:cNvPr id="42" name="Shape 38"/>
          <p:cNvSpPr/>
          <p:nvPr/>
        </p:nvSpPr>
        <p:spPr>
          <a:xfrm>
            <a:off x="8046720" y="4206240"/>
            <a:ext cx="3520440" cy="1463040"/>
          </a:xfrm>
          <a:prstGeom prst="roundRect">
            <a:avLst>
              <a:gd name="adj" fmla="val 6250"/>
            </a:avLst>
          </a:prstGeom>
          <a:solidFill>
            <a:srgbClr val="EEF3F9"/>
          </a:solidFill>
          <a:ln w="12700">
            <a:solidFill>
              <a:srgbClr val="EEF3F9"/>
            </a:solidFill>
            <a:prstDash val="solid"/>
          </a:ln>
        </p:spPr>
      </p:sp>
      <p:sp>
        <p:nvSpPr>
          <p:cNvPr id="43" name="Shape 39"/>
          <p:cNvSpPr/>
          <p:nvPr/>
        </p:nvSpPr>
        <p:spPr>
          <a:xfrm>
            <a:off x="8321040" y="4526280"/>
            <a:ext cx="731520" cy="731520"/>
          </a:xfrm>
          <a:prstGeom prst="ellipse">
            <a:avLst/>
          </a:prstGeom>
          <a:solidFill>
            <a:srgbClr val="0B2545"/>
          </a:solidFill>
          <a:ln w="12700">
            <a:solidFill>
              <a:srgbClr val="0B2545"/>
            </a:solidFill>
            <a:prstDash val="solid"/>
          </a:ln>
        </p:spPr>
      </p:sp>
      <p:pic>
        <p:nvPicPr>
          <p:cNvPr id="44" name="Image 2" descr="preencoded.png">    </p:cNvPr>
          <p:cNvPicPr>
            <a:picLocks noChangeAspect="1"/>
          </p:cNvPicPr>
          <p:nvPr/>
        </p:nvPicPr>
        <p:blipFill>
          <a:blip r:embed="rId3"/>
          <a:stretch>
            <a:fillRect/>
          </a:stretch>
        </p:blipFill>
        <p:spPr>
          <a:xfrm>
            <a:off x="8503920" y="4709160"/>
            <a:ext cx="365760" cy="365760"/>
          </a:xfrm>
          <a:prstGeom prst="rect">
            <a:avLst/>
          </a:prstGeom>
        </p:spPr>
      </p:pic>
      <p:sp>
        <p:nvSpPr>
          <p:cNvPr id="45" name="Text 40"/>
          <p:cNvSpPr txBox="1"/>
          <p:nvPr/>
        </p:nvSpPr>
        <p:spPr>
          <a:xfrm>
            <a:off x="9235440" y="4480560"/>
            <a:ext cx="2240280" cy="41148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Historial por fases</a:t>
            </a:r>
            <a:endParaRPr lang="en-US" sz="1500" dirty="0"/>
          </a:p>
        </p:txBody>
      </p:sp>
      <p:sp>
        <p:nvSpPr>
          <p:cNvPr id="46" name="Text 41"/>
          <p:cNvSpPr txBox="1"/>
          <p:nvPr/>
        </p:nvSpPr>
        <p:spPr>
          <a:xfrm>
            <a:off x="9235440" y="4892040"/>
            <a:ext cx="2240280" cy="54864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17 fases documentadas</a:t>
            </a:r>
            <a:endParaRPr lang="en-US" sz="1200" dirty="0"/>
          </a:p>
        </p:txBody>
      </p:sp>
      <p:sp>
        <p:nvSpPr>
          <p:cNvPr id="47" name="Text 4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Calibri" pitchFamily="34" charset="0"/>
                <a:ea typeface="Calibri" pitchFamily="34" charset="-122"/>
                <a:cs typeface="Calibri" pitchFamily="34" charset="-120"/>
              </a:rPr>
              <a:t>Programación II · Sistema de Ventas</a:t>
            </a:r>
            <a:endParaRPr lang="en-US" sz="1000" dirty="0"/>
          </a:p>
        </p:txBody>
      </p:sp>
      <p:sp>
        <p:nvSpPr>
          <p:cNvPr id="48" name="Text 4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000" dirty="0">
                <a:solidFill>
                  <a:srgbClr val="8A94A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5184648" y="731520"/>
            <a:ext cx="1828800" cy="1828800"/>
          </a:xfrm>
          <a:prstGeom prst="ellipse">
            <a:avLst/>
          </a:prstGeom>
          <a:solidFill>
            <a:srgbClr val="FFFFFF"/>
          </a:solidFill>
          <a:ln w="25400">
            <a:solidFill>
              <a:srgbClr val="C9A227"/>
            </a:solidFill>
            <a:prstDash val="solid"/>
          </a:ln>
        </p:spPr>
      </p:sp>
      <p:pic>
        <p:nvPicPr>
          <p:cNvPr id="3" name="Image 0" descr="C:\Users\Josue Zetino\AppData\Local\Temp\claude\C--Users-Josue-Zetino-Documents-4to-semestre-progra-2\7ccdd11b-dc21-4f34-84fe-794d7b2c2056\scratchpad\pres\logo-umg.png">    </p:cNvPr>
          <p:cNvPicPr>
            <a:picLocks noChangeAspect="1"/>
          </p:cNvPicPr>
          <p:nvPr/>
        </p:nvPicPr>
        <p:blipFill>
          <a:blip r:embed="rId1"/>
          <a:stretch>
            <a:fillRect/>
          </a:stretch>
        </p:blipFill>
        <p:spPr>
          <a:xfrm>
            <a:off x="5276088" y="822960"/>
            <a:ext cx="1645920" cy="1645920"/>
          </a:xfrm>
          <a:prstGeom prst="rect">
            <a:avLst/>
          </a:prstGeom>
        </p:spPr>
      </p:pic>
      <p:sp>
        <p:nvSpPr>
          <p:cNvPr id="4" name="Text 1"/>
          <p:cNvSpPr txBox="1"/>
          <p:nvPr/>
        </p:nvSpPr>
        <p:spPr>
          <a:xfrm>
            <a:off x="548640" y="2834640"/>
            <a:ext cx="11091672"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¡Gracias!</a:t>
            </a:r>
            <a:endParaRPr lang="en-US" sz="5400" dirty="0"/>
          </a:p>
        </p:txBody>
      </p:sp>
      <p:sp>
        <p:nvSpPr>
          <p:cNvPr id="5" name="Text 2"/>
          <p:cNvSpPr txBox="1"/>
          <p:nvPr/>
        </p:nvSpPr>
        <p:spPr>
          <a:xfrm>
            <a:off x="548640" y="3749040"/>
            <a:ext cx="11091672" cy="548640"/>
          </a:xfrm>
          <a:prstGeom prst="rect">
            <a:avLst/>
          </a:prstGeom>
          <a:noFill/>
          <a:ln/>
        </p:spPr>
        <p:txBody>
          <a:bodyPr wrap="square" lIns="0" tIns="0" rIns="0" bIns="0" rtlCol="0" anchor="ctr"/>
          <a:lstStyle/>
          <a:p>
            <a:pPr algn="ctr" indent="0" marL="0">
              <a:buNone/>
            </a:pPr>
            <a:r>
              <a:rPr lang="en-US" sz="2400" dirty="0">
                <a:solidFill>
                  <a:srgbClr val="C9A227"/>
                </a:solidFill>
                <a:latin typeface="Calibri" pitchFamily="34" charset="0"/>
                <a:ea typeface="Calibri" pitchFamily="34" charset="-122"/>
                <a:cs typeface="Calibri" pitchFamily="34" charset="-120"/>
              </a:rPr>
              <a:t>¿Preguntas?</a:t>
            </a:r>
            <a:endParaRPr lang="en-US" sz="2400" dirty="0"/>
          </a:p>
        </p:txBody>
      </p:sp>
      <p:sp>
        <p:nvSpPr>
          <p:cNvPr id="6" name="Text 3"/>
          <p:cNvSpPr txBox="1"/>
          <p:nvPr/>
        </p:nvSpPr>
        <p:spPr>
          <a:xfrm>
            <a:off x="548640" y="4663440"/>
            <a:ext cx="11091672" cy="411480"/>
          </a:xfrm>
          <a:prstGeom prst="rect">
            <a:avLst/>
          </a:prstGeom>
          <a:noFill/>
          <a:ln/>
        </p:spPr>
        <p:txBody>
          <a:bodyPr wrap="square" lIns="0" tIns="0" rIns="0" bIns="0" rtlCol="0" anchor="ctr"/>
          <a:lstStyle/>
          <a:p>
            <a:pPr algn="ctr" indent="0" marL="0">
              <a:buNone/>
            </a:pPr>
            <a:r>
              <a:rPr lang="en-US" sz="1800" dirty="0">
                <a:solidFill>
                  <a:srgbClr val="C7D3E3"/>
                </a:solidFill>
                <a:latin typeface="Calibri" pitchFamily="34" charset="0"/>
                <a:ea typeface="Calibri" pitchFamily="34" charset="-122"/>
                <a:cs typeface="Calibri" pitchFamily="34" charset="-120"/>
              </a:rPr>
              <a:t>github.com/jzetinob/sistema-ventas</a:t>
            </a:r>
            <a:endParaRPr lang="en-US" sz="1800" dirty="0"/>
          </a:p>
        </p:txBody>
      </p:sp>
      <p:sp>
        <p:nvSpPr>
          <p:cNvPr id="7" name="Text 4"/>
          <p:cNvSpPr txBox="1"/>
          <p:nvPr/>
        </p:nvSpPr>
        <p:spPr>
          <a:xfrm>
            <a:off x="548640" y="5943600"/>
            <a:ext cx="11091672" cy="365760"/>
          </a:xfrm>
          <a:prstGeom prst="rect">
            <a:avLst/>
          </a:prstGeom>
          <a:noFill/>
          <a:ln/>
        </p:spPr>
        <p:txBody>
          <a:bodyPr wrap="square" lIns="0" tIns="0" rIns="0" bIns="0" rtlCol="0" anchor="ctr"/>
          <a:lstStyle/>
          <a:p>
            <a:pPr algn="ctr" indent="0" marL="0">
              <a:buNone/>
            </a:pPr>
            <a:r>
              <a:rPr lang="en-US" sz="1300" dirty="0">
                <a:solidFill>
                  <a:srgbClr val="8FA3BF"/>
                </a:solidFill>
                <a:latin typeface="Calibri" pitchFamily="34" charset="0"/>
                <a:ea typeface="Calibri" pitchFamily="34" charset="-122"/>
                <a:cs typeface="Calibri" pitchFamily="34" charset="-120"/>
              </a:rPr>
              <a:t>Josué David Zetino Boch · 9989-17-12602 · Programación 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Universidad Mariano Gálvez de Guatemala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de Ventas - Revisión Presencial de Avance de Proyecto</dc:title>
  <dc:subject>PptxGenJS Presentation</dc:subject>
  <dc:creator>Josué David Zetino Boch</dc:creator>
  <cp:lastModifiedBy>Josué David Zetino Boch</cp:lastModifiedBy>
  <cp:revision>1</cp:revision>
  <dcterms:created xsi:type="dcterms:W3CDTF">2026-09-29T01:38:14Z</dcterms:created>
  <dcterms:modified xsi:type="dcterms:W3CDTF">2026-09-29T01:38:14Z</dcterms:modified>
</cp:coreProperties>
</file>